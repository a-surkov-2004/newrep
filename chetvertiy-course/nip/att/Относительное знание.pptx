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>
        <p:scale>
          <a:sx n="66" d="100"/>
          <a:sy n="66" d="100"/>
        </p:scale>
        <p:origin x="3942" y="1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0E278D-D6B9-4124-B763-BB7651DEC71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E368260-CC3A-4A1D-ABD6-532900E4C92D}">
      <dgm:prSet/>
      <dgm:spPr/>
      <dgm:t>
        <a:bodyPr/>
        <a:lstStyle/>
        <a:p>
          <a:r>
            <a:rPr lang="ru-RU" b="1"/>
            <a:t>Гибкость</a:t>
          </a:r>
          <a:r>
            <a:rPr lang="ru-RU"/>
            <a:t> и </a:t>
          </a:r>
          <a:r>
            <a:rPr lang="ru-RU" b="1"/>
            <a:t>адаптивность</a:t>
          </a:r>
          <a:r>
            <a:rPr lang="ru-RU"/>
            <a:t> к новым открытиям.</a:t>
          </a:r>
          <a:endParaRPr lang="en-US"/>
        </a:p>
      </dgm:t>
    </dgm:pt>
    <dgm:pt modelId="{5E4730E9-65CD-47D8-AF14-73F5BA17E484}" type="parTrans" cxnId="{E9A3DB75-664F-42EB-BEF7-891663B4C6FE}">
      <dgm:prSet/>
      <dgm:spPr/>
      <dgm:t>
        <a:bodyPr/>
        <a:lstStyle/>
        <a:p>
          <a:endParaRPr lang="en-US"/>
        </a:p>
      </dgm:t>
    </dgm:pt>
    <dgm:pt modelId="{E32280F0-D340-403B-8857-092C8B249A7B}" type="sibTrans" cxnId="{E9A3DB75-664F-42EB-BEF7-891663B4C6FE}">
      <dgm:prSet/>
      <dgm:spPr/>
      <dgm:t>
        <a:bodyPr/>
        <a:lstStyle/>
        <a:p>
          <a:endParaRPr lang="en-US"/>
        </a:p>
      </dgm:t>
    </dgm:pt>
    <dgm:pt modelId="{C99916BC-EE72-4138-8348-7CC690A6E6E5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ru-RU" b="1"/>
            <a:t>Толерантность</a:t>
          </a:r>
          <a:r>
            <a:rPr lang="ru-RU"/>
            <a:t> — признание возможности других точек зрения.</a:t>
          </a:r>
          <a:endParaRPr lang="en-US"/>
        </a:p>
      </dgm:t>
    </dgm:pt>
    <dgm:pt modelId="{28FA155C-B244-478F-ADB9-CB1E1AFC6427}" type="parTrans" cxnId="{A85A59C8-D507-45FF-8110-700951E4BA1E}">
      <dgm:prSet/>
      <dgm:spPr/>
      <dgm:t>
        <a:bodyPr/>
        <a:lstStyle/>
        <a:p>
          <a:endParaRPr lang="en-US"/>
        </a:p>
      </dgm:t>
    </dgm:pt>
    <dgm:pt modelId="{18A0C04C-04AD-4BA8-8A1B-3424FEABB4E3}" type="sibTrans" cxnId="{A85A59C8-D507-45FF-8110-700951E4BA1E}">
      <dgm:prSet/>
      <dgm:spPr/>
      <dgm:t>
        <a:bodyPr/>
        <a:lstStyle/>
        <a:p>
          <a:endParaRPr lang="en-US"/>
        </a:p>
      </dgm:t>
    </dgm:pt>
    <dgm:pt modelId="{88DD954C-B573-4156-B8F1-99CFD2A944DA}">
      <dgm:prSet/>
      <dgm:spPr>
        <a:solidFill>
          <a:schemeClr val="accent2"/>
        </a:solidFill>
      </dgm:spPr>
      <dgm:t>
        <a:bodyPr/>
        <a:lstStyle/>
        <a:p>
          <a:r>
            <a:rPr lang="ru-RU" b="1" dirty="0"/>
            <a:t>Стимул для развития</a:t>
          </a:r>
          <a:r>
            <a:rPr lang="ru-RU" dirty="0"/>
            <a:t> — поскольку ни одна теория не окончательна, поиск продолжается.</a:t>
          </a:r>
          <a:endParaRPr lang="en-US" dirty="0"/>
        </a:p>
      </dgm:t>
    </dgm:pt>
    <dgm:pt modelId="{6FD83EA1-977D-42AD-A28D-85CC4191B717}" type="parTrans" cxnId="{A9560E44-D2A7-4D24-AAA6-4EF47D1CE1FE}">
      <dgm:prSet/>
      <dgm:spPr/>
      <dgm:t>
        <a:bodyPr/>
        <a:lstStyle/>
        <a:p>
          <a:endParaRPr lang="en-US"/>
        </a:p>
      </dgm:t>
    </dgm:pt>
    <dgm:pt modelId="{3637254B-EC32-4D9F-B232-418207B938F5}" type="sibTrans" cxnId="{A9560E44-D2A7-4D24-AAA6-4EF47D1CE1FE}">
      <dgm:prSet/>
      <dgm:spPr/>
      <dgm:t>
        <a:bodyPr/>
        <a:lstStyle/>
        <a:p>
          <a:endParaRPr lang="en-US"/>
        </a:p>
      </dgm:t>
    </dgm:pt>
    <dgm:pt modelId="{62A32D29-7ABC-433C-AB69-5CD1ADE33702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ru-RU" b="1"/>
            <a:t>Практическая применимость</a:t>
          </a:r>
          <a:r>
            <a:rPr lang="ru-RU"/>
            <a:t> в сложном, изменчивом мире.</a:t>
          </a:r>
          <a:endParaRPr lang="en-US"/>
        </a:p>
      </dgm:t>
    </dgm:pt>
    <dgm:pt modelId="{FECD292A-01C3-491D-904B-0A3774C17B6E}" type="parTrans" cxnId="{823E0D58-79F1-4F2D-AD2D-FE4C60261E9C}">
      <dgm:prSet/>
      <dgm:spPr/>
      <dgm:t>
        <a:bodyPr/>
        <a:lstStyle/>
        <a:p>
          <a:endParaRPr lang="en-US"/>
        </a:p>
      </dgm:t>
    </dgm:pt>
    <dgm:pt modelId="{EBF3A2F2-F10B-4B10-850B-6DD16D11A310}" type="sibTrans" cxnId="{823E0D58-79F1-4F2D-AD2D-FE4C60261E9C}">
      <dgm:prSet/>
      <dgm:spPr/>
      <dgm:t>
        <a:bodyPr/>
        <a:lstStyle/>
        <a:p>
          <a:endParaRPr lang="en-US"/>
        </a:p>
      </dgm:t>
    </dgm:pt>
    <dgm:pt modelId="{3DEC2F44-3D6E-4E07-B7CB-6F48AE0C53B6}" type="pres">
      <dgm:prSet presAssocID="{A80E278D-D6B9-4124-B763-BB7651DEC713}" presName="linear" presStyleCnt="0">
        <dgm:presLayoutVars>
          <dgm:animLvl val="lvl"/>
          <dgm:resizeHandles val="exact"/>
        </dgm:presLayoutVars>
      </dgm:prSet>
      <dgm:spPr/>
    </dgm:pt>
    <dgm:pt modelId="{AC2DF162-91B4-4361-B3C0-3A656C6272AF}" type="pres">
      <dgm:prSet presAssocID="{9E368260-CC3A-4A1D-ABD6-532900E4C92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B4F99F-7DCC-4C29-AA63-F7FEB2057B27}" type="pres">
      <dgm:prSet presAssocID="{E32280F0-D340-403B-8857-092C8B249A7B}" presName="spacer" presStyleCnt="0"/>
      <dgm:spPr/>
    </dgm:pt>
    <dgm:pt modelId="{60D35AFA-534D-4CF1-8E59-C779FC596578}" type="pres">
      <dgm:prSet presAssocID="{C99916BC-EE72-4138-8348-7CC690A6E6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7A34ED-8420-4B3F-BBBD-EADA5E897EB2}" type="pres">
      <dgm:prSet presAssocID="{18A0C04C-04AD-4BA8-8A1B-3424FEABB4E3}" presName="spacer" presStyleCnt="0"/>
      <dgm:spPr/>
    </dgm:pt>
    <dgm:pt modelId="{0F0A93BF-8778-4A1A-B1F8-54E4A11A25E8}" type="pres">
      <dgm:prSet presAssocID="{88DD954C-B573-4156-B8F1-99CFD2A944D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B72F503-EE43-4D39-96AA-A7E72A86D9F3}" type="pres">
      <dgm:prSet presAssocID="{3637254B-EC32-4D9F-B232-418207B938F5}" presName="spacer" presStyleCnt="0"/>
      <dgm:spPr/>
    </dgm:pt>
    <dgm:pt modelId="{06347F75-2C68-4568-A704-0A93DB786D12}" type="pres">
      <dgm:prSet presAssocID="{62A32D29-7ABC-433C-AB69-5CD1ADE337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2B69A06-DC21-4385-AB1C-7D3483A541AE}" type="presOf" srcId="{C99916BC-EE72-4138-8348-7CC690A6E6E5}" destId="{60D35AFA-534D-4CF1-8E59-C779FC596578}" srcOrd="0" destOrd="0" presId="urn:microsoft.com/office/officeart/2005/8/layout/vList2"/>
    <dgm:cxn modelId="{9551A21D-72EA-4ED4-8038-C6461E5EEAC0}" type="presOf" srcId="{9E368260-CC3A-4A1D-ABD6-532900E4C92D}" destId="{AC2DF162-91B4-4361-B3C0-3A656C6272AF}" srcOrd="0" destOrd="0" presId="urn:microsoft.com/office/officeart/2005/8/layout/vList2"/>
    <dgm:cxn modelId="{07729826-4158-42AD-B03C-7EE2B81F8B15}" type="presOf" srcId="{62A32D29-7ABC-433C-AB69-5CD1ADE33702}" destId="{06347F75-2C68-4568-A704-0A93DB786D12}" srcOrd="0" destOrd="0" presId="urn:microsoft.com/office/officeart/2005/8/layout/vList2"/>
    <dgm:cxn modelId="{8FC61D34-842A-4A33-9303-B7FD9DF5515A}" type="presOf" srcId="{A80E278D-D6B9-4124-B763-BB7651DEC713}" destId="{3DEC2F44-3D6E-4E07-B7CB-6F48AE0C53B6}" srcOrd="0" destOrd="0" presId="urn:microsoft.com/office/officeart/2005/8/layout/vList2"/>
    <dgm:cxn modelId="{A9560E44-D2A7-4D24-AAA6-4EF47D1CE1FE}" srcId="{A80E278D-D6B9-4124-B763-BB7651DEC713}" destId="{88DD954C-B573-4156-B8F1-99CFD2A944DA}" srcOrd="2" destOrd="0" parTransId="{6FD83EA1-977D-42AD-A28D-85CC4191B717}" sibTransId="{3637254B-EC32-4D9F-B232-418207B938F5}"/>
    <dgm:cxn modelId="{E9A3DB75-664F-42EB-BEF7-891663B4C6FE}" srcId="{A80E278D-D6B9-4124-B763-BB7651DEC713}" destId="{9E368260-CC3A-4A1D-ABD6-532900E4C92D}" srcOrd="0" destOrd="0" parTransId="{5E4730E9-65CD-47D8-AF14-73F5BA17E484}" sibTransId="{E32280F0-D340-403B-8857-092C8B249A7B}"/>
    <dgm:cxn modelId="{823E0D58-79F1-4F2D-AD2D-FE4C60261E9C}" srcId="{A80E278D-D6B9-4124-B763-BB7651DEC713}" destId="{62A32D29-7ABC-433C-AB69-5CD1ADE33702}" srcOrd="3" destOrd="0" parTransId="{FECD292A-01C3-491D-904B-0A3774C17B6E}" sibTransId="{EBF3A2F2-F10B-4B10-850B-6DD16D11A310}"/>
    <dgm:cxn modelId="{A85A59C8-D507-45FF-8110-700951E4BA1E}" srcId="{A80E278D-D6B9-4124-B763-BB7651DEC713}" destId="{C99916BC-EE72-4138-8348-7CC690A6E6E5}" srcOrd="1" destOrd="0" parTransId="{28FA155C-B244-478F-ADB9-CB1E1AFC6427}" sibTransId="{18A0C04C-04AD-4BA8-8A1B-3424FEABB4E3}"/>
    <dgm:cxn modelId="{A97114DB-D22D-4499-B147-6114C1679D97}" type="presOf" srcId="{88DD954C-B573-4156-B8F1-99CFD2A944DA}" destId="{0F0A93BF-8778-4A1A-B1F8-54E4A11A25E8}" srcOrd="0" destOrd="0" presId="urn:microsoft.com/office/officeart/2005/8/layout/vList2"/>
    <dgm:cxn modelId="{FDA18A47-A686-4420-A824-1AA8B76BAB7A}" type="presParOf" srcId="{3DEC2F44-3D6E-4E07-B7CB-6F48AE0C53B6}" destId="{AC2DF162-91B4-4361-B3C0-3A656C6272AF}" srcOrd="0" destOrd="0" presId="urn:microsoft.com/office/officeart/2005/8/layout/vList2"/>
    <dgm:cxn modelId="{171C4129-FFEA-4E3A-B6F3-4DD54BBF3BAA}" type="presParOf" srcId="{3DEC2F44-3D6E-4E07-B7CB-6F48AE0C53B6}" destId="{92B4F99F-7DCC-4C29-AA63-F7FEB2057B27}" srcOrd="1" destOrd="0" presId="urn:microsoft.com/office/officeart/2005/8/layout/vList2"/>
    <dgm:cxn modelId="{1CB6BFC5-ACEC-42BE-946D-F78DAED253A1}" type="presParOf" srcId="{3DEC2F44-3D6E-4E07-B7CB-6F48AE0C53B6}" destId="{60D35AFA-534D-4CF1-8E59-C779FC596578}" srcOrd="2" destOrd="0" presId="urn:microsoft.com/office/officeart/2005/8/layout/vList2"/>
    <dgm:cxn modelId="{BCB29C59-FDDB-4371-8F73-E0A2A399CAAF}" type="presParOf" srcId="{3DEC2F44-3D6E-4E07-B7CB-6F48AE0C53B6}" destId="{537A34ED-8420-4B3F-BBBD-EADA5E897EB2}" srcOrd="3" destOrd="0" presId="urn:microsoft.com/office/officeart/2005/8/layout/vList2"/>
    <dgm:cxn modelId="{2E6AB4BE-8BBC-4F9D-8A5A-D8A804038F7B}" type="presParOf" srcId="{3DEC2F44-3D6E-4E07-B7CB-6F48AE0C53B6}" destId="{0F0A93BF-8778-4A1A-B1F8-54E4A11A25E8}" srcOrd="4" destOrd="0" presId="urn:microsoft.com/office/officeart/2005/8/layout/vList2"/>
    <dgm:cxn modelId="{8763064C-6B6C-45D7-8A9E-25428A59DB83}" type="presParOf" srcId="{3DEC2F44-3D6E-4E07-B7CB-6F48AE0C53B6}" destId="{2B72F503-EE43-4D39-96AA-A7E72A86D9F3}" srcOrd="5" destOrd="0" presId="urn:microsoft.com/office/officeart/2005/8/layout/vList2"/>
    <dgm:cxn modelId="{99E41F6B-EA04-4799-B379-F4884990C25B}" type="presParOf" srcId="{3DEC2F44-3D6E-4E07-B7CB-6F48AE0C53B6}" destId="{06347F75-2C68-4568-A704-0A93DB786D1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04BA11-0E8D-42CF-AC68-5F1DDE93162A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CFC2414-1EFC-4AFD-BF1B-16A163A48057}">
      <dgm:prSet custT="1"/>
      <dgm:spPr/>
      <dgm:t>
        <a:bodyPr/>
        <a:lstStyle/>
        <a:p>
          <a:r>
            <a:rPr lang="ru-RU" sz="2000" dirty="0"/>
            <a:t>Риск </a:t>
          </a:r>
          <a:r>
            <a:rPr lang="ru-RU" sz="2000" b="1" dirty="0"/>
            <a:t>релятивизма</a:t>
          </a:r>
          <a:r>
            <a:rPr lang="ru-RU" sz="2000" dirty="0"/>
            <a:t> («все истины равны, никакой истины нет»).</a:t>
          </a:r>
          <a:endParaRPr lang="en-US" sz="2000" dirty="0"/>
        </a:p>
      </dgm:t>
    </dgm:pt>
    <dgm:pt modelId="{F8C04D34-62DF-4BF2-9739-7B70E6201B0E}" type="parTrans" cxnId="{940986F8-3786-4659-9E42-947B10609B02}">
      <dgm:prSet/>
      <dgm:spPr/>
      <dgm:t>
        <a:bodyPr/>
        <a:lstStyle/>
        <a:p>
          <a:endParaRPr lang="en-US"/>
        </a:p>
      </dgm:t>
    </dgm:pt>
    <dgm:pt modelId="{34DB2188-9F43-480D-8BF6-6885FB0CC1DD}" type="sibTrans" cxnId="{940986F8-3786-4659-9E42-947B10609B02}">
      <dgm:prSet/>
      <dgm:spPr/>
      <dgm:t>
        <a:bodyPr/>
        <a:lstStyle/>
        <a:p>
          <a:endParaRPr lang="en-US"/>
        </a:p>
      </dgm:t>
    </dgm:pt>
    <dgm:pt modelId="{5070E393-AB06-4CA7-96C1-21D5A21A8B2D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ru-RU" sz="2000" dirty="0"/>
            <a:t>Принятие</a:t>
          </a:r>
          <a:r>
            <a:rPr lang="ru-RU" sz="2000" b="1" dirty="0"/>
            <a:t> </a:t>
          </a:r>
          <a:r>
            <a:rPr lang="ru-RU" sz="2000" b="0" dirty="0"/>
            <a:t>решений</a:t>
          </a:r>
          <a:r>
            <a:rPr lang="ru-RU" sz="2000" dirty="0"/>
            <a:t> на шатком основании.</a:t>
          </a:r>
          <a:endParaRPr lang="en-US" sz="2000" dirty="0"/>
        </a:p>
      </dgm:t>
    </dgm:pt>
    <dgm:pt modelId="{AD2DE8DB-B1C7-41E9-886E-BD5140989F4B}" type="parTrans" cxnId="{1D6F05F2-D1F3-4126-8BE0-12122444274A}">
      <dgm:prSet/>
      <dgm:spPr/>
      <dgm:t>
        <a:bodyPr/>
        <a:lstStyle/>
        <a:p>
          <a:endParaRPr lang="en-US"/>
        </a:p>
      </dgm:t>
    </dgm:pt>
    <dgm:pt modelId="{9935257D-FC1E-48E1-96FA-BD9F0F5BA6F4}" type="sibTrans" cxnId="{1D6F05F2-D1F3-4126-8BE0-12122444274A}">
      <dgm:prSet/>
      <dgm:spPr/>
      <dgm:t>
        <a:bodyPr/>
        <a:lstStyle/>
        <a:p>
          <a:endParaRPr lang="en-US"/>
        </a:p>
      </dgm:t>
    </dgm:pt>
    <dgm:pt modelId="{E6597FEB-A8F5-4D02-80AA-C1D6BFA6E445}">
      <dgm:prSet custT="1"/>
      <dgm:spPr>
        <a:solidFill>
          <a:schemeClr val="accent2"/>
        </a:solidFill>
      </dgm:spPr>
      <dgm:t>
        <a:bodyPr/>
        <a:lstStyle/>
        <a:p>
          <a:r>
            <a:rPr lang="ru-RU" sz="2000" dirty="0"/>
            <a:t>Отсутствие твердых, неизменных основ может вызывать неуверенность.</a:t>
          </a:r>
          <a:endParaRPr lang="en-US" sz="2000" dirty="0"/>
        </a:p>
      </dgm:t>
    </dgm:pt>
    <dgm:pt modelId="{3D57FB2E-F531-4677-AE4E-99E4E16919BB}" type="parTrans" cxnId="{5B590B6B-D5BC-4834-9094-DB7CB56C8CF0}">
      <dgm:prSet/>
      <dgm:spPr/>
      <dgm:t>
        <a:bodyPr/>
        <a:lstStyle/>
        <a:p>
          <a:endParaRPr lang="en-US"/>
        </a:p>
      </dgm:t>
    </dgm:pt>
    <dgm:pt modelId="{A19D3827-B000-438F-B314-8BAC3D92B803}" type="sibTrans" cxnId="{5B590B6B-D5BC-4834-9094-DB7CB56C8CF0}">
      <dgm:prSet/>
      <dgm:spPr/>
      <dgm:t>
        <a:bodyPr/>
        <a:lstStyle/>
        <a:p>
          <a:endParaRPr lang="en-US"/>
        </a:p>
      </dgm:t>
    </dgm:pt>
    <dgm:pt modelId="{8D6E1156-0C84-4C51-AE5D-E00F7FC72E70}" type="pres">
      <dgm:prSet presAssocID="{BE04BA11-0E8D-42CF-AC68-5F1DDE93162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C6EFC31-EB92-4E21-AEB5-D62DFC012080}" type="pres">
      <dgm:prSet presAssocID="{1CFC2414-1EFC-4AFD-BF1B-16A163A48057}" presName="root" presStyleCnt="0"/>
      <dgm:spPr/>
    </dgm:pt>
    <dgm:pt modelId="{EED39482-45C0-47DD-B059-81FDCDE47638}" type="pres">
      <dgm:prSet presAssocID="{1CFC2414-1EFC-4AFD-BF1B-16A163A48057}" presName="rootComposite" presStyleCnt="0"/>
      <dgm:spPr/>
    </dgm:pt>
    <dgm:pt modelId="{9294855A-8F71-4C8B-8EDE-18ED52578BEF}" type="pres">
      <dgm:prSet presAssocID="{1CFC2414-1EFC-4AFD-BF1B-16A163A48057}" presName="rootText" presStyleLbl="node1" presStyleIdx="0" presStyleCnt="3" custScaleX="129946" custScaleY="124284"/>
      <dgm:spPr/>
    </dgm:pt>
    <dgm:pt modelId="{64E6EA2A-595C-41E0-8E53-407218844655}" type="pres">
      <dgm:prSet presAssocID="{1CFC2414-1EFC-4AFD-BF1B-16A163A48057}" presName="rootConnector" presStyleLbl="node1" presStyleIdx="0" presStyleCnt="3"/>
      <dgm:spPr/>
    </dgm:pt>
    <dgm:pt modelId="{0A1A3AD4-C785-42C0-9230-29036FA9F919}" type="pres">
      <dgm:prSet presAssocID="{1CFC2414-1EFC-4AFD-BF1B-16A163A48057}" presName="childShape" presStyleCnt="0"/>
      <dgm:spPr/>
    </dgm:pt>
    <dgm:pt modelId="{38968BC0-F5AA-4251-AFA1-E5B0C739E67D}" type="pres">
      <dgm:prSet presAssocID="{5070E393-AB06-4CA7-96C1-21D5A21A8B2D}" presName="root" presStyleCnt="0"/>
      <dgm:spPr/>
    </dgm:pt>
    <dgm:pt modelId="{B5A57107-7750-47CB-9541-43AB9E6E3B50}" type="pres">
      <dgm:prSet presAssocID="{5070E393-AB06-4CA7-96C1-21D5A21A8B2D}" presName="rootComposite" presStyleCnt="0"/>
      <dgm:spPr/>
    </dgm:pt>
    <dgm:pt modelId="{42F2AA21-4EB4-46FC-8C7D-C42316EAE330}" type="pres">
      <dgm:prSet presAssocID="{5070E393-AB06-4CA7-96C1-21D5A21A8B2D}" presName="rootText" presStyleLbl="node1" presStyleIdx="1" presStyleCnt="3" custScaleX="123159" custScaleY="120594"/>
      <dgm:spPr/>
    </dgm:pt>
    <dgm:pt modelId="{D8CC8776-D287-4AD3-A20A-4054775887DD}" type="pres">
      <dgm:prSet presAssocID="{5070E393-AB06-4CA7-96C1-21D5A21A8B2D}" presName="rootConnector" presStyleLbl="node1" presStyleIdx="1" presStyleCnt="3"/>
      <dgm:spPr/>
    </dgm:pt>
    <dgm:pt modelId="{9F90BD77-FAB1-48BD-9B52-4BE9D53CCEAB}" type="pres">
      <dgm:prSet presAssocID="{5070E393-AB06-4CA7-96C1-21D5A21A8B2D}" presName="childShape" presStyleCnt="0"/>
      <dgm:spPr/>
    </dgm:pt>
    <dgm:pt modelId="{69936177-6835-4220-BCAB-A0FB1C531EBE}" type="pres">
      <dgm:prSet presAssocID="{E6597FEB-A8F5-4D02-80AA-C1D6BFA6E445}" presName="root" presStyleCnt="0"/>
      <dgm:spPr/>
    </dgm:pt>
    <dgm:pt modelId="{B1C16FD5-CFF7-45AB-B7A4-DC393C18B348}" type="pres">
      <dgm:prSet presAssocID="{E6597FEB-A8F5-4D02-80AA-C1D6BFA6E445}" presName="rootComposite" presStyleCnt="0"/>
      <dgm:spPr/>
    </dgm:pt>
    <dgm:pt modelId="{82290E7F-9AFB-4D64-A9A3-22A67C277A8B}" type="pres">
      <dgm:prSet presAssocID="{E6597FEB-A8F5-4D02-80AA-C1D6BFA6E445}" presName="rootText" presStyleLbl="node1" presStyleIdx="2" presStyleCnt="3" custScaleX="127644" custScaleY="117419"/>
      <dgm:spPr/>
    </dgm:pt>
    <dgm:pt modelId="{6A1AE736-BAC9-464C-A9F3-738EC1C33508}" type="pres">
      <dgm:prSet presAssocID="{E6597FEB-A8F5-4D02-80AA-C1D6BFA6E445}" presName="rootConnector" presStyleLbl="node1" presStyleIdx="2" presStyleCnt="3"/>
      <dgm:spPr/>
    </dgm:pt>
    <dgm:pt modelId="{A6A2D574-E0A7-4994-AE36-40AC864275CD}" type="pres">
      <dgm:prSet presAssocID="{E6597FEB-A8F5-4D02-80AA-C1D6BFA6E445}" presName="childShape" presStyleCnt="0"/>
      <dgm:spPr/>
    </dgm:pt>
  </dgm:ptLst>
  <dgm:cxnLst>
    <dgm:cxn modelId="{63D4780C-00F9-4B11-AA4B-1DD9E109A851}" type="presOf" srcId="{1CFC2414-1EFC-4AFD-BF1B-16A163A48057}" destId="{64E6EA2A-595C-41E0-8E53-407218844655}" srcOrd="1" destOrd="0" presId="urn:microsoft.com/office/officeart/2005/8/layout/hierarchy3"/>
    <dgm:cxn modelId="{152D1F10-2B11-4C2B-810E-0379D1A39887}" type="presOf" srcId="{5070E393-AB06-4CA7-96C1-21D5A21A8B2D}" destId="{42F2AA21-4EB4-46FC-8C7D-C42316EAE330}" srcOrd="0" destOrd="0" presId="urn:microsoft.com/office/officeart/2005/8/layout/hierarchy3"/>
    <dgm:cxn modelId="{ED5A691D-FB54-4D04-A6AA-0D3049639D63}" type="presOf" srcId="{1CFC2414-1EFC-4AFD-BF1B-16A163A48057}" destId="{9294855A-8F71-4C8B-8EDE-18ED52578BEF}" srcOrd="0" destOrd="0" presId="urn:microsoft.com/office/officeart/2005/8/layout/hierarchy3"/>
    <dgm:cxn modelId="{5B590B6B-D5BC-4834-9094-DB7CB56C8CF0}" srcId="{BE04BA11-0E8D-42CF-AC68-5F1DDE93162A}" destId="{E6597FEB-A8F5-4D02-80AA-C1D6BFA6E445}" srcOrd="2" destOrd="0" parTransId="{3D57FB2E-F531-4677-AE4E-99E4E16919BB}" sibTransId="{A19D3827-B000-438F-B314-8BAC3D92B803}"/>
    <dgm:cxn modelId="{7A95D986-88AA-4363-86D2-834735872FD1}" type="presOf" srcId="{E6597FEB-A8F5-4D02-80AA-C1D6BFA6E445}" destId="{82290E7F-9AFB-4D64-A9A3-22A67C277A8B}" srcOrd="0" destOrd="0" presId="urn:microsoft.com/office/officeart/2005/8/layout/hierarchy3"/>
    <dgm:cxn modelId="{484D7F8A-63F3-4AAA-ABC4-EE86DE77381F}" type="presOf" srcId="{5070E393-AB06-4CA7-96C1-21D5A21A8B2D}" destId="{D8CC8776-D287-4AD3-A20A-4054775887DD}" srcOrd="1" destOrd="0" presId="urn:microsoft.com/office/officeart/2005/8/layout/hierarchy3"/>
    <dgm:cxn modelId="{04AADB92-4621-4360-8452-1A062EDE9322}" type="presOf" srcId="{E6597FEB-A8F5-4D02-80AA-C1D6BFA6E445}" destId="{6A1AE736-BAC9-464C-A9F3-738EC1C33508}" srcOrd="1" destOrd="0" presId="urn:microsoft.com/office/officeart/2005/8/layout/hierarchy3"/>
    <dgm:cxn modelId="{5F8D53C2-B014-413D-B7F8-1C6C1FD28682}" type="presOf" srcId="{BE04BA11-0E8D-42CF-AC68-5F1DDE93162A}" destId="{8D6E1156-0C84-4C51-AE5D-E00F7FC72E70}" srcOrd="0" destOrd="0" presId="urn:microsoft.com/office/officeart/2005/8/layout/hierarchy3"/>
    <dgm:cxn modelId="{1D6F05F2-D1F3-4126-8BE0-12122444274A}" srcId="{BE04BA11-0E8D-42CF-AC68-5F1DDE93162A}" destId="{5070E393-AB06-4CA7-96C1-21D5A21A8B2D}" srcOrd="1" destOrd="0" parTransId="{AD2DE8DB-B1C7-41E9-886E-BD5140989F4B}" sibTransId="{9935257D-FC1E-48E1-96FA-BD9F0F5BA6F4}"/>
    <dgm:cxn modelId="{940986F8-3786-4659-9E42-947B10609B02}" srcId="{BE04BA11-0E8D-42CF-AC68-5F1DDE93162A}" destId="{1CFC2414-1EFC-4AFD-BF1B-16A163A48057}" srcOrd="0" destOrd="0" parTransId="{F8C04D34-62DF-4BF2-9739-7B70E6201B0E}" sibTransId="{34DB2188-9F43-480D-8BF6-6885FB0CC1DD}"/>
    <dgm:cxn modelId="{CEC6C06F-4572-4126-BE7E-2E8C5B7BCA8B}" type="presParOf" srcId="{8D6E1156-0C84-4C51-AE5D-E00F7FC72E70}" destId="{FC6EFC31-EB92-4E21-AEB5-D62DFC012080}" srcOrd="0" destOrd="0" presId="urn:microsoft.com/office/officeart/2005/8/layout/hierarchy3"/>
    <dgm:cxn modelId="{2422CD17-D307-4537-BAE5-61A7067F30D6}" type="presParOf" srcId="{FC6EFC31-EB92-4E21-AEB5-D62DFC012080}" destId="{EED39482-45C0-47DD-B059-81FDCDE47638}" srcOrd="0" destOrd="0" presId="urn:microsoft.com/office/officeart/2005/8/layout/hierarchy3"/>
    <dgm:cxn modelId="{34ACF5EA-8736-40A3-8944-C291AB3D1C8E}" type="presParOf" srcId="{EED39482-45C0-47DD-B059-81FDCDE47638}" destId="{9294855A-8F71-4C8B-8EDE-18ED52578BEF}" srcOrd="0" destOrd="0" presId="urn:microsoft.com/office/officeart/2005/8/layout/hierarchy3"/>
    <dgm:cxn modelId="{90D96ABF-5986-4F6A-9028-298DE0D3E4EB}" type="presParOf" srcId="{EED39482-45C0-47DD-B059-81FDCDE47638}" destId="{64E6EA2A-595C-41E0-8E53-407218844655}" srcOrd="1" destOrd="0" presId="urn:microsoft.com/office/officeart/2005/8/layout/hierarchy3"/>
    <dgm:cxn modelId="{8E9A05F1-90E3-4386-853D-5EE84B056F5F}" type="presParOf" srcId="{FC6EFC31-EB92-4E21-AEB5-D62DFC012080}" destId="{0A1A3AD4-C785-42C0-9230-29036FA9F919}" srcOrd="1" destOrd="0" presId="urn:microsoft.com/office/officeart/2005/8/layout/hierarchy3"/>
    <dgm:cxn modelId="{8CCF0EB1-4DB3-4613-8EE1-FDB7A43D764A}" type="presParOf" srcId="{8D6E1156-0C84-4C51-AE5D-E00F7FC72E70}" destId="{38968BC0-F5AA-4251-AFA1-E5B0C739E67D}" srcOrd="1" destOrd="0" presId="urn:microsoft.com/office/officeart/2005/8/layout/hierarchy3"/>
    <dgm:cxn modelId="{32F5EDC9-B8BC-4BE3-9E9D-FA385560D1BB}" type="presParOf" srcId="{38968BC0-F5AA-4251-AFA1-E5B0C739E67D}" destId="{B5A57107-7750-47CB-9541-43AB9E6E3B50}" srcOrd="0" destOrd="0" presId="urn:microsoft.com/office/officeart/2005/8/layout/hierarchy3"/>
    <dgm:cxn modelId="{BE6F7459-E62C-41C5-AFAC-1D7C091C9460}" type="presParOf" srcId="{B5A57107-7750-47CB-9541-43AB9E6E3B50}" destId="{42F2AA21-4EB4-46FC-8C7D-C42316EAE330}" srcOrd="0" destOrd="0" presId="urn:microsoft.com/office/officeart/2005/8/layout/hierarchy3"/>
    <dgm:cxn modelId="{5FF41555-F7CC-41A4-AA42-C0C4FCBAB303}" type="presParOf" srcId="{B5A57107-7750-47CB-9541-43AB9E6E3B50}" destId="{D8CC8776-D287-4AD3-A20A-4054775887DD}" srcOrd="1" destOrd="0" presId="urn:microsoft.com/office/officeart/2005/8/layout/hierarchy3"/>
    <dgm:cxn modelId="{21789580-68F1-4836-A314-B1E2FD7E8A46}" type="presParOf" srcId="{38968BC0-F5AA-4251-AFA1-E5B0C739E67D}" destId="{9F90BD77-FAB1-48BD-9B52-4BE9D53CCEAB}" srcOrd="1" destOrd="0" presId="urn:microsoft.com/office/officeart/2005/8/layout/hierarchy3"/>
    <dgm:cxn modelId="{19585F08-3E39-4121-8440-83C79B531137}" type="presParOf" srcId="{8D6E1156-0C84-4C51-AE5D-E00F7FC72E70}" destId="{69936177-6835-4220-BCAB-A0FB1C531EBE}" srcOrd="2" destOrd="0" presId="urn:microsoft.com/office/officeart/2005/8/layout/hierarchy3"/>
    <dgm:cxn modelId="{8F6140C5-DE40-4BCA-8C24-682C858DA56C}" type="presParOf" srcId="{69936177-6835-4220-BCAB-A0FB1C531EBE}" destId="{B1C16FD5-CFF7-45AB-B7A4-DC393C18B348}" srcOrd="0" destOrd="0" presId="urn:microsoft.com/office/officeart/2005/8/layout/hierarchy3"/>
    <dgm:cxn modelId="{CFB17D47-C2FF-4BBA-9606-7129371FE3A7}" type="presParOf" srcId="{B1C16FD5-CFF7-45AB-B7A4-DC393C18B348}" destId="{82290E7F-9AFB-4D64-A9A3-22A67C277A8B}" srcOrd="0" destOrd="0" presId="urn:microsoft.com/office/officeart/2005/8/layout/hierarchy3"/>
    <dgm:cxn modelId="{E66D1CBA-F474-48A7-B856-9225F8876E68}" type="presParOf" srcId="{B1C16FD5-CFF7-45AB-B7A4-DC393C18B348}" destId="{6A1AE736-BAC9-464C-A9F3-738EC1C33508}" srcOrd="1" destOrd="0" presId="urn:microsoft.com/office/officeart/2005/8/layout/hierarchy3"/>
    <dgm:cxn modelId="{2ADC7B76-D5A8-4F2A-867C-8AFE3811511D}" type="presParOf" srcId="{69936177-6835-4220-BCAB-A0FB1C531EBE}" destId="{A6A2D574-E0A7-4994-AE36-40AC864275CD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DF162-91B4-4361-B3C0-3A656C6272AF}">
      <dsp:nvSpPr>
        <dsp:cNvPr id="0" name=""/>
        <dsp:cNvSpPr/>
      </dsp:nvSpPr>
      <dsp:spPr>
        <a:xfrm>
          <a:off x="0" y="71356"/>
          <a:ext cx="10515600" cy="99815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/>
            <a:t>Гибкость</a:t>
          </a:r>
          <a:r>
            <a:rPr lang="ru-RU" sz="2500" kern="1200"/>
            <a:t> и </a:t>
          </a:r>
          <a:r>
            <a:rPr lang="ru-RU" sz="2500" b="1" kern="1200"/>
            <a:t>адаптивность</a:t>
          </a:r>
          <a:r>
            <a:rPr lang="ru-RU" sz="2500" kern="1200"/>
            <a:t> к новым открытиям.</a:t>
          </a:r>
          <a:endParaRPr lang="en-US" sz="2500" kern="1200"/>
        </a:p>
      </dsp:txBody>
      <dsp:txXfrm>
        <a:off x="48726" y="120082"/>
        <a:ext cx="10418148" cy="900704"/>
      </dsp:txXfrm>
    </dsp:sp>
    <dsp:sp modelId="{60D35AFA-534D-4CF1-8E59-C779FC596578}">
      <dsp:nvSpPr>
        <dsp:cNvPr id="0" name=""/>
        <dsp:cNvSpPr/>
      </dsp:nvSpPr>
      <dsp:spPr>
        <a:xfrm>
          <a:off x="0" y="1141512"/>
          <a:ext cx="10515600" cy="998156"/>
        </a:xfrm>
        <a:prstGeom prst="round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/>
            <a:t>Толерантность</a:t>
          </a:r>
          <a:r>
            <a:rPr lang="ru-RU" sz="2500" kern="1200"/>
            <a:t> — признание возможности других точек зрения.</a:t>
          </a:r>
          <a:endParaRPr lang="en-US" sz="2500" kern="1200"/>
        </a:p>
      </dsp:txBody>
      <dsp:txXfrm>
        <a:off x="48726" y="1190238"/>
        <a:ext cx="10418148" cy="900704"/>
      </dsp:txXfrm>
    </dsp:sp>
    <dsp:sp modelId="{0F0A93BF-8778-4A1A-B1F8-54E4A11A25E8}">
      <dsp:nvSpPr>
        <dsp:cNvPr id="0" name=""/>
        <dsp:cNvSpPr/>
      </dsp:nvSpPr>
      <dsp:spPr>
        <a:xfrm>
          <a:off x="0" y="2211669"/>
          <a:ext cx="10515600" cy="998156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 dirty="0"/>
            <a:t>Стимул для развития</a:t>
          </a:r>
          <a:r>
            <a:rPr lang="ru-RU" sz="2500" kern="1200" dirty="0"/>
            <a:t> — поскольку ни одна теория не окончательна, поиск продолжается.</a:t>
          </a:r>
          <a:endParaRPr lang="en-US" sz="2500" kern="1200" dirty="0"/>
        </a:p>
      </dsp:txBody>
      <dsp:txXfrm>
        <a:off x="48726" y="2260395"/>
        <a:ext cx="10418148" cy="900704"/>
      </dsp:txXfrm>
    </dsp:sp>
    <dsp:sp modelId="{06347F75-2C68-4568-A704-0A93DB786D12}">
      <dsp:nvSpPr>
        <dsp:cNvPr id="0" name=""/>
        <dsp:cNvSpPr/>
      </dsp:nvSpPr>
      <dsp:spPr>
        <a:xfrm>
          <a:off x="0" y="3281825"/>
          <a:ext cx="10515600" cy="998156"/>
        </a:xfrm>
        <a:prstGeom prst="round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1" kern="1200"/>
            <a:t>Практическая применимость</a:t>
          </a:r>
          <a:r>
            <a:rPr lang="ru-RU" sz="2500" kern="1200"/>
            <a:t> в сложном, изменчивом мире.</a:t>
          </a:r>
          <a:endParaRPr lang="en-US" sz="2500" kern="1200"/>
        </a:p>
      </dsp:txBody>
      <dsp:txXfrm>
        <a:off x="48726" y="3330551"/>
        <a:ext cx="10418148" cy="900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4855A-8F71-4C8B-8EDE-18ED52578BEF}">
      <dsp:nvSpPr>
        <dsp:cNvPr id="0" name=""/>
        <dsp:cNvSpPr/>
      </dsp:nvSpPr>
      <dsp:spPr>
        <a:xfrm>
          <a:off x="4986" y="1216640"/>
          <a:ext cx="3169280" cy="15155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Риск </a:t>
          </a:r>
          <a:r>
            <a:rPr lang="ru-RU" sz="2000" b="1" kern="1200" dirty="0"/>
            <a:t>релятивизма</a:t>
          </a:r>
          <a:r>
            <a:rPr lang="ru-RU" sz="2000" kern="1200" dirty="0"/>
            <a:t> («все истины равны, никакой истины нет»).</a:t>
          </a:r>
          <a:endParaRPr lang="en-US" sz="2000" kern="1200" dirty="0"/>
        </a:p>
      </dsp:txBody>
      <dsp:txXfrm>
        <a:off x="49376" y="1261030"/>
        <a:ext cx="3080500" cy="1426814"/>
      </dsp:txXfrm>
    </dsp:sp>
    <dsp:sp modelId="{42F2AA21-4EB4-46FC-8C7D-C42316EAE330}">
      <dsp:nvSpPr>
        <dsp:cNvPr id="0" name=""/>
        <dsp:cNvSpPr/>
      </dsp:nvSpPr>
      <dsp:spPr>
        <a:xfrm>
          <a:off x="3783996" y="1216640"/>
          <a:ext cx="3003750" cy="1470596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Принятие</a:t>
          </a:r>
          <a:r>
            <a:rPr lang="ru-RU" sz="2000" b="1" kern="1200" dirty="0"/>
            <a:t> </a:t>
          </a:r>
          <a:r>
            <a:rPr lang="ru-RU" sz="2000" b="0" kern="1200" dirty="0"/>
            <a:t>решений</a:t>
          </a:r>
          <a:r>
            <a:rPr lang="ru-RU" sz="2000" kern="1200" dirty="0"/>
            <a:t> на шатком основании.</a:t>
          </a:r>
          <a:endParaRPr lang="en-US" sz="2000" kern="1200" dirty="0"/>
        </a:p>
      </dsp:txBody>
      <dsp:txXfrm>
        <a:off x="3827068" y="1259712"/>
        <a:ext cx="2917606" cy="1384452"/>
      </dsp:txXfrm>
    </dsp:sp>
    <dsp:sp modelId="{82290E7F-9AFB-4D64-A9A3-22A67C277A8B}">
      <dsp:nvSpPr>
        <dsp:cNvPr id="0" name=""/>
        <dsp:cNvSpPr/>
      </dsp:nvSpPr>
      <dsp:spPr>
        <a:xfrm>
          <a:off x="7397477" y="1216640"/>
          <a:ext cx="3113136" cy="1431878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Отсутствие твердых, неизменных основ может вызывать неуверенность.</a:t>
          </a:r>
          <a:endParaRPr lang="en-US" sz="2000" kern="1200" dirty="0"/>
        </a:p>
      </dsp:txBody>
      <dsp:txXfrm>
        <a:off x="7439415" y="1258578"/>
        <a:ext cx="3029260" cy="134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4F0A4-00AE-4994-873F-CD6FF2F571C4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0B2A0-8F14-4679-8B32-F2AC632EE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52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65150-655D-FEC5-2AF5-DCD1AB676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585C59-1760-1A4C-C710-419C9EFA1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5ACDF6-6B63-4E42-18C6-10F2504D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FDF-063B-4637-B159-3DD0689AD9A9}" type="datetime1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90FEF6-3B12-AE75-F0C2-A94D0134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996807-D900-2164-F803-3E7BB6D7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8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784F1-A721-7B1D-A968-64FD235C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A4E22F-8558-D254-3D66-0C952B9A9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4A8EB1-E4FF-4551-71C3-32CF19C6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51049-0286-4BA3-B345-053014DAEE76}" type="datetime1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FB93DC-B59C-8334-89C5-FA064881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AD8A4B-67F9-73EF-902B-6FD21B6E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1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8B409-33E7-DC2E-0AE7-2C0C4F59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D92C66-57EA-7007-5129-DE358EDA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7B5ADA-095A-FB69-ABB0-32212FAF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A032-3C7D-4B63-A4E8-24E03B899FDE}" type="datetime1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2E8518-C4F2-C11B-CDB9-94809BB0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E9BADB-651C-9F60-0649-31A99EEC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9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3CEA3-999C-7055-3E9E-724901D74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791E45-00D0-7713-F487-7F4B73B41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D5C6C0-A301-C45B-E640-0E606D66A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4A18E0-0B03-AB86-E145-FCE91960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98A2-2FAB-4398-B981-646AB3C06DE2}" type="datetime1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24708B-F7B9-27FB-A891-E442B0B0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34A8A2-D36F-0A82-3C19-E9952AD0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93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A5653-9F34-CA32-0BCA-3BBEB519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5042AB-733A-DC04-ECF4-69F6CBBF2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7D9963A-D5F1-D9D2-D966-2A438C176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E0362CB-3F2A-9596-055E-591F618D3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AB45EC-39FF-1EC4-7748-ADDA1B48D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C0BD79D-1635-1FCD-64E6-6FE02DAF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80A8-5693-4FFD-9607-6731499DA3BF}" type="datetime1">
              <a:rPr lang="ru-RU" smtClean="0"/>
              <a:t>09.02.2026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858359-C050-ADBA-76A2-1DCAD93A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77E5B7-AF16-7C3D-2C51-431558D9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30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530B8-40DC-A70F-4B4E-20C8CB92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B23E29B-7E1F-1A45-AF39-FE909AA2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FBA7-7502-4848-BB6E-124CCFBC4CCE}" type="datetime1">
              <a:rPr lang="ru-RU" smtClean="0"/>
              <a:t>09.02.2026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639343-E5A1-37FC-C874-D6D74F93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8F6107-36FA-CA9E-DBEE-FDB125FC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03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826D18-CF5A-6481-A53B-BF1B7F28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FEAE5-0B6D-49A9-8036-6D7CD58C9B15}" type="datetime1">
              <a:rPr lang="ru-RU" smtClean="0"/>
              <a:t>09.02.2026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5B1D9B2-2E9C-FD78-100B-D31CE772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ED247B-103B-9FF6-5135-D5427FB0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8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F4772-EA2F-5725-B161-551A70C8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385F9C-9D79-2FF9-DEAE-2F8FB9CB7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01AE8C-0618-F4A7-7E2F-5FF28E299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B7A33D-F07F-0676-8011-FD01C8A87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4391D-72F2-4D6C-B10D-865324CB9BBB}" type="datetime1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14974E-22A5-8C13-2831-633A3299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755C32-3758-7DA8-B45C-6FA98FC89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84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826C1-E551-392C-823A-804BC54E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9E82E9-5ABA-6573-D249-A5C4E18E6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EBE25B-F680-C244-4949-6F6BD45C3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904BEF-3855-03AA-93CE-9F05F5C4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2BE9-3814-4153-9C1E-44ED8E1F7AAB}" type="datetime1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7EA007-CE69-47A0-438A-C644C3F2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D07EAE-2BB1-CF5A-1586-83BC4011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321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FF64E-DB44-8DA5-C600-2EAEE2EDF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AE2094-E1B6-53BF-7335-A89091126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18C1E-9191-468B-1AC0-A651BFC5F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6295-6A0B-4EF6-BD9D-21A814E342C1}" type="datetime1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A9EFCC-855D-5A8E-B81A-E64CE81D6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97A84D-CEA7-3BDF-47AA-69605BD3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99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C52E8AE-AF8B-E35B-4A44-97C2033BA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9005FB-C411-F4E3-266F-C8DA710B5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B7537-7967-AAA4-A2BD-603859E5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DA4F-4DCE-4578-83A7-92620D6676FE}" type="datetime1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B154EF-1E96-FEE6-4665-DD5BC5EB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52B95B-521F-54FF-2405-0E16653FC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11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DC5FC2-8DB7-A565-0045-3EBF06D6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22005D-0587-6791-2A67-44FA17B1D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B97FD1-338E-E186-ACDC-FEC641B6F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C40E6-6AE6-456D-B1BA-E7A22E9CAA45}" type="datetime1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A61052-445C-41CB-8D08-4E0D6FF66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A0984D-5AA2-57BF-78EB-3EBF807FA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41851-5A43-4EE6-A6A2-7317C5E9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93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14AFE-F69A-159F-9D51-74919D6CF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ru-RU" sz="6600"/>
              <a:t>Относительное знание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37C141-7ECB-003F-A89B-2E8239977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Доклад студента 4-го курса ИВТ</a:t>
            </a:r>
            <a:endParaRPr lang="ru-RU"/>
          </a:p>
          <a:p>
            <a:pPr algn="l"/>
            <a:r>
              <a:rPr lang="ru-RU" dirty="0"/>
              <a:t> Суркова А. А</a:t>
            </a:r>
            <a:endParaRPr lang="ru-RU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FF1C24-8375-EF17-D5F8-8B5AF260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041851-5A43-4EE6-A6A2-7317C5E9DF93}" type="slidenum">
              <a:rPr lang="ru-RU" smtClean="0"/>
              <a:pPr>
                <a:spcAft>
                  <a:spcPts val="600"/>
                </a:spcAft>
              </a:pPr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48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03A9A7-4755-5486-C285-B8EDA8665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11" y="630148"/>
            <a:ext cx="4817291" cy="1956841"/>
          </a:xfrm>
        </p:spPr>
        <p:txBody>
          <a:bodyPr anchor="b">
            <a:normAutofit/>
          </a:bodyPr>
          <a:lstStyle/>
          <a:p>
            <a:r>
              <a:rPr lang="ru-RU" sz="3600" b="1" dirty="0"/>
              <a:t>Существует ли единственная и неизменная истина?</a:t>
            </a:r>
            <a:endParaRPr lang="ru-RU" sz="3600" dirty="0"/>
          </a:p>
        </p:txBody>
      </p:sp>
      <p:sp>
        <p:nvSpPr>
          <p:cNvPr id="104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0EA1D70B-E2A3-8575-AA71-E029DD206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" r="1" b="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ndefined">
            <a:extLst>
              <a:ext uri="{FF2B5EF4-FFF2-40B4-BE49-F238E27FC236}">
                <a16:creationId xmlns:a16="http://schemas.microsoft.com/office/drawing/2014/main" id="{63B07457-02F2-906C-31CC-4CAFCD5E9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434" y="2827879"/>
            <a:ext cx="2238835" cy="285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0E6E9E-73E5-7FD1-C27D-F0B7737F441E}"/>
              </a:ext>
            </a:extLst>
          </p:cNvPr>
          <p:cNvSpPr txBox="1"/>
          <p:nvPr/>
        </p:nvSpPr>
        <p:spPr>
          <a:xfrm>
            <a:off x="492886" y="5856907"/>
            <a:ext cx="48172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effectLst/>
              </a:rPr>
              <a:t>Или наше знание всегда зависит от условий?</a:t>
            </a:r>
            <a:endParaRPr lang="ru-RU" sz="240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B728701F-59B9-DB26-C097-0420E2B8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1851-5A43-4EE6-A6A2-7317C5E9DF9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71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92347-A783-582C-42C6-5228FF75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ru-RU" sz="4200" b="1"/>
              <a:t> Что такое относительное знание?</a:t>
            </a:r>
            <a:endParaRPr lang="ru-RU" sz="42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CA7CE78B-9313-6E1C-73A7-5ADC53500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700"/>
              <a:t>Это знание, которое </a:t>
            </a:r>
            <a:r>
              <a:rPr lang="ru-RU" sz="1700" b="1"/>
              <a:t>не является окончательным</a:t>
            </a:r>
            <a:r>
              <a:rPr lang="ru-RU" sz="1700"/>
              <a:t>, а зависит от:</a:t>
            </a:r>
            <a:endParaRPr lang="en-US" sz="1700" b="1"/>
          </a:p>
          <a:p>
            <a:endParaRPr lang="en-US" sz="1700" b="1"/>
          </a:p>
          <a:p>
            <a:r>
              <a:rPr lang="ru-RU" sz="1700" b="1"/>
              <a:t>Условий наблюдения</a:t>
            </a:r>
            <a:r>
              <a:rPr lang="ru-RU" sz="1700"/>
              <a:t> (время, место, обстоятельства)</a:t>
            </a:r>
          </a:p>
          <a:p>
            <a:r>
              <a:rPr lang="ru-RU" sz="1700" b="1"/>
              <a:t>Субъекта познания</a:t>
            </a:r>
            <a:r>
              <a:rPr lang="ru-RU" sz="1700"/>
              <a:t> (культура, опыт, язык)</a:t>
            </a:r>
          </a:p>
          <a:p>
            <a:r>
              <a:rPr lang="ru-RU" sz="1700" b="1"/>
              <a:t>Системы отсчета</a:t>
            </a:r>
            <a:r>
              <a:rPr lang="ru-RU" sz="1700"/>
              <a:t> (теоретической, этической, практической)</a:t>
            </a:r>
          </a:p>
          <a:p>
            <a:r>
              <a:rPr lang="ru-RU" sz="1700" b="1"/>
              <a:t>Главный принцип:</a:t>
            </a:r>
            <a:r>
              <a:rPr lang="ru-RU" sz="1700"/>
              <a:t> «Истина относительно контекста».</a:t>
            </a:r>
          </a:p>
        </p:txBody>
      </p:sp>
      <p:pic>
        <p:nvPicPr>
          <p:cNvPr id="29" name="Picture 5">
            <a:extLst>
              <a:ext uri="{FF2B5EF4-FFF2-40B4-BE49-F238E27FC236}">
                <a16:creationId xmlns:a16="http://schemas.microsoft.com/office/drawing/2014/main" id="{198F327A-76FC-668A-E95D-BA082ADA4D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12" r="2406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82936C-AD36-3AD9-36CF-ACF97F05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041851-5A43-4EE6-A6A2-7317C5E9DF93}" type="slidenum">
              <a:rPr lang="ru-RU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ru-RU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97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49C70-A7EE-C6A0-CD9F-8470CCC6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ru-RU" sz="3400" b="1"/>
              <a:t> Характеристики относительного знания</a:t>
            </a:r>
            <a:endParaRPr lang="ru-RU" sz="3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06DE8-BD32-58D1-56E9-9A22FA546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ru-RU" sz="2200" b="1"/>
              <a:t>Контекстуальность:</a:t>
            </a:r>
            <a:r>
              <a:rPr lang="ru-RU" sz="2200"/>
              <a:t> Значение факта меняется в зависимости от ситуации.</a:t>
            </a:r>
          </a:p>
          <a:p>
            <a:r>
              <a:rPr lang="ru-RU" sz="2200" b="1"/>
              <a:t>Изменчивость:</a:t>
            </a:r>
            <a:r>
              <a:rPr lang="ru-RU" sz="2200"/>
              <a:t> Может устаревать с появлением новых данных.</a:t>
            </a:r>
          </a:p>
          <a:p>
            <a:r>
              <a:rPr lang="ru-RU" sz="2200" b="1"/>
              <a:t>Субъективность:</a:t>
            </a:r>
            <a:r>
              <a:rPr lang="ru-RU" sz="2200"/>
              <a:t> Связано с точкой зрения наблюдателя.</a:t>
            </a:r>
          </a:p>
          <a:p>
            <a:r>
              <a:rPr lang="ru-RU" sz="2200" b="1"/>
              <a:t>Прагматичность:</a:t>
            </a:r>
            <a:r>
              <a:rPr lang="ru-RU" sz="2200"/>
              <a:t> Ценно своей полезностью здесь и сейчас, а не «вечной» истинностью.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D30A13-75F8-AE6C-D80C-F407B4D74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041851-5A43-4EE6-A6A2-7317C5E9DF93}" type="slidenum">
              <a:rPr lang="ru-RU" smtClean="0"/>
              <a:pPr>
                <a:spcAft>
                  <a:spcPts val="600"/>
                </a:spcAft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5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5621E-FEB8-839B-136B-083701CC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b="1"/>
              <a:t>Примеры относительного знания</a:t>
            </a:r>
            <a:endParaRPr lang="ru-RU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544F93-AE48-C66B-ED15-19A5E4932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ru-RU" dirty="0"/>
              <a:t>Физика Ньютона верна для макромира и низких скоростей, но «относительна» по сравнению с теорией относительности Эйнштейна.</a:t>
            </a:r>
          </a:p>
          <a:p>
            <a:r>
              <a:rPr lang="ru-RU" dirty="0"/>
              <a:t> Понятия «жарко» и «холодно» относительны для человека из разных климатических зон.</a:t>
            </a:r>
          </a:p>
          <a:p>
            <a:r>
              <a:rPr lang="ru-RU" dirty="0"/>
              <a:t>Оптические иллюзии наглядно показывают, как наш мозг интерпретирует данные относительно ожиданий.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4D498E-E13D-47D0-325A-D62E4389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041851-5A43-4EE6-A6A2-7317C5E9DF93}" type="slidenum">
              <a:rPr lang="ru-RU" smtClean="0"/>
              <a:pPr>
                <a:spcAft>
                  <a:spcPts val="600"/>
                </a:spcAft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94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Изображение выглядит как синий, шаблон, Цвет Majorelle blue, полос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7DE61A0-D4AF-A549-5EC4-953D33CB2F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27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9DD6B-84EF-29F9-E524-D5A9DA54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Сильные стороны относительного знания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2BD332-47EB-ABC2-65F3-E99736F7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041851-5A43-4EE6-A6A2-7317C5E9DF93}" type="slidenum">
              <a:rPr lang="ru-RU" smtClean="0"/>
              <a:pPr>
                <a:spcAft>
                  <a:spcPts val="600"/>
                </a:spcAft>
              </a:pPr>
              <a:t>6</a:t>
            </a:fld>
            <a:endParaRPr lang="ru-RU"/>
          </a:p>
        </p:txBody>
      </p:sp>
      <p:graphicFrame>
        <p:nvGraphicFramePr>
          <p:cNvPr id="8" name="Объект 2">
            <a:extLst>
              <a:ext uri="{FF2B5EF4-FFF2-40B4-BE49-F238E27FC236}">
                <a16:creationId xmlns:a16="http://schemas.microsoft.com/office/drawing/2014/main" id="{81587C1F-1752-D8EF-8613-4B8C9F8435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7290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069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5554C-1B79-C913-0FD9-D4D4A3C6C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600" b="1"/>
              <a:t>Ограничения относительного знания</a:t>
            </a:r>
            <a:endParaRPr lang="ru-RU" sz="46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E0F1E9-12BD-FBC7-C483-622AAA97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041851-5A43-4EE6-A6A2-7317C5E9DF93}" type="slidenum">
              <a:rPr lang="ru-RU" smtClean="0"/>
              <a:pPr>
                <a:spcAft>
                  <a:spcPts val="600"/>
                </a:spcAft>
              </a:pPr>
              <a:t>7</a:t>
            </a:fld>
            <a:endParaRPr lang="ru-RU"/>
          </a:p>
        </p:txBody>
      </p:sp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F2AA729C-F162-74A8-5DA3-09C20A85A5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6265986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824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10CBC8-7837-4750-8EE9-B4C3D5048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9014793-11D4-4A17-9261-1A2E683AD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104482" y="-5104482"/>
            <a:ext cx="1983037" cy="12192001"/>
          </a:xfrm>
          <a:custGeom>
            <a:avLst/>
            <a:gdLst>
              <a:gd name="connsiteX0" fmla="*/ 0 w 1983037"/>
              <a:gd name="connsiteY0" fmla="*/ 0 h 12192001"/>
              <a:gd name="connsiteX1" fmla="*/ 0 w 1983037"/>
              <a:gd name="connsiteY1" fmla="*/ 12192001 h 12192001"/>
              <a:gd name="connsiteX2" fmla="*/ 1945626 w 1983037"/>
              <a:gd name="connsiteY2" fmla="*/ 12192001 h 12192001"/>
              <a:gd name="connsiteX3" fmla="*/ 1914883 w 1983037"/>
              <a:gd name="connsiteY3" fmla="*/ 11926947 h 12192001"/>
              <a:gd name="connsiteX4" fmla="*/ 1887405 w 1983037"/>
              <a:gd name="connsiteY4" fmla="*/ 10882179 h 12192001"/>
              <a:gd name="connsiteX5" fmla="*/ 1955094 w 1983037"/>
              <a:gd name="connsiteY5" fmla="*/ 9717835 h 12192001"/>
              <a:gd name="connsiteX6" fmla="*/ 1955094 w 1983037"/>
              <a:gd name="connsiteY6" fmla="*/ 9338013 h 12192001"/>
              <a:gd name="connsiteX7" fmla="*/ 1947423 w 1983037"/>
              <a:gd name="connsiteY7" fmla="*/ 8936699 h 12192001"/>
              <a:gd name="connsiteX8" fmla="*/ 1949002 w 1983037"/>
              <a:gd name="connsiteY8" fmla="*/ 7709920 h 12192001"/>
              <a:gd name="connsiteX9" fmla="*/ 1930276 w 1983037"/>
              <a:gd name="connsiteY9" fmla="*/ 6277504 h 12192001"/>
              <a:gd name="connsiteX10" fmla="*/ 1954643 w 1983037"/>
              <a:gd name="connsiteY10" fmla="*/ 5307481 h 12192001"/>
              <a:gd name="connsiteX11" fmla="*/ 1944941 w 1983037"/>
              <a:gd name="connsiteY11" fmla="*/ 4949831 h 12192001"/>
              <a:gd name="connsiteX12" fmla="*/ 1961187 w 1983037"/>
              <a:gd name="connsiteY12" fmla="*/ 4137481 h 12192001"/>
              <a:gd name="connsiteX13" fmla="*/ 1964118 w 1983037"/>
              <a:gd name="connsiteY13" fmla="*/ 3194148 h 12192001"/>
              <a:gd name="connsiteX14" fmla="*/ 1914708 w 1983037"/>
              <a:gd name="connsiteY14" fmla="*/ 1979808 h 12192001"/>
              <a:gd name="connsiteX15" fmla="*/ 1949679 w 1983037"/>
              <a:gd name="connsiteY15" fmla="*/ 1443897 h 12192001"/>
              <a:gd name="connsiteX16" fmla="*/ 1942685 w 1983037"/>
              <a:gd name="connsiteY16" fmla="*/ 749860 h 12192001"/>
              <a:gd name="connsiteX17" fmla="*/ 1933706 w 1983037"/>
              <a:gd name="connsiteY17" fmla="*/ 168558 h 12192001"/>
              <a:gd name="connsiteX18" fmla="*/ 1950785 w 1983037"/>
              <a:gd name="connsiteY18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83037" h="12192001">
                <a:moveTo>
                  <a:pt x="0" y="0"/>
                </a:moveTo>
                <a:lnTo>
                  <a:pt x="0" y="12192001"/>
                </a:lnTo>
                <a:lnTo>
                  <a:pt x="1945626" y="12192001"/>
                </a:lnTo>
                <a:lnTo>
                  <a:pt x="1914883" y="11926947"/>
                </a:lnTo>
                <a:cubicBezTo>
                  <a:pt x="1884529" y="11579709"/>
                  <a:pt x="1881652" y="11231009"/>
                  <a:pt x="1887405" y="10882179"/>
                </a:cubicBezTo>
                <a:cubicBezTo>
                  <a:pt x="1893725" y="10493309"/>
                  <a:pt x="1911547" y="10104667"/>
                  <a:pt x="1955094" y="9717835"/>
                </a:cubicBezTo>
                <a:cubicBezTo>
                  <a:pt x="1966715" y="9591491"/>
                  <a:pt x="1966715" y="9464357"/>
                  <a:pt x="1955094" y="9338013"/>
                </a:cubicBezTo>
                <a:cubicBezTo>
                  <a:pt x="1945663" y="9204453"/>
                  <a:pt x="1943091" y="9070511"/>
                  <a:pt x="1947423" y="8936699"/>
                </a:cubicBezTo>
                <a:cubicBezTo>
                  <a:pt x="1960283" y="8527701"/>
                  <a:pt x="1930726" y="8118470"/>
                  <a:pt x="1949002" y="7709920"/>
                </a:cubicBezTo>
                <a:cubicBezTo>
                  <a:pt x="1970436" y="7231918"/>
                  <a:pt x="1945393" y="6755049"/>
                  <a:pt x="1930276" y="6277504"/>
                </a:cubicBezTo>
                <a:cubicBezTo>
                  <a:pt x="1920123" y="5954014"/>
                  <a:pt x="1913803" y="5630292"/>
                  <a:pt x="1954643" y="5307481"/>
                </a:cubicBezTo>
                <a:cubicBezTo>
                  <a:pt x="1969761" y="5188718"/>
                  <a:pt x="1956899" y="5068596"/>
                  <a:pt x="1944941" y="4949831"/>
                </a:cubicBezTo>
                <a:cubicBezTo>
                  <a:pt x="1917866" y="4678139"/>
                  <a:pt x="1932758" y="4407584"/>
                  <a:pt x="1961187" y="4137481"/>
                </a:cubicBezTo>
                <a:cubicBezTo>
                  <a:pt x="1994579" y="3823035"/>
                  <a:pt x="1984877" y="3508818"/>
                  <a:pt x="1964118" y="3194148"/>
                </a:cubicBezTo>
                <a:cubicBezTo>
                  <a:pt x="1937270" y="2789895"/>
                  <a:pt x="1903424" y="2387003"/>
                  <a:pt x="1914708" y="1979808"/>
                </a:cubicBezTo>
                <a:cubicBezTo>
                  <a:pt x="1919446" y="1800868"/>
                  <a:pt x="1935466" y="1622384"/>
                  <a:pt x="1949679" y="1443897"/>
                </a:cubicBezTo>
                <a:cubicBezTo>
                  <a:pt x="1964278" y="1212701"/>
                  <a:pt x="1961931" y="980722"/>
                  <a:pt x="1942685" y="749860"/>
                </a:cubicBezTo>
                <a:cubicBezTo>
                  <a:pt x="1929825" y="555933"/>
                  <a:pt x="1921533" y="362007"/>
                  <a:pt x="1933706" y="168558"/>
                </a:cubicBezTo>
                <a:lnTo>
                  <a:pt x="19507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BA7FA-2C0C-0F62-0B6C-D125B87F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600" b="1">
                <a:solidFill>
                  <a:srgbClr val="FFFFFF"/>
                </a:solidFill>
              </a:rPr>
              <a:t>Относительное </a:t>
            </a:r>
            <a:r>
              <a:rPr lang="en-US" sz="4600" b="1">
                <a:solidFill>
                  <a:srgbClr val="FFFFFF"/>
                </a:solidFill>
              </a:rPr>
              <a:t>/ </a:t>
            </a:r>
            <a:r>
              <a:rPr lang="ru-RU" sz="4600" b="1">
                <a:solidFill>
                  <a:srgbClr val="FFFFFF"/>
                </a:solidFill>
              </a:rPr>
              <a:t>Абсолютное знание</a:t>
            </a:r>
            <a:endParaRPr lang="ru-RU" sz="4600">
              <a:solidFill>
                <a:srgbClr val="FFFFFF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1B4E1E-0FBD-0711-E9DB-8BCA5395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041851-5A43-4EE6-A6A2-7317C5E9DF93}" type="slidenum">
              <a:rPr lang="ru-RU" smtClean="0"/>
              <a:pPr>
                <a:spcAft>
                  <a:spcPts val="600"/>
                </a:spcAft>
              </a:pPr>
              <a:t>8</a:t>
            </a:fld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8C0D14B2-EFF3-CC5E-C7A8-A51C86A59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688657"/>
              </p:ext>
            </p:extLst>
          </p:nvPr>
        </p:nvGraphicFramePr>
        <p:xfrm>
          <a:off x="838200" y="3027008"/>
          <a:ext cx="10515601" cy="2471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5261">
                  <a:extLst>
                    <a:ext uri="{9D8B030D-6E8A-4147-A177-3AD203B41FA5}">
                      <a16:colId xmlns:a16="http://schemas.microsoft.com/office/drawing/2014/main" val="1220610994"/>
                    </a:ext>
                  </a:extLst>
                </a:gridCol>
                <a:gridCol w="5200340">
                  <a:extLst>
                    <a:ext uri="{9D8B030D-6E8A-4147-A177-3AD203B41FA5}">
                      <a16:colId xmlns:a16="http://schemas.microsoft.com/office/drawing/2014/main" val="3724908633"/>
                    </a:ext>
                  </a:extLst>
                </a:gridCol>
              </a:tblGrid>
              <a:tr h="69083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700" b="1" dirty="0">
                          <a:effectLst/>
                          <a:latin typeface="quote-cjk-patch"/>
                        </a:rPr>
                        <a:t>Относительное знание</a:t>
                      </a:r>
                      <a:endParaRPr lang="ru-RU" sz="2700" b="0" dirty="0">
                        <a:effectLst/>
                        <a:latin typeface="quote-cjk-patch"/>
                      </a:endParaRPr>
                    </a:p>
                  </a:txBody>
                  <a:tcPr marL="134869" marR="224782" marT="140489" marB="140489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7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Абсолютное знание</a:t>
                      </a:r>
                      <a:endParaRPr lang="ru-RU" sz="2700" dirty="0"/>
                    </a:p>
                  </a:txBody>
                  <a:tcPr marL="134869" marR="134869" marT="67435" marB="67435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326620"/>
                  </a:ext>
                </a:extLst>
              </a:tr>
              <a:tr h="593426">
                <a:tc>
                  <a:txBody>
                    <a:bodyPr/>
                    <a:lstStyle/>
                    <a:p>
                      <a:r>
                        <a:rPr lang="ru-RU" sz="27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Зависит от условий и субъекта</a:t>
                      </a:r>
                      <a:endParaRPr lang="ru-RU" sz="2700"/>
                    </a:p>
                  </a:txBody>
                  <a:tcPr marL="134869" marR="134869" marT="67435" marB="67435"/>
                </a:tc>
                <a:tc>
                  <a:txBody>
                    <a:bodyPr/>
                    <a:lstStyle/>
                    <a:p>
                      <a:r>
                        <a:rPr lang="ru-RU" sz="27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Независимо, универсально</a:t>
                      </a:r>
                      <a:endParaRPr lang="ru-RU" sz="2700"/>
                    </a:p>
                  </a:txBody>
                  <a:tcPr marL="134869" marR="134869" marT="67435" marB="67435"/>
                </a:tc>
                <a:extLst>
                  <a:ext uri="{0D108BD9-81ED-4DB2-BD59-A6C34878D82A}">
                    <a16:rowId xmlns:a16="http://schemas.microsoft.com/office/drawing/2014/main" val="1429008081"/>
                  </a:ext>
                </a:extLst>
              </a:tr>
              <a:tr h="593426">
                <a:tc>
                  <a:txBody>
                    <a:bodyPr/>
                    <a:lstStyle/>
                    <a:p>
                      <a:r>
                        <a:rPr lang="ru-RU" sz="27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Изменчиво, может устаревать</a:t>
                      </a:r>
                      <a:endParaRPr lang="ru-RU" sz="2700"/>
                    </a:p>
                  </a:txBody>
                  <a:tcPr marL="134869" marR="134869" marT="67435" marB="67435"/>
                </a:tc>
                <a:tc>
                  <a:txBody>
                    <a:bodyPr/>
                    <a:lstStyle/>
                    <a:p>
                      <a:r>
                        <a:rPr lang="ru-RU" sz="27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Неизменно и вечно</a:t>
                      </a:r>
                      <a:endParaRPr lang="ru-RU" sz="2700"/>
                    </a:p>
                  </a:txBody>
                  <a:tcPr marL="134869" marR="134869" marT="67435" marB="67435"/>
                </a:tc>
                <a:extLst>
                  <a:ext uri="{0D108BD9-81ED-4DB2-BD59-A6C34878D82A}">
                    <a16:rowId xmlns:a16="http://schemas.microsoft.com/office/drawing/2014/main" val="2633324478"/>
                  </a:ext>
                </a:extLst>
              </a:tr>
              <a:tr h="593426">
                <a:tc>
                  <a:txBody>
                    <a:bodyPr/>
                    <a:lstStyle/>
                    <a:p>
                      <a:r>
                        <a:rPr lang="ru-RU" sz="27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Контекстуально и практично</a:t>
                      </a:r>
                      <a:endParaRPr lang="ru-RU" sz="2700"/>
                    </a:p>
                  </a:txBody>
                  <a:tcPr marL="134869" marR="134869" marT="67435" marB="67435"/>
                </a:tc>
                <a:tc>
                  <a:txBody>
                    <a:bodyPr/>
                    <a:lstStyle/>
                    <a:p>
                      <a:r>
                        <a:rPr lang="ru-RU" sz="2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Безусловно и самодостаточно</a:t>
                      </a:r>
                      <a:endParaRPr lang="ru-RU" sz="2700" dirty="0"/>
                    </a:p>
                  </a:txBody>
                  <a:tcPr marL="134869" marR="134869" marT="67435" marB="67435"/>
                </a:tc>
                <a:extLst>
                  <a:ext uri="{0D108BD9-81ED-4DB2-BD59-A6C34878D82A}">
                    <a16:rowId xmlns:a16="http://schemas.microsoft.com/office/drawing/2014/main" val="2905342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64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330AB-8C8C-3C16-248A-15994913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b="1"/>
              <a:t>Выводы</a:t>
            </a:r>
            <a:endParaRPr lang="ru-RU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EB4A23-C099-69BE-FA3A-0EB265ED8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ru-RU" sz="3200" b="1" dirty="0"/>
              <a:t>Относительное знание</a:t>
            </a:r>
            <a:r>
              <a:rPr lang="ru-RU" sz="3200" dirty="0"/>
              <a:t> — это основная форма нашего познания мира.</a:t>
            </a:r>
          </a:p>
          <a:p>
            <a:r>
              <a:rPr lang="ru-RU" sz="3200" dirty="0"/>
              <a:t>Оно </a:t>
            </a:r>
            <a:r>
              <a:rPr lang="ru-RU" sz="3200" b="1" dirty="0"/>
              <a:t>гибко, контекстуально и субъективно</a:t>
            </a:r>
            <a:r>
              <a:rPr lang="ru-RU" sz="3200" dirty="0"/>
              <a:t> окрашено.</a:t>
            </a:r>
          </a:p>
          <a:p>
            <a:r>
              <a:rPr lang="ru-RU" sz="3200" dirty="0"/>
              <a:t>Его сила — в </a:t>
            </a:r>
            <a:r>
              <a:rPr lang="ru-RU" sz="3200" b="1" dirty="0"/>
              <a:t>способности развиваться</a:t>
            </a:r>
            <a:r>
              <a:rPr lang="ru-RU" sz="3200" dirty="0"/>
              <a:t>, слабость — в отсутствии твердой опоры.</a:t>
            </a:r>
          </a:p>
          <a:p>
            <a:r>
              <a:rPr lang="ru-RU" sz="3200" dirty="0"/>
              <a:t>Понимание его природы делает нас </a:t>
            </a:r>
            <a:r>
              <a:rPr lang="ru-RU" sz="3200" b="1" dirty="0"/>
              <a:t>критичнее</a:t>
            </a:r>
            <a:r>
              <a:rPr lang="ru-RU" sz="3200" dirty="0"/>
              <a:t> к информации и </a:t>
            </a:r>
            <a:r>
              <a:rPr lang="ru-RU" sz="3200" b="1" dirty="0"/>
              <a:t>терпимее</a:t>
            </a:r>
            <a:r>
              <a:rPr lang="ru-RU" sz="3200" dirty="0"/>
              <a:t> к мнениям других.</a:t>
            </a:r>
          </a:p>
          <a:p>
            <a:endParaRPr lang="ru-RU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FFFF15-3593-1790-E6EF-2BB17AC2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041851-5A43-4EE6-A6A2-7317C5E9DF93}" type="slidenum">
              <a:rPr lang="ru-RU" smtClean="0"/>
              <a:pPr>
                <a:spcAft>
                  <a:spcPts val="600"/>
                </a:spcAft>
              </a:pPr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82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0356E-0994-CAB6-7C96-FB7C52794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Спасибо за внимание!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41B4CB-EBF0-B412-B5FF-9F6A3448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9019" y="6356350"/>
            <a:ext cx="12688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8041851-5A43-4EE6-A6A2-7317C5E9DF9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1184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340</Words>
  <Application>Microsoft Office PowerPoint</Application>
  <PresentationFormat>Широкоэкранный</PresentationFormat>
  <Paragraphs>55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quote-cjk-patch</vt:lpstr>
      <vt:lpstr>Тема Office</vt:lpstr>
      <vt:lpstr>Относительное знание</vt:lpstr>
      <vt:lpstr>Существует ли единственная и неизменная истина?</vt:lpstr>
      <vt:lpstr> Что такое относительное знание?</vt:lpstr>
      <vt:lpstr> Характеристики относительного знания</vt:lpstr>
      <vt:lpstr>Примеры относительного знания</vt:lpstr>
      <vt:lpstr>Сильные стороны относительного знания</vt:lpstr>
      <vt:lpstr>Ограничения относительного знания</vt:lpstr>
      <vt:lpstr>Относительное / Абсолютное знание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Surkov</dc:creator>
  <cp:lastModifiedBy>Andrey Surkov</cp:lastModifiedBy>
  <cp:revision>1</cp:revision>
  <dcterms:created xsi:type="dcterms:W3CDTF">2026-02-09T08:57:31Z</dcterms:created>
  <dcterms:modified xsi:type="dcterms:W3CDTF">2026-02-09T20:08:19Z</dcterms:modified>
</cp:coreProperties>
</file>
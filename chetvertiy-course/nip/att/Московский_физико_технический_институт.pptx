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9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D66FD-D804-4B49-AAD0-A2CBA5AC3CB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8FD32-6D26-4458-B1D2-3C35D1106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75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8FD32-6D26-4458-B1D2-3C35D11069C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4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7840F-596D-1D6C-D107-CC8C34025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06EE33-20B3-A300-A489-AC685010C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43A157-43D2-9DFE-B796-A3359F86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26B7C0-C927-33C8-CD3A-51C6E405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B3DCF2-4D13-50A4-AF22-B8FCCFF6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43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8401F-2DC1-9BFF-0270-A132A8E9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437B5-B989-AFA4-AF52-8059F7DB5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36A8BB-EE4E-448D-8C66-DA5D58EB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25E01-4A83-7D8A-F07B-9B75CC73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1594F-CAC4-6AD7-D249-C9A336C3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11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8FCF3-F53E-372C-D04A-47B1D39B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9E0D4B-9585-85C1-00B9-804F6C7CC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1C931-EF53-F30F-A973-787D4661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A21CE6-7C1E-9F60-F884-3DE26386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A6549A-FF22-BBB0-4505-D3B88D37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65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05B6-00AD-46C1-00A2-6E1C9ADA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A60C5-6948-DCA8-8F7A-49D3C726F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41E802-0E72-DFF4-2CDB-0F0D46644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8915F3-3A3A-3271-F26C-D769E890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16E503-2281-7C6C-C602-637EF26E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F16C26-F3DA-FB56-ECE9-54DFC910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2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ADACC-624B-4351-091F-5B16AADA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C6AA47-8108-6536-3358-A33390861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6F917-8FC0-18D8-2130-2E8E84885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6DB2B5-8296-F776-3913-2B01D9770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70BE1B-1D47-9973-1E94-970EBC866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37AD19-6BC8-EE46-E775-A8B57524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EF03F5-7FF7-5D2B-A2DD-691A9E4B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9A3F1D-3284-262B-C870-0D09B83E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4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72654-D07C-397D-3635-B12037CD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6F4337-5D47-FBEA-270A-2E09A94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F38ECD-C233-C38A-8723-6C612F7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E5C8E8-95E9-11C4-72F6-5EB73FBA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9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71DE1C-E6DD-C1DA-2A64-2D4F1D47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8E677F-473D-1547-488D-97E09CBB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A9AC4-05C9-1B53-5054-172C5F0E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74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11EFE-BF43-1980-0A0B-06A91FB2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133DA9-A3A9-7D65-593C-6EFC3DE3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03FF68-FC38-1B25-C210-53EC0F9D3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B466A1-FE45-4BD6-C4BD-E531EDE9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5ECF4D-21A7-C1B9-15E5-CB131E15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EAC845-DFE4-93CE-7E91-3DD79ACE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50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28A04-860F-DF01-FCBF-D7DF7989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68C0D5-7FB2-DD37-6476-6C4DD6E4B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63AAF5-2CE3-5FED-837D-6D1BFC22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C4ECB4-0F6D-E4AE-B4F3-C3E1608A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7C947-2027-D91B-2889-2C3F9793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530F4D-B979-E497-A247-BF7CFB08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0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70DB9-68C3-21A7-8A6A-87B6B1C3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AC9F4D-2520-226B-79C3-8FB47FCF1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62656D-7E3A-A860-815B-86FA4F7F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D3023A-A024-7029-E4F1-5CA88737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2BA60-C497-39DE-0C1C-30473D70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14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832C98-0945-ACBD-CBCE-ADC487F1E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BA96A9-F1D5-DD9F-6CF1-9E5B7E24E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C905F5-7322-1556-AD7C-208299E9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21CEF4-CBED-C379-2DC1-41675FF1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4C78F1-B091-AACC-DA7B-739D5378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66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9F911-0830-867C-92FA-B0FC463C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670EAC-D8E7-85C7-5FA6-ECC40280B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68106-BE56-BF08-05A0-7D144524E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C69C3-3090-49E4-B771-444D88090B9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7DCA0-4A9D-E9C6-0389-F89E6D5BF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2D24A5-6D7F-A136-BC76-AF29D16CD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0DCA8-558C-40E4-A485-A206758A6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97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7" descr="Сити-холл Сан-Франциско с подсветкой">
            <a:extLst>
              <a:ext uri="{FF2B5EF4-FFF2-40B4-BE49-F238E27FC236}">
                <a16:creationId xmlns:a16="http://schemas.microsoft.com/office/drawing/2014/main" id="{A29DF8AD-6028-E477-B2EB-B1081FF468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" name="Subtitle">
            <a:extLst>
              <a:ext uri="{FF2B5EF4-FFF2-40B4-BE49-F238E27FC236}">
                <a16:creationId xmlns:a16="http://schemas.microsoft.com/office/drawing/2014/main" id="{D1271D73-C74D-21C5-2B5D-C6434D783107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600" dirty="0" err="1">
                <a:solidFill>
                  <a:schemeClr val="bg1"/>
                </a:solidFill>
              </a:rPr>
              <a:t>Московский</a:t>
            </a:r>
            <a:r>
              <a:rPr lang="en-US" sz="4600" dirty="0">
                <a:solidFill>
                  <a:schemeClr val="bg1"/>
                </a:solidFill>
              </a:rPr>
              <a:t> </a:t>
            </a:r>
            <a:r>
              <a:rPr lang="en-US" sz="4600" dirty="0" err="1">
                <a:solidFill>
                  <a:schemeClr val="bg1"/>
                </a:solidFill>
              </a:rPr>
              <a:t>физико-технический</a:t>
            </a:r>
            <a:r>
              <a:rPr lang="en-US" sz="4600" dirty="0">
                <a:solidFill>
                  <a:schemeClr val="bg1"/>
                </a:solidFill>
              </a:rPr>
              <a:t> </a:t>
            </a:r>
            <a:r>
              <a:rPr lang="en-US" sz="4600" dirty="0" err="1">
                <a:solidFill>
                  <a:schemeClr val="bg1"/>
                </a:solidFill>
              </a:rPr>
              <a:t>институт</a:t>
            </a:r>
            <a:br>
              <a:rPr lang="en-US" sz="4600" dirty="0">
                <a:solidFill>
                  <a:schemeClr val="bg1"/>
                </a:solidFill>
              </a:rPr>
            </a:b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519B9-5875-8162-2170-F00F693FA711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indent="-228600" fontAlgn="auto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effectLst/>
              </a:rPr>
              <a:t>Доклад студента 4-го курса ИВТ</a:t>
            </a:r>
          </a:p>
          <a:p>
            <a:pPr marL="0" marR="0" indent="-228600" fontAlgn="auto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effectLst/>
              </a:rPr>
              <a:t>Суркова А. А.</a:t>
            </a:r>
          </a:p>
        </p:txBody>
      </p:sp>
    </p:spTree>
    <p:extLst>
      <p:ext uri="{BB962C8B-B14F-4D97-AF65-F5344CB8AC3E}">
        <p14:creationId xmlns:p14="http://schemas.microsoft.com/office/powerpoint/2010/main" val="2153392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BFB3FD-226C-DDDD-6DAC-CBC0F66489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alphaModFix amt="40000"/>
          </a:blip>
          <a:srcRect t="14193" b="153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5F7CB-59D8-CA2D-CC3D-2B6CF3E0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200" b="1">
                <a:solidFill>
                  <a:schemeClr val="bg1"/>
                </a:solidFill>
              </a:rPr>
              <a:t>МФТИ как национальный исследовательский университет</a:t>
            </a:r>
            <a:endParaRPr lang="ru-RU" sz="4200">
              <a:solidFill>
                <a:schemeClr val="bg1"/>
              </a:solidFill>
            </a:endParaRP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EE5E8-C496-2E88-22FD-6EE3B179F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ru-RU" sz="2200">
                <a:solidFill>
                  <a:schemeClr val="bg1"/>
                </a:solidFill>
              </a:rPr>
              <a:t>Статус НИУ присвоен в 2009 году</a:t>
            </a:r>
          </a:p>
          <a:p>
            <a:r>
              <a:rPr lang="ru-RU" sz="2200">
                <a:solidFill>
                  <a:schemeClr val="bg1"/>
                </a:solidFill>
              </a:rPr>
              <a:t>Физтех-школы: ФПМИ, ФРКТ, ФАКТ</a:t>
            </a:r>
          </a:p>
          <a:p>
            <a:r>
              <a:rPr lang="ru-RU" sz="2200">
                <a:solidFill>
                  <a:schemeClr val="bg1"/>
                </a:solidFill>
              </a:rPr>
              <a:t>20+ лабораторий в области ИТ и компьютерных наук </a:t>
            </a:r>
          </a:p>
          <a:p>
            <a:r>
              <a:rPr lang="ru-RU" sz="2200">
                <a:solidFill>
                  <a:schemeClr val="bg1"/>
                </a:solidFill>
              </a:rPr>
              <a:t>Интеграция образования и фундаментальной науки</a:t>
            </a:r>
          </a:p>
          <a:p>
            <a:endParaRPr lang="ru-RU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5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5BBED-82A8-5856-07D5-1EC192BB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ru-RU" sz="3000" b="1">
                <a:solidFill>
                  <a:srgbClr val="FFFFFF"/>
                </a:solidFill>
              </a:rPr>
              <a:t>Искусственный интеллект и машинное обучение</a:t>
            </a:r>
            <a:endParaRPr lang="ru-RU" sz="30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E5E63-E180-6848-4F88-9C963A065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ru-RU" sz="1900">
                <a:solidFill>
                  <a:srgbClr val="FFFFFF"/>
                </a:solidFill>
              </a:rPr>
              <a:t>Разработка нейросетевых алгоритмов</a:t>
            </a:r>
          </a:p>
          <a:p>
            <a:r>
              <a:rPr lang="ru-RU" sz="1900">
                <a:solidFill>
                  <a:srgbClr val="FFFFFF"/>
                </a:solidFill>
              </a:rPr>
              <a:t>Компьютерное зрение и распознавание образов</a:t>
            </a:r>
          </a:p>
          <a:p>
            <a:r>
              <a:rPr lang="ru-RU" sz="1900">
                <a:solidFill>
                  <a:srgbClr val="FFFFFF"/>
                </a:solidFill>
              </a:rPr>
              <a:t>Интеллектуальный анализ больших данных</a:t>
            </a:r>
          </a:p>
          <a:p>
            <a:r>
              <a:rPr lang="ru-RU" sz="1900">
                <a:solidFill>
                  <a:srgbClr val="FFFFFF"/>
                </a:solidFill>
              </a:rPr>
              <a:t>Прогнозная аналитика и рекомендательные системы</a:t>
            </a:r>
          </a:p>
          <a:p>
            <a:r>
              <a:rPr lang="ru-RU" sz="1900">
                <a:solidFill>
                  <a:srgbClr val="FFFFFF"/>
                </a:solidFill>
              </a:rPr>
              <a:t>Распознавание типов активности по данным сенсоров</a:t>
            </a:r>
          </a:p>
          <a:p>
            <a:endParaRPr lang="ru-RU" sz="1900">
              <a:solidFill>
                <a:srgbClr val="FFFFF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DFBFC5-09E7-CCE3-2FE9-7EB9E5B008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22424" r="22422" b="-1"/>
          <a:stretch>
            <a:fillRect/>
          </a:stretch>
        </p:blipFill>
        <p:spPr>
          <a:xfrm>
            <a:off x="6525898" y="787114"/>
            <a:ext cx="4365814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6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7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0DDB5-2477-0BE2-92A9-824827A9D1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09523-7BA6-B3FD-BA8E-BE4BBA62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Высокопроизводительные вычисления и киберсистемы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A61DD-826C-F228-3777-505BB824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r>
              <a:rPr lang="ru-RU" sz="2000">
                <a:solidFill>
                  <a:srgbClr val="FFFFFF"/>
                </a:solidFill>
              </a:rPr>
              <a:t>Распределенные вычисления в недетерминированной среде</a:t>
            </a:r>
          </a:p>
          <a:p>
            <a:r>
              <a:rPr lang="ru-RU" sz="2000">
                <a:solidFill>
                  <a:srgbClr val="FFFFFF"/>
                </a:solidFill>
              </a:rPr>
              <a:t>Разработка оптимизирующих компиляторов</a:t>
            </a:r>
          </a:p>
          <a:p>
            <a:r>
              <a:rPr lang="ru-RU" sz="2000">
                <a:solidFill>
                  <a:srgbClr val="FFFFFF"/>
                </a:solidFill>
              </a:rPr>
              <a:t>Проектирование цифровых микропроцессоров</a:t>
            </a:r>
          </a:p>
          <a:p>
            <a:r>
              <a:rPr lang="ru-RU" sz="2000">
                <a:solidFill>
                  <a:srgbClr val="FFFFFF"/>
                </a:solidFill>
              </a:rPr>
              <a:t>Энергоэффективные вычисления</a:t>
            </a:r>
          </a:p>
          <a:p>
            <a:r>
              <a:rPr lang="ru-RU" sz="2000">
                <a:solidFill>
                  <a:srgbClr val="FFFFFF"/>
                </a:solidFill>
              </a:rPr>
              <a:t>Суперкомпьютерное моделирование</a:t>
            </a:r>
          </a:p>
          <a:p>
            <a:endParaRPr lang="ru-RU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Стили Фолти">
            <a:extLst>
              <a:ext uri="{FF2B5EF4-FFF2-40B4-BE49-F238E27FC236}">
                <a16:creationId xmlns:a16="http://schemas.microsoft.com/office/drawing/2014/main" id="{BE9D03D1-72DC-DF6B-1642-9D53A2EE25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754E5-BE00-6C24-9DB8-6C652C7B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Телекоммуникации и космические системы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8F08E-AD57-AEFE-EE32-1E605219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Спутниковая связь (C-, Ku-, Ka-диапазоны)</a:t>
            </a:r>
          </a:p>
          <a:p>
            <a:r>
              <a:rPr lang="ru-RU">
                <a:solidFill>
                  <a:srgbClr val="FFFFFF"/>
                </a:solidFill>
              </a:rPr>
              <a:t>Сигнальная и траекторная обработка</a:t>
            </a:r>
          </a:p>
          <a:p>
            <a:r>
              <a:rPr lang="ru-RU">
                <a:solidFill>
                  <a:srgbClr val="FFFFFF"/>
                </a:solidFill>
              </a:rPr>
              <a:t>Радиолокация и радиоизображения космических объектов</a:t>
            </a:r>
          </a:p>
          <a:p>
            <a:r>
              <a:rPr lang="ru-RU">
                <a:solidFill>
                  <a:srgbClr val="FFFFFF"/>
                </a:solidFill>
              </a:rPr>
              <a:t>Мониторинг околоземного космического пространства</a:t>
            </a:r>
          </a:p>
          <a:p>
            <a:endParaRPr lang="ru-R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292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8BB85A-1EDB-3B66-AE0B-60AE6E6C78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1042" r="12810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AA08A-6C5B-6858-2067-1B0DB1F8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7"/>
            <a:ext cx="3633746" cy="1588422"/>
          </a:xfrm>
        </p:spPr>
        <p:txBody>
          <a:bodyPr anchor="b">
            <a:normAutofit/>
          </a:bodyPr>
          <a:lstStyle/>
          <a:p>
            <a:r>
              <a:rPr lang="ru-RU" sz="3300" b="1"/>
              <a:t> Робототехника и киберфизические системы</a:t>
            </a:r>
            <a:endParaRPr lang="ru-RU" sz="33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840033-BCDD-F9B6-3DF8-43B62C72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9" y="2722729"/>
            <a:ext cx="3633747" cy="2700062"/>
          </a:xfrm>
        </p:spPr>
        <p:txBody>
          <a:bodyPr>
            <a:normAutofit/>
          </a:bodyPr>
          <a:lstStyle/>
          <a:p>
            <a:r>
              <a:rPr lang="ru-RU" sz="2000"/>
              <a:t>Системы технического зрения реального времени</a:t>
            </a:r>
          </a:p>
          <a:p>
            <a:r>
              <a:rPr lang="ru-RU" sz="2000"/>
              <a:t>Беспилотные летательные аппараты</a:t>
            </a:r>
          </a:p>
          <a:p>
            <a:r>
              <a:rPr lang="ru-RU" sz="2000"/>
              <a:t>Управление группами роботов</a:t>
            </a:r>
          </a:p>
          <a:p>
            <a:r>
              <a:rPr lang="ru-RU" sz="2000"/>
              <a:t>Интерфейсы "человек-машина"</a:t>
            </a: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43000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Изображение выглядит как размытие, Красочность, Пурпурный цвет, Сире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B4AAC5-A0EB-97E5-FE97-B0E69532E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201" y="0"/>
            <a:ext cx="1239015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86635-EE87-D37A-6B35-9FB3D70A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ru-RU" b="1"/>
              <a:t>Заключение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6697E0-6C7F-FEB5-D2D2-7B36BC689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ru-RU" sz="2000" dirty="0"/>
              <a:t>МФТИ — лидер фундаментальных исследований в IT</a:t>
            </a:r>
          </a:p>
          <a:p>
            <a:r>
              <a:rPr lang="ru-RU" sz="2000" dirty="0"/>
              <a:t>Более 100 лабораторий по компьютерным наукам</a:t>
            </a:r>
          </a:p>
          <a:p>
            <a:r>
              <a:rPr lang="ru-RU" sz="2000" dirty="0"/>
              <a:t>Междисциплинарный подход (NBIC-конвергенция) </a:t>
            </a:r>
          </a:p>
          <a:p>
            <a:r>
              <a:rPr lang="ru-RU" sz="2000" dirty="0"/>
              <a:t>Подготовка кадров для технологического суверенитета России</a:t>
            </a:r>
          </a:p>
          <a:p>
            <a:endParaRPr lang="ru-RU" sz="20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2F86B4B-33C5-12D5-3779-74C82597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2" r="20980" b="-1"/>
          <a:stretch>
            <a:fillRect/>
          </a:stretch>
        </p:blipFill>
        <p:spPr bwMode="auto">
          <a:xfrm>
            <a:off x="6294493" y="0"/>
            <a:ext cx="589446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36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web-imag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web-imag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web-images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165</Words>
  <Application>Microsoft Office PowerPoint</Application>
  <PresentationFormat>Широкоэкранный</PresentationFormat>
  <Paragraphs>36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Meiryo</vt:lpstr>
      <vt:lpstr>Aptos</vt:lpstr>
      <vt:lpstr>Aptos Display</vt:lpstr>
      <vt:lpstr>Arial</vt:lpstr>
      <vt:lpstr>Calibri</vt:lpstr>
      <vt:lpstr>Тема Office</vt:lpstr>
      <vt:lpstr>Московский физико-технический институт </vt:lpstr>
      <vt:lpstr>МФТИ как национальный исследовательский университет</vt:lpstr>
      <vt:lpstr>Искусственный интеллект и машинное обучение</vt:lpstr>
      <vt:lpstr>Высокопроизводительные вычисления и киберсистемы</vt:lpstr>
      <vt:lpstr>Телекоммуникации и космические системы</vt:lpstr>
      <vt:lpstr> Робототехника и киберфизические системы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1</cp:revision>
  <dcterms:created xsi:type="dcterms:W3CDTF">2026-02-16T20:15:52Z</dcterms:created>
  <dcterms:modified xsi:type="dcterms:W3CDTF">2026-02-16T20:46:45Z</dcterms:modified>
</cp:coreProperties>
</file>
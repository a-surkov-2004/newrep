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3" r:id="rId8"/>
    <p:sldId id="261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71869D-03FA-C120-455E-F0147AEB2F5A}" v="1" dt="2026-02-24T14:06:21.6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2" y="2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DC4A01-D461-4B52-B04A-6A48615628D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E958202-8906-4CD7-8D65-0268E88561CB}">
      <dgm:prSet/>
      <dgm:spPr/>
      <dgm:t>
        <a:bodyPr/>
        <a:lstStyle/>
        <a:p>
          <a:r>
            <a:rPr lang="ru-RU"/>
            <a:t>Торговля между </a:t>
          </a:r>
          <a:r>
            <a:rPr lang="ru-RU" b="1"/>
            <a:t>памятью и временем</a:t>
          </a:r>
          <a:r>
            <a:rPr lang="ru-RU"/>
            <a:t> вычислений</a:t>
          </a:r>
          <a:endParaRPr lang="en-US"/>
        </a:p>
      </dgm:t>
    </dgm:pt>
    <dgm:pt modelId="{EE990904-080A-4C76-81D7-5332857FB3D0}" type="parTrans" cxnId="{463A1784-D140-426A-A9C5-BD4842029347}">
      <dgm:prSet/>
      <dgm:spPr/>
      <dgm:t>
        <a:bodyPr/>
        <a:lstStyle/>
        <a:p>
          <a:endParaRPr lang="en-US"/>
        </a:p>
      </dgm:t>
    </dgm:pt>
    <dgm:pt modelId="{FBA1C4BC-DEC3-4EEC-B786-FDDF1B19528E}" type="sibTrans" cxnId="{463A1784-D140-426A-A9C5-BD4842029347}">
      <dgm:prSet/>
      <dgm:spPr/>
      <dgm:t>
        <a:bodyPr/>
        <a:lstStyle/>
        <a:p>
          <a:endParaRPr lang="en-US"/>
        </a:p>
      </dgm:t>
    </dgm:pt>
    <dgm:pt modelId="{E67AD349-BD5C-4D52-8EA0-2B96ECA2E4E1}">
      <dgm:prSet/>
      <dgm:spPr/>
      <dgm:t>
        <a:bodyPr/>
        <a:lstStyle/>
        <a:p>
          <a:r>
            <a:rPr lang="ru-RU" b="1"/>
            <a:t>Последовательные и параллельные</a:t>
          </a:r>
          <a:r>
            <a:rPr lang="ru-RU"/>
            <a:t> вычисления</a:t>
          </a:r>
          <a:endParaRPr lang="en-US"/>
        </a:p>
      </dgm:t>
    </dgm:pt>
    <dgm:pt modelId="{3255DDB1-78D6-4F79-80AF-5EAF6DE37611}" type="parTrans" cxnId="{E4695B34-9A17-4898-82C2-8E080A2178D0}">
      <dgm:prSet/>
      <dgm:spPr/>
      <dgm:t>
        <a:bodyPr/>
        <a:lstStyle/>
        <a:p>
          <a:endParaRPr lang="en-US"/>
        </a:p>
      </dgm:t>
    </dgm:pt>
    <dgm:pt modelId="{85372C45-E675-444F-ABAA-1D3872158B23}" type="sibTrans" cxnId="{E4695B34-9A17-4898-82C2-8E080A2178D0}">
      <dgm:prSet/>
      <dgm:spPr/>
      <dgm:t>
        <a:bodyPr/>
        <a:lstStyle/>
        <a:p>
          <a:endParaRPr lang="en-US"/>
        </a:p>
      </dgm:t>
    </dgm:pt>
    <dgm:pt modelId="{68A3571A-9253-4227-B961-635CED19A4A5}">
      <dgm:prSet/>
      <dgm:spPr/>
      <dgm:t>
        <a:bodyPr/>
        <a:lstStyle/>
        <a:p>
          <a:r>
            <a:rPr lang="ru-RU"/>
            <a:t>Вычисление определителя матриц</a:t>
          </a:r>
          <a:endParaRPr lang="en-US"/>
        </a:p>
      </dgm:t>
    </dgm:pt>
    <dgm:pt modelId="{9D5BB8DB-2C2B-4137-8332-17F6D6D9134F}" type="parTrans" cxnId="{2EC4B94E-AE76-4320-8252-F73A86AA9265}">
      <dgm:prSet/>
      <dgm:spPr/>
      <dgm:t>
        <a:bodyPr/>
        <a:lstStyle/>
        <a:p>
          <a:endParaRPr lang="en-US"/>
        </a:p>
      </dgm:t>
    </dgm:pt>
    <dgm:pt modelId="{67A9AC75-F7D3-42CD-ADFD-6F3FA7C4CD9B}" type="sibTrans" cxnId="{2EC4B94E-AE76-4320-8252-F73A86AA9265}">
      <dgm:prSet/>
      <dgm:spPr/>
      <dgm:t>
        <a:bodyPr/>
        <a:lstStyle/>
        <a:p>
          <a:endParaRPr lang="en-US"/>
        </a:p>
      </dgm:t>
    </dgm:pt>
    <dgm:pt modelId="{09BBDB41-D752-480E-9425-789FD4D59FDE}">
      <dgm:prSet/>
      <dgm:spPr/>
      <dgm:t>
        <a:bodyPr/>
        <a:lstStyle/>
        <a:p>
          <a:r>
            <a:rPr lang="ru-RU"/>
            <a:t>Параллельные вычисления</a:t>
          </a:r>
          <a:endParaRPr lang="en-US"/>
        </a:p>
      </dgm:t>
    </dgm:pt>
    <dgm:pt modelId="{568B2085-BC2D-4F4F-845D-143F819DEA13}" type="parTrans" cxnId="{030C7806-8C90-4A1D-8FA0-708A04434CD2}">
      <dgm:prSet/>
      <dgm:spPr/>
      <dgm:t>
        <a:bodyPr/>
        <a:lstStyle/>
        <a:p>
          <a:endParaRPr lang="en-US"/>
        </a:p>
      </dgm:t>
    </dgm:pt>
    <dgm:pt modelId="{951AB5AE-F277-4509-9FD3-B069E616D84D}" type="sibTrans" cxnId="{030C7806-8C90-4A1D-8FA0-708A04434CD2}">
      <dgm:prSet/>
      <dgm:spPr/>
      <dgm:t>
        <a:bodyPr/>
        <a:lstStyle/>
        <a:p>
          <a:endParaRPr lang="en-US"/>
        </a:p>
      </dgm:t>
    </dgm:pt>
    <dgm:pt modelId="{7FF98C38-A0E6-49B2-A7D9-FCD5B93DE252}">
      <dgm:prSet/>
      <dgm:spPr/>
      <dgm:t>
        <a:bodyPr/>
        <a:lstStyle/>
        <a:p>
          <a:r>
            <a:rPr lang="ru-RU"/>
            <a:t>Ошибки интуиции</a:t>
          </a:r>
          <a:endParaRPr lang="en-US"/>
        </a:p>
      </dgm:t>
    </dgm:pt>
    <dgm:pt modelId="{B86C56A9-43D4-4E2B-9457-7126014A83D3}" type="parTrans" cxnId="{F724282C-E749-44D1-9FFC-89A3546EBDE0}">
      <dgm:prSet/>
      <dgm:spPr/>
      <dgm:t>
        <a:bodyPr/>
        <a:lstStyle/>
        <a:p>
          <a:endParaRPr lang="en-US"/>
        </a:p>
      </dgm:t>
    </dgm:pt>
    <dgm:pt modelId="{426098B5-CA11-40A5-8492-9C4D87504D69}" type="sibTrans" cxnId="{F724282C-E749-44D1-9FFC-89A3546EBDE0}">
      <dgm:prSet/>
      <dgm:spPr/>
      <dgm:t>
        <a:bodyPr/>
        <a:lstStyle/>
        <a:p>
          <a:endParaRPr lang="en-US"/>
        </a:p>
      </dgm:t>
    </dgm:pt>
    <dgm:pt modelId="{8BFC4605-B461-4197-8A20-D79FEC102D76}" type="pres">
      <dgm:prSet presAssocID="{6EDC4A01-D461-4B52-B04A-6A48615628D1}" presName="root" presStyleCnt="0">
        <dgm:presLayoutVars>
          <dgm:dir/>
          <dgm:resizeHandles val="exact"/>
        </dgm:presLayoutVars>
      </dgm:prSet>
      <dgm:spPr/>
    </dgm:pt>
    <dgm:pt modelId="{5DC77C5B-3FD1-40BC-89C6-EE71D91F0344}" type="pres">
      <dgm:prSet presAssocID="{3E958202-8906-4CD7-8D65-0268E88561CB}" presName="compNode" presStyleCnt="0"/>
      <dgm:spPr/>
    </dgm:pt>
    <dgm:pt modelId="{96B13F18-3B91-4A1A-B4F9-89575618E842}" type="pres">
      <dgm:prSet presAssocID="{3E958202-8906-4CD7-8D65-0268E88561CB}" presName="bgRect" presStyleLbl="bgShp" presStyleIdx="0" presStyleCnt="5"/>
      <dgm:spPr/>
    </dgm:pt>
    <dgm:pt modelId="{71B3BB23-431B-48D0-A1F1-4ED643AC3385}" type="pres">
      <dgm:prSet presAssocID="{3E958202-8906-4CD7-8D65-0268E88561C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336CBE7B-2350-479B-8124-98DA3443D49F}" type="pres">
      <dgm:prSet presAssocID="{3E958202-8906-4CD7-8D65-0268E88561CB}" presName="spaceRect" presStyleCnt="0"/>
      <dgm:spPr/>
    </dgm:pt>
    <dgm:pt modelId="{0FC886B0-020A-4479-8B06-CF8976FD7E2E}" type="pres">
      <dgm:prSet presAssocID="{3E958202-8906-4CD7-8D65-0268E88561CB}" presName="parTx" presStyleLbl="revTx" presStyleIdx="0" presStyleCnt="5">
        <dgm:presLayoutVars>
          <dgm:chMax val="0"/>
          <dgm:chPref val="0"/>
        </dgm:presLayoutVars>
      </dgm:prSet>
      <dgm:spPr/>
    </dgm:pt>
    <dgm:pt modelId="{C2E467FC-C014-43E6-AB4D-8CB9DBEFF203}" type="pres">
      <dgm:prSet presAssocID="{FBA1C4BC-DEC3-4EEC-B786-FDDF1B19528E}" presName="sibTrans" presStyleCnt="0"/>
      <dgm:spPr/>
    </dgm:pt>
    <dgm:pt modelId="{EAF6DBB5-BA3B-4725-A9FE-BF2524BC8224}" type="pres">
      <dgm:prSet presAssocID="{E67AD349-BD5C-4D52-8EA0-2B96ECA2E4E1}" presName="compNode" presStyleCnt="0"/>
      <dgm:spPr/>
    </dgm:pt>
    <dgm:pt modelId="{F2D55997-B9C2-47A2-9A40-8A756BECBC68}" type="pres">
      <dgm:prSet presAssocID="{E67AD349-BD5C-4D52-8EA0-2B96ECA2E4E1}" presName="bgRect" presStyleLbl="bgShp" presStyleIdx="1" presStyleCnt="5"/>
      <dgm:spPr/>
    </dgm:pt>
    <dgm:pt modelId="{89FB4C72-A7BF-4057-A068-29048E32EF8D}" type="pres">
      <dgm:prSet presAssocID="{E67AD349-BD5C-4D52-8EA0-2B96ECA2E4E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Документ"/>
        </a:ext>
      </dgm:extLst>
    </dgm:pt>
    <dgm:pt modelId="{75D39364-F896-4DF6-A0CB-28D935103F4D}" type="pres">
      <dgm:prSet presAssocID="{E67AD349-BD5C-4D52-8EA0-2B96ECA2E4E1}" presName="spaceRect" presStyleCnt="0"/>
      <dgm:spPr/>
    </dgm:pt>
    <dgm:pt modelId="{85FECA7B-9395-46C4-8AC7-9BE469400033}" type="pres">
      <dgm:prSet presAssocID="{E67AD349-BD5C-4D52-8EA0-2B96ECA2E4E1}" presName="parTx" presStyleLbl="revTx" presStyleIdx="1" presStyleCnt="5">
        <dgm:presLayoutVars>
          <dgm:chMax val="0"/>
          <dgm:chPref val="0"/>
        </dgm:presLayoutVars>
      </dgm:prSet>
      <dgm:spPr/>
    </dgm:pt>
    <dgm:pt modelId="{B6ED34A7-A297-4D64-995D-B785CDA5AD30}" type="pres">
      <dgm:prSet presAssocID="{85372C45-E675-444F-ABAA-1D3872158B23}" presName="sibTrans" presStyleCnt="0"/>
      <dgm:spPr/>
    </dgm:pt>
    <dgm:pt modelId="{80EEE096-376A-446F-BBEA-790DBB3E7EDB}" type="pres">
      <dgm:prSet presAssocID="{68A3571A-9253-4227-B961-635CED19A4A5}" presName="compNode" presStyleCnt="0"/>
      <dgm:spPr/>
    </dgm:pt>
    <dgm:pt modelId="{FFA2FE41-FE85-4CB2-B6DF-CC51E7DA2A0F}" type="pres">
      <dgm:prSet presAssocID="{68A3571A-9253-4227-B961-635CED19A4A5}" presName="bgRect" presStyleLbl="bgShp" presStyleIdx="2" presStyleCnt="5"/>
      <dgm:spPr/>
    </dgm:pt>
    <dgm:pt modelId="{DD2F1CE4-906B-4FF7-944B-980E01E47C5A}" type="pres">
      <dgm:prSet presAssocID="{68A3571A-9253-4227-B961-635CED19A4A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Флажок"/>
        </a:ext>
      </dgm:extLst>
    </dgm:pt>
    <dgm:pt modelId="{416A2595-1619-4411-8B4C-8AD74137E555}" type="pres">
      <dgm:prSet presAssocID="{68A3571A-9253-4227-B961-635CED19A4A5}" presName="spaceRect" presStyleCnt="0"/>
      <dgm:spPr/>
    </dgm:pt>
    <dgm:pt modelId="{BDCF8C0B-6AF8-4854-86C3-8862E65FB4F1}" type="pres">
      <dgm:prSet presAssocID="{68A3571A-9253-4227-B961-635CED19A4A5}" presName="parTx" presStyleLbl="revTx" presStyleIdx="2" presStyleCnt="5">
        <dgm:presLayoutVars>
          <dgm:chMax val="0"/>
          <dgm:chPref val="0"/>
        </dgm:presLayoutVars>
      </dgm:prSet>
      <dgm:spPr/>
    </dgm:pt>
    <dgm:pt modelId="{FFDE545C-DC78-4855-B1D6-BC2D1BE63267}" type="pres">
      <dgm:prSet presAssocID="{67A9AC75-F7D3-42CD-ADFD-6F3FA7C4CD9B}" presName="sibTrans" presStyleCnt="0"/>
      <dgm:spPr/>
    </dgm:pt>
    <dgm:pt modelId="{3CD476AA-3B04-435B-B75F-36E7BD5C34F1}" type="pres">
      <dgm:prSet presAssocID="{09BBDB41-D752-480E-9425-789FD4D59FDE}" presName="compNode" presStyleCnt="0"/>
      <dgm:spPr/>
    </dgm:pt>
    <dgm:pt modelId="{B6D8909F-D403-451B-A074-C2231D90C113}" type="pres">
      <dgm:prSet presAssocID="{09BBDB41-D752-480E-9425-789FD4D59FDE}" presName="bgRect" presStyleLbl="bgShp" presStyleIdx="3" presStyleCnt="5"/>
      <dgm:spPr/>
    </dgm:pt>
    <dgm:pt modelId="{E1DC0716-07E1-45B6-BB60-3B8A42DCFE87}" type="pres">
      <dgm:prSet presAssocID="{09BBDB41-D752-480E-9425-789FD4D59FD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Компьютер"/>
        </a:ext>
      </dgm:extLst>
    </dgm:pt>
    <dgm:pt modelId="{654AA5F8-2AD8-407F-810D-254549A83417}" type="pres">
      <dgm:prSet presAssocID="{09BBDB41-D752-480E-9425-789FD4D59FDE}" presName="spaceRect" presStyleCnt="0"/>
      <dgm:spPr/>
    </dgm:pt>
    <dgm:pt modelId="{752B306F-7CBD-45D8-927C-CB701C29C4AD}" type="pres">
      <dgm:prSet presAssocID="{09BBDB41-D752-480E-9425-789FD4D59FDE}" presName="parTx" presStyleLbl="revTx" presStyleIdx="3" presStyleCnt="5">
        <dgm:presLayoutVars>
          <dgm:chMax val="0"/>
          <dgm:chPref val="0"/>
        </dgm:presLayoutVars>
      </dgm:prSet>
      <dgm:spPr/>
    </dgm:pt>
    <dgm:pt modelId="{6DE1517F-5D8D-47CB-81EB-EBE009153ADA}" type="pres">
      <dgm:prSet presAssocID="{951AB5AE-F277-4509-9FD3-B069E616D84D}" presName="sibTrans" presStyleCnt="0"/>
      <dgm:spPr/>
    </dgm:pt>
    <dgm:pt modelId="{3CC9CA1E-78C5-4828-BA85-CD9D62FD487F}" type="pres">
      <dgm:prSet presAssocID="{7FF98C38-A0E6-49B2-A7D9-FCD5B93DE252}" presName="compNode" presStyleCnt="0"/>
      <dgm:spPr/>
    </dgm:pt>
    <dgm:pt modelId="{6B4D5D4F-9B0D-4FD4-9484-3D9BA1303D1F}" type="pres">
      <dgm:prSet presAssocID="{7FF98C38-A0E6-49B2-A7D9-FCD5B93DE252}" presName="bgRect" presStyleLbl="bgShp" presStyleIdx="4" presStyleCnt="5"/>
      <dgm:spPr/>
    </dgm:pt>
    <dgm:pt modelId="{40C6E5D4-E666-45C0-B5F2-A03AE17A5F17}" type="pres">
      <dgm:prSet presAssocID="{7FF98C38-A0E6-49B2-A7D9-FCD5B93DE25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Жук"/>
        </a:ext>
      </dgm:extLst>
    </dgm:pt>
    <dgm:pt modelId="{7B511503-C17F-4BD4-8388-00A8114589D7}" type="pres">
      <dgm:prSet presAssocID="{7FF98C38-A0E6-49B2-A7D9-FCD5B93DE252}" presName="spaceRect" presStyleCnt="0"/>
      <dgm:spPr/>
    </dgm:pt>
    <dgm:pt modelId="{25D789B8-CFA3-4C69-8990-B43EC151BC23}" type="pres">
      <dgm:prSet presAssocID="{7FF98C38-A0E6-49B2-A7D9-FCD5B93DE25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4654103-275A-492A-A023-1288B6031AD5}" type="presOf" srcId="{E67AD349-BD5C-4D52-8EA0-2B96ECA2E4E1}" destId="{85FECA7B-9395-46C4-8AC7-9BE469400033}" srcOrd="0" destOrd="0" presId="urn:microsoft.com/office/officeart/2018/2/layout/IconVerticalSolidList"/>
    <dgm:cxn modelId="{030C7806-8C90-4A1D-8FA0-708A04434CD2}" srcId="{6EDC4A01-D461-4B52-B04A-6A48615628D1}" destId="{09BBDB41-D752-480E-9425-789FD4D59FDE}" srcOrd="3" destOrd="0" parTransId="{568B2085-BC2D-4F4F-845D-143F819DEA13}" sibTransId="{951AB5AE-F277-4509-9FD3-B069E616D84D}"/>
    <dgm:cxn modelId="{D711D328-DBE3-4AED-B519-FC9A2AAC377D}" type="presOf" srcId="{09BBDB41-D752-480E-9425-789FD4D59FDE}" destId="{752B306F-7CBD-45D8-927C-CB701C29C4AD}" srcOrd="0" destOrd="0" presId="urn:microsoft.com/office/officeart/2018/2/layout/IconVerticalSolidList"/>
    <dgm:cxn modelId="{F724282C-E749-44D1-9FFC-89A3546EBDE0}" srcId="{6EDC4A01-D461-4B52-B04A-6A48615628D1}" destId="{7FF98C38-A0E6-49B2-A7D9-FCD5B93DE252}" srcOrd="4" destOrd="0" parTransId="{B86C56A9-43D4-4E2B-9457-7126014A83D3}" sibTransId="{426098B5-CA11-40A5-8492-9C4D87504D69}"/>
    <dgm:cxn modelId="{4FFAB62E-C06B-45A5-BEE4-7098C71E69B7}" type="presOf" srcId="{6EDC4A01-D461-4B52-B04A-6A48615628D1}" destId="{8BFC4605-B461-4197-8A20-D79FEC102D76}" srcOrd="0" destOrd="0" presId="urn:microsoft.com/office/officeart/2018/2/layout/IconVerticalSolidList"/>
    <dgm:cxn modelId="{E4695B34-9A17-4898-82C2-8E080A2178D0}" srcId="{6EDC4A01-D461-4B52-B04A-6A48615628D1}" destId="{E67AD349-BD5C-4D52-8EA0-2B96ECA2E4E1}" srcOrd="1" destOrd="0" parTransId="{3255DDB1-78D6-4F79-80AF-5EAF6DE37611}" sibTransId="{85372C45-E675-444F-ABAA-1D3872158B23}"/>
    <dgm:cxn modelId="{2EC4B94E-AE76-4320-8252-F73A86AA9265}" srcId="{6EDC4A01-D461-4B52-B04A-6A48615628D1}" destId="{68A3571A-9253-4227-B961-635CED19A4A5}" srcOrd="2" destOrd="0" parTransId="{9D5BB8DB-2C2B-4137-8332-17F6D6D9134F}" sibTransId="{67A9AC75-F7D3-42CD-ADFD-6F3FA7C4CD9B}"/>
    <dgm:cxn modelId="{032CEA74-EDD0-427A-B156-90403D68377E}" type="presOf" srcId="{3E958202-8906-4CD7-8D65-0268E88561CB}" destId="{0FC886B0-020A-4479-8B06-CF8976FD7E2E}" srcOrd="0" destOrd="0" presId="urn:microsoft.com/office/officeart/2018/2/layout/IconVerticalSolidList"/>
    <dgm:cxn modelId="{463A1784-D140-426A-A9C5-BD4842029347}" srcId="{6EDC4A01-D461-4B52-B04A-6A48615628D1}" destId="{3E958202-8906-4CD7-8D65-0268E88561CB}" srcOrd="0" destOrd="0" parTransId="{EE990904-080A-4C76-81D7-5332857FB3D0}" sibTransId="{FBA1C4BC-DEC3-4EEC-B786-FDDF1B19528E}"/>
    <dgm:cxn modelId="{53BD33C4-F0A0-4EDC-A5EF-314BA6E43DA5}" type="presOf" srcId="{7FF98C38-A0E6-49B2-A7D9-FCD5B93DE252}" destId="{25D789B8-CFA3-4C69-8990-B43EC151BC23}" srcOrd="0" destOrd="0" presId="urn:microsoft.com/office/officeart/2018/2/layout/IconVerticalSolidList"/>
    <dgm:cxn modelId="{634E40CB-2199-441C-BF5B-110940496B0B}" type="presOf" srcId="{68A3571A-9253-4227-B961-635CED19A4A5}" destId="{BDCF8C0B-6AF8-4854-86C3-8862E65FB4F1}" srcOrd="0" destOrd="0" presId="urn:microsoft.com/office/officeart/2018/2/layout/IconVerticalSolidList"/>
    <dgm:cxn modelId="{AED281C4-DA7D-4120-B7BA-AE63D04BFD67}" type="presParOf" srcId="{8BFC4605-B461-4197-8A20-D79FEC102D76}" destId="{5DC77C5B-3FD1-40BC-89C6-EE71D91F0344}" srcOrd="0" destOrd="0" presId="urn:microsoft.com/office/officeart/2018/2/layout/IconVerticalSolidList"/>
    <dgm:cxn modelId="{1C3B2DCC-52EE-4AB7-9C85-012B648EAAC6}" type="presParOf" srcId="{5DC77C5B-3FD1-40BC-89C6-EE71D91F0344}" destId="{96B13F18-3B91-4A1A-B4F9-89575618E842}" srcOrd="0" destOrd="0" presId="urn:microsoft.com/office/officeart/2018/2/layout/IconVerticalSolidList"/>
    <dgm:cxn modelId="{3C1B0543-C874-4C58-A096-35A8AE2DFD61}" type="presParOf" srcId="{5DC77C5B-3FD1-40BC-89C6-EE71D91F0344}" destId="{71B3BB23-431B-48D0-A1F1-4ED643AC3385}" srcOrd="1" destOrd="0" presId="urn:microsoft.com/office/officeart/2018/2/layout/IconVerticalSolidList"/>
    <dgm:cxn modelId="{C626723C-66FC-4DC5-942A-4798327499AE}" type="presParOf" srcId="{5DC77C5B-3FD1-40BC-89C6-EE71D91F0344}" destId="{336CBE7B-2350-479B-8124-98DA3443D49F}" srcOrd="2" destOrd="0" presId="urn:microsoft.com/office/officeart/2018/2/layout/IconVerticalSolidList"/>
    <dgm:cxn modelId="{1685014E-BB25-4DE1-88CE-0C6F3D3D15E4}" type="presParOf" srcId="{5DC77C5B-3FD1-40BC-89C6-EE71D91F0344}" destId="{0FC886B0-020A-4479-8B06-CF8976FD7E2E}" srcOrd="3" destOrd="0" presId="urn:microsoft.com/office/officeart/2018/2/layout/IconVerticalSolidList"/>
    <dgm:cxn modelId="{9BC48D85-147F-4646-B97D-9497FC3B53EA}" type="presParOf" srcId="{8BFC4605-B461-4197-8A20-D79FEC102D76}" destId="{C2E467FC-C014-43E6-AB4D-8CB9DBEFF203}" srcOrd="1" destOrd="0" presId="urn:microsoft.com/office/officeart/2018/2/layout/IconVerticalSolidList"/>
    <dgm:cxn modelId="{41843C15-18CF-4733-8F13-FC155A10D166}" type="presParOf" srcId="{8BFC4605-B461-4197-8A20-D79FEC102D76}" destId="{EAF6DBB5-BA3B-4725-A9FE-BF2524BC8224}" srcOrd="2" destOrd="0" presId="urn:microsoft.com/office/officeart/2018/2/layout/IconVerticalSolidList"/>
    <dgm:cxn modelId="{AABA1245-FC29-4CEB-A5C8-9E315B2AC142}" type="presParOf" srcId="{EAF6DBB5-BA3B-4725-A9FE-BF2524BC8224}" destId="{F2D55997-B9C2-47A2-9A40-8A756BECBC68}" srcOrd="0" destOrd="0" presId="urn:microsoft.com/office/officeart/2018/2/layout/IconVerticalSolidList"/>
    <dgm:cxn modelId="{68368A03-EAD4-4C3E-98CD-C27AAE49EEAD}" type="presParOf" srcId="{EAF6DBB5-BA3B-4725-A9FE-BF2524BC8224}" destId="{89FB4C72-A7BF-4057-A068-29048E32EF8D}" srcOrd="1" destOrd="0" presId="urn:microsoft.com/office/officeart/2018/2/layout/IconVerticalSolidList"/>
    <dgm:cxn modelId="{004774E8-EB09-4043-9357-188004CFF666}" type="presParOf" srcId="{EAF6DBB5-BA3B-4725-A9FE-BF2524BC8224}" destId="{75D39364-F896-4DF6-A0CB-28D935103F4D}" srcOrd="2" destOrd="0" presId="urn:microsoft.com/office/officeart/2018/2/layout/IconVerticalSolidList"/>
    <dgm:cxn modelId="{74264C7C-AC2F-4675-B45C-6398DA8645CF}" type="presParOf" srcId="{EAF6DBB5-BA3B-4725-A9FE-BF2524BC8224}" destId="{85FECA7B-9395-46C4-8AC7-9BE469400033}" srcOrd="3" destOrd="0" presId="urn:microsoft.com/office/officeart/2018/2/layout/IconVerticalSolidList"/>
    <dgm:cxn modelId="{A293EFAB-BD0D-4C05-A06E-1873E241C30F}" type="presParOf" srcId="{8BFC4605-B461-4197-8A20-D79FEC102D76}" destId="{B6ED34A7-A297-4D64-995D-B785CDA5AD30}" srcOrd="3" destOrd="0" presId="urn:microsoft.com/office/officeart/2018/2/layout/IconVerticalSolidList"/>
    <dgm:cxn modelId="{978451AD-AC2A-4A11-9AE6-B924E9E0815D}" type="presParOf" srcId="{8BFC4605-B461-4197-8A20-D79FEC102D76}" destId="{80EEE096-376A-446F-BBEA-790DBB3E7EDB}" srcOrd="4" destOrd="0" presId="urn:microsoft.com/office/officeart/2018/2/layout/IconVerticalSolidList"/>
    <dgm:cxn modelId="{4DF7AE79-FDA7-4A84-B686-E15CB83694DF}" type="presParOf" srcId="{80EEE096-376A-446F-BBEA-790DBB3E7EDB}" destId="{FFA2FE41-FE85-4CB2-B6DF-CC51E7DA2A0F}" srcOrd="0" destOrd="0" presId="urn:microsoft.com/office/officeart/2018/2/layout/IconVerticalSolidList"/>
    <dgm:cxn modelId="{12CF3E73-44B2-4169-99DF-E1887A1255F8}" type="presParOf" srcId="{80EEE096-376A-446F-BBEA-790DBB3E7EDB}" destId="{DD2F1CE4-906B-4FF7-944B-980E01E47C5A}" srcOrd="1" destOrd="0" presId="urn:microsoft.com/office/officeart/2018/2/layout/IconVerticalSolidList"/>
    <dgm:cxn modelId="{90346EBA-F2E8-4EA1-83FE-8337D5D69D9B}" type="presParOf" srcId="{80EEE096-376A-446F-BBEA-790DBB3E7EDB}" destId="{416A2595-1619-4411-8B4C-8AD74137E555}" srcOrd="2" destOrd="0" presId="urn:microsoft.com/office/officeart/2018/2/layout/IconVerticalSolidList"/>
    <dgm:cxn modelId="{F36243E2-68E0-460C-BB24-A5C994C836E6}" type="presParOf" srcId="{80EEE096-376A-446F-BBEA-790DBB3E7EDB}" destId="{BDCF8C0B-6AF8-4854-86C3-8862E65FB4F1}" srcOrd="3" destOrd="0" presId="urn:microsoft.com/office/officeart/2018/2/layout/IconVerticalSolidList"/>
    <dgm:cxn modelId="{6F782145-9477-4440-99B4-2FFE694DA242}" type="presParOf" srcId="{8BFC4605-B461-4197-8A20-D79FEC102D76}" destId="{FFDE545C-DC78-4855-B1D6-BC2D1BE63267}" srcOrd="5" destOrd="0" presId="urn:microsoft.com/office/officeart/2018/2/layout/IconVerticalSolidList"/>
    <dgm:cxn modelId="{C378F271-8A23-474F-9B66-F7DCDCC295ED}" type="presParOf" srcId="{8BFC4605-B461-4197-8A20-D79FEC102D76}" destId="{3CD476AA-3B04-435B-B75F-36E7BD5C34F1}" srcOrd="6" destOrd="0" presId="urn:microsoft.com/office/officeart/2018/2/layout/IconVerticalSolidList"/>
    <dgm:cxn modelId="{DB7E5CD0-CDA2-446C-AE46-2A5622448566}" type="presParOf" srcId="{3CD476AA-3B04-435B-B75F-36E7BD5C34F1}" destId="{B6D8909F-D403-451B-A074-C2231D90C113}" srcOrd="0" destOrd="0" presId="urn:microsoft.com/office/officeart/2018/2/layout/IconVerticalSolidList"/>
    <dgm:cxn modelId="{F3F585BA-DFF8-4F55-8EEC-CC5495CB89D8}" type="presParOf" srcId="{3CD476AA-3B04-435B-B75F-36E7BD5C34F1}" destId="{E1DC0716-07E1-45B6-BB60-3B8A42DCFE87}" srcOrd="1" destOrd="0" presId="urn:microsoft.com/office/officeart/2018/2/layout/IconVerticalSolidList"/>
    <dgm:cxn modelId="{FAFF870E-5364-49C7-8988-AE64881AF2FE}" type="presParOf" srcId="{3CD476AA-3B04-435B-B75F-36E7BD5C34F1}" destId="{654AA5F8-2AD8-407F-810D-254549A83417}" srcOrd="2" destOrd="0" presId="urn:microsoft.com/office/officeart/2018/2/layout/IconVerticalSolidList"/>
    <dgm:cxn modelId="{54F90090-BDF6-4051-998E-F989D41DF7C9}" type="presParOf" srcId="{3CD476AA-3B04-435B-B75F-36E7BD5C34F1}" destId="{752B306F-7CBD-45D8-927C-CB701C29C4AD}" srcOrd="3" destOrd="0" presId="urn:microsoft.com/office/officeart/2018/2/layout/IconVerticalSolidList"/>
    <dgm:cxn modelId="{3046B522-75DD-4F29-B420-15CCB325B2C9}" type="presParOf" srcId="{8BFC4605-B461-4197-8A20-D79FEC102D76}" destId="{6DE1517F-5D8D-47CB-81EB-EBE009153ADA}" srcOrd="7" destOrd="0" presId="urn:microsoft.com/office/officeart/2018/2/layout/IconVerticalSolidList"/>
    <dgm:cxn modelId="{6FCC05A8-738F-4B24-8F3E-EE161EE473E9}" type="presParOf" srcId="{8BFC4605-B461-4197-8A20-D79FEC102D76}" destId="{3CC9CA1E-78C5-4828-BA85-CD9D62FD487F}" srcOrd="8" destOrd="0" presId="urn:microsoft.com/office/officeart/2018/2/layout/IconVerticalSolidList"/>
    <dgm:cxn modelId="{53E4C7BC-9949-4E8E-A53E-5F281DD2C256}" type="presParOf" srcId="{3CC9CA1E-78C5-4828-BA85-CD9D62FD487F}" destId="{6B4D5D4F-9B0D-4FD4-9484-3D9BA1303D1F}" srcOrd="0" destOrd="0" presId="urn:microsoft.com/office/officeart/2018/2/layout/IconVerticalSolidList"/>
    <dgm:cxn modelId="{5C977840-6414-4235-9326-9F03965B8FAB}" type="presParOf" srcId="{3CC9CA1E-78C5-4828-BA85-CD9D62FD487F}" destId="{40C6E5D4-E666-45C0-B5F2-A03AE17A5F17}" srcOrd="1" destOrd="0" presId="urn:microsoft.com/office/officeart/2018/2/layout/IconVerticalSolidList"/>
    <dgm:cxn modelId="{8D6E601A-F561-4B5A-8A30-57ABC2FF60A8}" type="presParOf" srcId="{3CC9CA1E-78C5-4828-BA85-CD9D62FD487F}" destId="{7B511503-C17F-4BD4-8388-00A8114589D7}" srcOrd="2" destOrd="0" presId="urn:microsoft.com/office/officeart/2018/2/layout/IconVerticalSolidList"/>
    <dgm:cxn modelId="{2A9628CB-E4DB-4F4D-9641-85D6F5BADFC3}" type="presParOf" srcId="{3CC9CA1E-78C5-4828-BA85-CD9D62FD487F}" destId="{25D789B8-CFA3-4C69-8990-B43EC151BC2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B13F18-3B91-4A1A-B4F9-89575618E842}">
      <dsp:nvSpPr>
        <dsp:cNvPr id="0" name=""/>
        <dsp:cNvSpPr/>
      </dsp:nvSpPr>
      <dsp:spPr>
        <a:xfrm>
          <a:off x="0" y="3567"/>
          <a:ext cx="6237359" cy="7598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B3BB23-431B-48D0-A1F1-4ED643AC3385}">
      <dsp:nvSpPr>
        <dsp:cNvPr id="0" name=""/>
        <dsp:cNvSpPr/>
      </dsp:nvSpPr>
      <dsp:spPr>
        <a:xfrm>
          <a:off x="229857" y="174535"/>
          <a:ext cx="417922" cy="4179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C886B0-020A-4479-8B06-CF8976FD7E2E}">
      <dsp:nvSpPr>
        <dsp:cNvPr id="0" name=""/>
        <dsp:cNvSpPr/>
      </dsp:nvSpPr>
      <dsp:spPr>
        <a:xfrm>
          <a:off x="877637" y="3567"/>
          <a:ext cx="5359721" cy="759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18" tIns="80418" rIns="80418" bIns="804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Торговля между </a:t>
          </a:r>
          <a:r>
            <a:rPr lang="ru-RU" sz="1900" b="1" kern="1200"/>
            <a:t>памятью и временем</a:t>
          </a:r>
          <a:r>
            <a:rPr lang="ru-RU" sz="1900" kern="1200"/>
            <a:t> вычислений</a:t>
          </a:r>
          <a:endParaRPr lang="en-US" sz="1900" kern="1200"/>
        </a:p>
      </dsp:txBody>
      <dsp:txXfrm>
        <a:off x="877637" y="3567"/>
        <a:ext cx="5359721" cy="759859"/>
      </dsp:txXfrm>
    </dsp:sp>
    <dsp:sp modelId="{F2D55997-B9C2-47A2-9A40-8A756BECBC68}">
      <dsp:nvSpPr>
        <dsp:cNvPr id="0" name=""/>
        <dsp:cNvSpPr/>
      </dsp:nvSpPr>
      <dsp:spPr>
        <a:xfrm>
          <a:off x="0" y="953391"/>
          <a:ext cx="6237359" cy="7598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FB4C72-A7BF-4057-A068-29048E32EF8D}">
      <dsp:nvSpPr>
        <dsp:cNvPr id="0" name=""/>
        <dsp:cNvSpPr/>
      </dsp:nvSpPr>
      <dsp:spPr>
        <a:xfrm>
          <a:off x="229857" y="1124359"/>
          <a:ext cx="417922" cy="4179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FECA7B-9395-46C4-8AC7-9BE469400033}">
      <dsp:nvSpPr>
        <dsp:cNvPr id="0" name=""/>
        <dsp:cNvSpPr/>
      </dsp:nvSpPr>
      <dsp:spPr>
        <a:xfrm>
          <a:off x="877637" y="953391"/>
          <a:ext cx="5359721" cy="759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18" tIns="80418" rIns="80418" bIns="804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1" kern="1200"/>
            <a:t>Последовательные и параллельные</a:t>
          </a:r>
          <a:r>
            <a:rPr lang="ru-RU" sz="1900" kern="1200"/>
            <a:t> вычисления</a:t>
          </a:r>
          <a:endParaRPr lang="en-US" sz="1900" kern="1200"/>
        </a:p>
      </dsp:txBody>
      <dsp:txXfrm>
        <a:off x="877637" y="953391"/>
        <a:ext cx="5359721" cy="759859"/>
      </dsp:txXfrm>
    </dsp:sp>
    <dsp:sp modelId="{FFA2FE41-FE85-4CB2-B6DF-CC51E7DA2A0F}">
      <dsp:nvSpPr>
        <dsp:cNvPr id="0" name=""/>
        <dsp:cNvSpPr/>
      </dsp:nvSpPr>
      <dsp:spPr>
        <a:xfrm>
          <a:off x="0" y="1903215"/>
          <a:ext cx="6237359" cy="7598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2F1CE4-906B-4FF7-944B-980E01E47C5A}">
      <dsp:nvSpPr>
        <dsp:cNvPr id="0" name=""/>
        <dsp:cNvSpPr/>
      </dsp:nvSpPr>
      <dsp:spPr>
        <a:xfrm>
          <a:off x="229857" y="2074184"/>
          <a:ext cx="417922" cy="41792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CF8C0B-6AF8-4854-86C3-8862E65FB4F1}">
      <dsp:nvSpPr>
        <dsp:cNvPr id="0" name=""/>
        <dsp:cNvSpPr/>
      </dsp:nvSpPr>
      <dsp:spPr>
        <a:xfrm>
          <a:off x="877637" y="1903215"/>
          <a:ext cx="5359721" cy="759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18" tIns="80418" rIns="80418" bIns="804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Вычисление определителя матриц</a:t>
          </a:r>
          <a:endParaRPr lang="en-US" sz="1900" kern="1200"/>
        </a:p>
      </dsp:txBody>
      <dsp:txXfrm>
        <a:off x="877637" y="1903215"/>
        <a:ext cx="5359721" cy="759859"/>
      </dsp:txXfrm>
    </dsp:sp>
    <dsp:sp modelId="{B6D8909F-D403-451B-A074-C2231D90C113}">
      <dsp:nvSpPr>
        <dsp:cNvPr id="0" name=""/>
        <dsp:cNvSpPr/>
      </dsp:nvSpPr>
      <dsp:spPr>
        <a:xfrm>
          <a:off x="0" y="2853040"/>
          <a:ext cx="6237359" cy="7598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DC0716-07E1-45B6-BB60-3B8A42DCFE87}">
      <dsp:nvSpPr>
        <dsp:cNvPr id="0" name=""/>
        <dsp:cNvSpPr/>
      </dsp:nvSpPr>
      <dsp:spPr>
        <a:xfrm>
          <a:off x="229857" y="3024008"/>
          <a:ext cx="417922" cy="41792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2B306F-7CBD-45D8-927C-CB701C29C4AD}">
      <dsp:nvSpPr>
        <dsp:cNvPr id="0" name=""/>
        <dsp:cNvSpPr/>
      </dsp:nvSpPr>
      <dsp:spPr>
        <a:xfrm>
          <a:off x="877637" y="2853040"/>
          <a:ext cx="5359721" cy="759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18" tIns="80418" rIns="80418" bIns="804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Параллельные вычисления</a:t>
          </a:r>
          <a:endParaRPr lang="en-US" sz="1900" kern="1200"/>
        </a:p>
      </dsp:txBody>
      <dsp:txXfrm>
        <a:off x="877637" y="2853040"/>
        <a:ext cx="5359721" cy="759859"/>
      </dsp:txXfrm>
    </dsp:sp>
    <dsp:sp modelId="{6B4D5D4F-9B0D-4FD4-9484-3D9BA1303D1F}">
      <dsp:nvSpPr>
        <dsp:cNvPr id="0" name=""/>
        <dsp:cNvSpPr/>
      </dsp:nvSpPr>
      <dsp:spPr>
        <a:xfrm>
          <a:off x="0" y="3802864"/>
          <a:ext cx="6237359" cy="7598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C6E5D4-E666-45C0-B5F2-A03AE17A5F17}">
      <dsp:nvSpPr>
        <dsp:cNvPr id="0" name=""/>
        <dsp:cNvSpPr/>
      </dsp:nvSpPr>
      <dsp:spPr>
        <a:xfrm>
          <a:off x="229857" y="3973832"/>
          <a:ext cx="417922" cy="41792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D789B8-CFA3-4C69-8990-B43EC151BC23}">
      <dsp:nvSpPr>
        <dsp:cNvPr id="0" name=""/>
        <dsp:cNvSpPr/>
      </dsp:nvSpPr>
      <dsp:spPr>
        <a:xfrm>
          <a:off x="877637" y="3802864"/>
          <a:ext cx="5359721" cy="759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18" tIns="80418" rIns="80418" bIns="804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Ошибки интуиции</a:t>
          </a:r>
          <a:endParaRPr lang="en-US" sz="1900" kern="1200"/>
        </a:p>
      </dsp:txBody>
      <dsp:txXfrm>
        <a:off x="877637" y="3802864"/>
        <a:ext cx="5359721" cy="7598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135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371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75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850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633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90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33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965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92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499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659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5147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761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0536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762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04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710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799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9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6" name="Freeform: Shape 11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7" name="Freeform: Shape 13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8" name="Freeform: Shape 15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D652BA-88FB-D357-77D7-9783543C3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3468"/>
            <a:ext cx="9144000" cy="3618898"/>
          </a:xfrm>
        </p:spPr>
        <p:txBody>
          <a:bodyPr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ru-RU" sz="6100" dirty="0"/>
              <a:t>Премия Тьюринга</a:t>
            </a:r>
            <a:br>
              <a:rPr lang="ru-RU" sz="6100" dirty="0"/>
            </a:br>
            <a:r>
              <a:rPr lang="ru-RU" sz="6100" dirty="0"/>
              <a:t>Марвин Минский</a:t>
            </a:r>
            <a:br>
              <a:rPr lang="ru-RU" sz="6100" dirty="0"/>
            </a:br>
            <a:r>
              <a:rPr lang="ru-RU" sz="6100" dirty="0"/>
              <a:t>Лауреат 1969 года</a:t>
            </a:r>
            <a:br>
              <a:rPr lang="ru-RU" sz="6100" dirty="0"/>
            </a:br>
            <a:endParaRPr lang="ru-RU" sz="61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9AF5F41-2CCB-CFD6-F271-44406BCBF8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9546" y="4552335"/>
            <a:ext cx="6752908" cy="1091381"/>
          </a:xfrm>
        </p:spPr>
        <p:txBody>
          <a:bodyPr>
            <a:normAutofit/>
          </a:bodyPr>
          <a:lstStyle/>
          <a:p>
            <a:pPr algn="ctr"/>
            <a:r>
              <a:rPr lang="ru-RU" sz="2400"/>
              <a:t>Доклад студента 4-го курса</a:t>
            </a:r>
          </a:p>
          <a:p>
            <a:pPr algn="ctr"/>
            <a:r>
              <a:rPr lang="ru-RU" sz="2400"/>
              <a:t>Суркова Андрея</a:t>
            </a:r>
          </a:p>
        </p:txBody>
      </p:sp>
    </p:spTree>
    <p:extLst>
      <p:ext uri="{BB962C8B-B14F-4D97-AF65-F5344CB8AC3E}">
        <p14:creationId xmlns:p14="http://schemas.microsoft.com/office/powerpoint/2010/main" val="1151418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Изображение выглядит как Человеческое лицо, человек, портрет, одеж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E612DFC-D5B2-5A15-6E24-54EE0C8412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11"/>
          <a:stretch>
            <a:fillRect/>
          </a:stretch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2EC70F-0235-4961-5C93-E32B60F7F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ru-RU" b="1" dirty="0"/>
              <a:t> Кто такой Марвин Минский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32491E-99B2-7145-2037-87D3FBFBD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>
            <a:normAutofit/>
          </a:bodyPr>
          <a:lstStyle/>
          <a:p>
            <a:r>
              <a:rPr lang="ru-RU" sz="2000" b="1"/>
              <a:t>Даты жизни:</a:t>
            </a:r>
            <a:r>
              <a:rPr lang="ru-RU" sz="2000"/>
              <a:t> 9 августа 1927 — 24 января 2016</a:t>
            </a:r>
          </a:p>
          <a:p>
            <a:r>
              <a:rPr lang="ru-RU" sz="2000" b="1"/>
              <a:t>Место рождения:</a:t>
            </a:r>
            <a:r>
              <a:rPr lang="ru-RU" sz="2000"/>
              <a:t> Нью-Йорк, США</a:t>
            </a:r>
          </a:p>
          <a:p>
            <a:r>
              <a:rPr lang="ru-RU" sz="2000" b="1"/>
              <a:t>Образование:</a:t>
            </a:r>
            <a:r>
              <a:rPr lang="ru-RU" sz="2000"/>
              <a:t> Гарвард (математика), Принстон (математика)</a:t>
            </a:r>
          </a:p>
          <a:p>
            <a:r>
              <a:rPr lang="ru-RU" sz="2000" b="1"/>
              <a:t>Место работы:</a:t>
            </a:r>
            <a:r>
              <a:rPr lang="ru-RU" sz="2000"/>
              <a:t> Массачусетский технологический институт (MIT), 1958–2016</a:t>
            </a:r>
          </a:p>
        </p:txBody>
      </p:sp>
    </p:spTree>
    <p:extLst>
      <p:ext uri="{BB962C8B-B14F-4D97-AF65-F5344CB8AC3E}">
        <p14:creationId xmlns:p14="http://schemas.microsoft.com/office/powerpoint/2010/main" val="3342787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F1F223-66B2-38F2-B529-C513ED1EA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1034" y="905933"/>
            <a:ext cx="6481989" cy="965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100" b="1"/>
              <a:t>Основание лаборатории ИИ в MIT</a:t>
            </a:r>
            <a:br>
              <a:rPr lang="ru-RU" sz="3100" b="1"/>
            </a:br>
            <a:endParaRPr lang="ru-RU" sz="310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570392A-8FB2-4A86-806B-F8F81AB35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41" r="24483"/>
          <a:stretch>
            <a:fillRect/>
          </a:stretch>
        </p:blipFill>
        <p:spPr bwMode="auto">
          <a:xfrm>
            <a:off x="1641021" y="1069522"/>
            <a:ext cx="3102428" cy="4563836"/>
          </a:xfrm>
          <a:prstGeom prst="roundRect">
            <a:avLst>
              <a:gd name="adj" fmla="val 4380"/>
            </a:avLst>
          </a:prstGeom>
          <a:noFill/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19" name="Объект 2">
            <a:extLst>
              <a:ext uri="{FF2B5EF4-FFF2-40B4-BE49-F238E27FC236}">
                <a16:creationId xmlns:a16="http://schemas.microsoft.com/office/drawing/2014/main" id="{4E8C930C-44DF-B5EC-1110-F44F5AF80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1035" y="1998133"/>
            <a:ext cx="6481987" cy="37930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000" b="1"/>
              <a:t>1959 год</a:t>
            </a:r>
            <a:r>
              <a:rPr lang="ru-RU" sz="2000"/>
              <a:t> — вместе с Джоном Маккарти основал </a:t>
            </a:r>
            <a:r>
              <a:rPr lang="ru-RU" sz="2000" b="1"/>
              <a:t>Лабораторию искусственного интеллекта MIT</a:t>
            </a:r>
            <a:endParaRPr lang="ru-RU" sz="2000"/>
          </a:p>
          <a:p>
            <a:pPr>
              <a:lnSpc>
                <a:spcPct val="90000"/>
              </a:lnSpc>
            </a:pPr>
            <a:r>
              <a:rPr lang="ru-RU" sz="2000"/>
              <a:t>Первая в мире лаборатория, целиком посвящённая ИИ</a:t>
            </a:r>
          </a:p>
          <a:p>
            <a:pPr>
              <a:lnSpc>
                <a:spcPct val="90000"/>
              </a:lnSpc>
            </a:pPr>
            <a:r>
              <a:rPr lang="ru-RU" sz="2000"/>
              <a:t>Стала местом притяжения лучших умов со всего мира</a:t>
            </a:r>
          </a:p>
          <a:p>
            <a:pPr>
              <a:lnSpc>
                <a:spcPct val="90000"/>
              </a:lnSpc>
            </a:pPr>
            <a:r>
              <a:rPr lang="ru-RU" sz="2000"/>
              <a:t>Здесь работали: Марвин Минский, Джон Маккарти, Сеймур Пейперт, позднее — создатели хакерской культуры</a:t>
            </a:r>
          </a:p>
          <a:p>
            <a:pPr>
              <a:lnSpc>
                <a:spcPct val="90000"/>
              </a:lnSpc>
            </a:pPr>
            <a:r>
              <a:rPr lang="ru-RU" sz="2000"/>
              <a:t>Лаборатория существует до сих пор (ныне MIT CSAIL)</a:t>
            </a:r>
          </a:p>
          <a:p>
            <a:pPr>
              <a:lnSpc>
                <a:spcPct val="90000"/>
              </a:lnSpc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1991776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9" name="Group 3078">
            <a:extLst>
              <a:ext uri="{FF2B5EF4-FFF2-40B4-BE49-F238E27FC236}">
                <a16:creationId xmlns:a16="http://schemas.microsoft.com/office/drawing/2014/main" id="{A2E861A3-F23C-46B8-A38A-4A22E453D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3080" name="Freeform 6">
              <a:extLst>
                <a:ext uri="{FF2B5EF4-FFF2-40B4-BE49-F238E27FC236}">
                  <a16:creationId xmlns:a16="http://schemas.microsoft.com/office/drawing/2014/main" id="{8BC3D220-643B-4160-B5A9-59DF5D21F4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1" name="Freeform 7">
              <a:extLst>
                <a:ext uri="{FF2B5EF4-FFF2-40B4-BE49-F238E27FC236}">
                  <a16:creationId xmlns:a16="http://schemas.microsoft.com/office/drawing/2014/main" id="{B92237DE-D518-4625-8392-66D7084588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2" name="Freeform 8">
              <a:extLst>
                <a:ext uri="{FF2B5EF4-FFF2-40B4-BE49-F238E27FC236}">
                  <a16:creationId xmlns:a16="http://schemas.microsoft.com/office/drawing/2014/main" id="{F290F0DD-E80A-4263-94E1-A41F57D84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3" name="Freeform 9">
              <a:extLst>
                <a:ext uri="{FF2B5EF4-FFF2-40B4-BE49-F238E27FC236}">
                  <a16:creationId xmlns:a16="http://schemas.microsoft.com/office/drawing/2014/main" id="{D78EA7D2-CCEA-435E-873D-36BF0522FF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4" name="Freeform 10">
              <a:extLst>
                <a:ext uri="{FF2B5EF4-FFF2-40B4-BE49-F238E27FC236}">
                  <a16:creationId xmlns:a16="http://schemas.microsoft.com/office/drawing/2014/main" id="{9DFA731E-D6BB-42CC-AA05-64023DC81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5" name="Freeform 11">
              <a:extLst>
                <a:ext uri="{FF2B5EF4-FFF2-40B4-BE49-F238E27FC236}">
                  <a16:creationId xmlns:a16="http://schemas.microsoft.com/office/drawing/2014/main" id="{B00D0483-90FB-4EB4-9770-CA8A310D5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ED7DC-C7A5-E4C2-FD2D-6987EB994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585046"/>
            <a:ext cx="4405849" cy="129676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Дартмутская конференция 1956 года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B633BE-FDF7-69B7-B847-FC2056B09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113808"/>
            <a:ext cx="4494826" cy="4203865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Лето 1956 года</a:t>
            </a:r>
            <a:r>
              <a:rPr lang="ru-RU" dirty="0"/>
              <a:t>, Дартмутский колледж</a:t>
            </a:r>
          </a:p>
          <a:p>
            <a:r>
              <a:rPr lang="ru-RU" dirty="0"/>
              <a:t>Организаторы: Марвин Минский, Джон Маккарти, Клод Шеннон, Натаниэль Рочестер</a:t>
            </a:r>
          </a:p>
          <a:p>
            <a:r>
              <a:rPr lang="ru-RU" b="1" dirty="0"/>
              <a:t>Именно здесь впервые прозвучал термин "искусственный интеллект"</a:t>
            </a:r>
            <a:endParaRPr lang="ru-RU" dirty="0"/>
          </a:p>
          <a:p>
            <a:r>
              <a:rPr lang="ru-RU" dirty="0"/>
              <a:t>Считается моментом рождения ИИ как научной дисциплины</a:t>
            </a:r>
          </a:p>
          <a:p>
            <a:r>
              <a:rPr lang="ru-RU" dirty="0"/>
              <a:t>Участники: будущие нобелевские лауреаты и отцы-основатели кибернетики</a:t>
            </a:r>
          </a:p>
        </p:txBody>
      </p:sp>
      <p:sp>
        <p:nvSpPr>
          <p:cNvPr id="3087" name="Rounded Rectangle 16">
            <a:extLst>
              <a:ext uri="{FF2B5EF4-FFF2-40B4-BE49-F238E27FC236}">
                <a16:creationId xmlns:a16="http://schemas.microsoft.com/office/drawing/2014/main" id="{DD7EED39-224E-4230-8FD1-B1E1AF6C6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648931"/>
            <a:ext cx="5407023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7E6804E7-C48A-34FD-C0C4-D8CF52C39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2" r="15563" b="2"/>
          <a:stretch>
            <a:fillRect/>
          </a:stretch>
        </p:blipFill>
        <p:spPr bwMode="auto">
          <a:xfrm>
            <a:off x="6095999" y="685800"/>
            <a:ext cx="5290162" cy="5195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923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DF909F-3569-6BF4-779B-C79B39B62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081548"/>
            <a:ext cx="3333495" cy="1504335"/>
          </a:xfrm>
        </p:spPr>
        <p:txBody>
          <a:bodyPr>
            <a:normAutofit/>
          </a:bodyPr>
          <a:lstStyle/>
          <a:p>
            <a:r>
              <a:rPr lang="ru-RU" sz="2400" b="1"/>
              <a:t>Премия Тьюринга 1969 года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E28973-F37B-D8A1-D865-BE77ACDB9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666999"/>
            <a:ext cx="3333496" cy="3124201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1400" b="1"/>
              <a:t>Год присуждения:</a:t>
            </a:r>
            <a:r>
              <a:rPr lang="ru-RU" sz="1400"/>
              <a:t> 1969 (вручена в 1970)</a:t>
            </a:r>
          </a:p>
          <a:p>
            <a:pPr>
              <a:lnSpc>
                <a:spcPct val="90000"/>
              </a:lnSpc>
            </a:pPr>
            <a:r>
              <a:rPr lang="ru-RU" sz="1400" b="1"/>
              <a:t>Формулировка:</a:t>
            </a:r>
            <a:r>
              <a:rPr lang="ru-RU" sz="1400"/>
              <a:t> "За пионерские работы в области искусственного интеллекта"</a:t>
            </a:r>
          </a:p>
          <a:p>
            <a:pPr>
              <a:lnSpc>
                <a:spcPct val="90000"/>
              </a:lnSpc>
            </a:pPr>
            <a:r>
              <a:rPr lang="ru-RU" sz="1400"/>
              <a:t>Вместе с Минским премию получил Сеймур Пейперт (но Минского считают главным автором идей)</a:t>
            </a:r>
          </a:p>
          <a:p>
            <a:pPr>
              <a:lnSpc>
                <a:spcPct val="90000"/>
              </a:lnSpc>
            </a:pPr>
            <a:r>
              <a:rPr lang="ru-RU" sz="1400"/>
              <a:t>На тот момент Минскому было всего 42 года — он получил премию достаточно молодым</a:t>
            </a:r>
          </a:p>
          <a:p>
            <a:pPr>
              <a:lnSpc>
                <a:spcPct val="90000"/>
              </a:lnSpc>
            </a:pPr>
            <a:r>
              <a:rPr lang="ru-RU" sz="1400"/>
              <a:t>Это признание заложило основу для развития целой области</a:t>
            </a:r>
          </a:p>
        </p:txBody>
      </p:sp>
      <p:pic>
        <p:nvPicPr>
          <p:cNvPr id="4100" name="Picture 4" descr="Statue of Alan Turing">
            <a:extLst>
              <a:ext uri="{FF2B5EF4-FFF2-40B4-BE49-F238E27FC236}">
                <a16:creationId xmlns:a16="http://schemas.microsoft.com/office/drawing/2014/main" id="{F44AF5F8-A949-9355-E498-C8F9EBE4A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02389" y="685799"/>
            <a:ext cx="3360278" cy="5053050"/>
          </a:xfrm>
          <a:prstGeom prst="roundRect">
            <a:avLst>
              <a:gd name="adj" fmla="val 4380"/>
            </a:avLst>
          </a:prstGeom>
          <a:noFill/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7120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EDC782-A43A-D38B-A953-9DD2B15DE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18533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700" b="1"/>
              <a:t>Ключевое научное достижение — Перцептроны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EF1652-F1F1-EC67-339E-ED544DFD1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998133"/>
            <a:ext cx="6855356" cy="37930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000" b="1" dirty="0"/>
              <a:t>Книга "</a:t>
            </a:r>
            <a:r>
              <a:rPr lang="ru-RU" sz="2000" b="1" dirty="0" err="1"/>
              <a:t>Perceptrons</a:t>
            </a:r>
            <a:r>
              <a:rPr lang="ru-RU" sz="2000" b="1" dirty="0"/>
              <a:t>"</a:t>
            </a:r>
            <a:r>
              <a:rPr lang="ru-RU" sz="2000" dirty="0"/>
              <a:t> (1969, совместно с Сеймуром Пейпертом)</a:t>
            </a:r>
          </a:p>
          <a:p>
            <a:pPr>
              <a:lnSpc>
                <a:spcPct val="90000"/>
              </a:lnSpc>
            </a:pPr>
            <a:r>
              <a:rPr lang="ru-RU" sz="2000" dirty="0"/>
              <a:t>Математический анализ возможностей и ограничений однослойных нейросетей</a:t>
            </a:r>
          </a:p>
          <a:p>
            <a:pPr>
              <a:lnSpc>
                <a:spcPct val="90000"/>
              </a:lnSpc>
            </a:pPr>
            <a:r>
              <a:rPr lang="ru-RU" sz="2000" dirty="0"/>
              <a:t>Показали, что перцептрон не может решать задачу XOR</a:t>
            </a:r>
          </a:p>
          <a:p>
            <a:pPr>
              <a:lnSpc>
                <a:spcPct val="90000"/>
              </a:lnSpc>
            </a:pPr>
            <a:r>
              <a:rPr lang="ru-RU" sz="2000" dirty="0"/>
              <a:t>Это привело к временному спаду интереса к нейросетям ("зима ИИ")</a:t>
            </a:r>
          </a:p>
          <a:p>
            <a:pPr>
              <a:lnSpc>
                <a:spcPct val="90000"/>
              </a:lnSpc>
            </a:pPr>
            <a:r>
              <a:rPr lang="ru-RU" sz="2000" dirty="0"/>
              <a:t>Книга </a:t>
            </a:r>
            <a:r>
              <a:rPr lang="ru-RU" sz="2000" b="1" dirty="0"/>
              <a:t>затормозила</a:t>
            </a:r>
            <a:r>
              <a:rPr lang="ru-RU" sz="2000" dirty="0"/>
              <a:t> развитие нейросетей, но одновременно заложила математическую основу для будущего прорыва</a:t>
            </a:r>
            <a:br>
              <a:rPr lang="ru-RU" sz="2000" dirty="0"/>
            </a:br>
            <a:endParaRPr lang="ru-RU" sz="2000" dirty="0"/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CD39ED79-09B5-9CBF-3CC2-2BEFEF86E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38" r="25725" b="-3"/>
          <a:stretch>
            <a:fillRect/>
          </a:stretch>
        </p:blipFill>
        <p:spPr bwMode="auto">
          <a:xfrm>
            <a:off x="8785906" y="1998131"/>
            <a:ext cx="2717117" cy="3791517"/>
          </a:xfrm>
          <a:prstGeom prst="roundRect">
            <a:avLst>
              <a:gd name="adj" fmla="val 4380"/>
            </a:avLst>
          </a:prstGeom>
          <a:noFill/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1741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8">
            <a:extLst>
              <a:ext uri="{FF2B5EF4-FFF2-40B4-BE49-F238E27FC236}">
                <a16:creationId xmlns:a16="http://schemas.microsoft.com/office/drawing/2014/main" id="{BED1B64B-251E-446A-A285-6626C4EC0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02B5D1-60D4-4D5B-AFD9-C986E2274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4E16489-5A93-4D86-AAAD-52DB55A81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BC99456E-7EAD-49F1-B2FE-C2C561C0BE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22702DF-10E7-4320-B99B-75D2EE97F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EFA49A8-FE55-4D51-B1C9-11F13FFB7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4C63B37C-8CEE-4A72-AFD8-3C2DBD372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1245F86-6106-4758-A825-71AC9D6F9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EDC782-A43A-D38B-A953-9DD2B15DE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1284051"/>
            <a:ext cx="2812385" cy="3723836"/>
          </a:xfrm>
        </p:spPr>
        <p:txBody>
          <a:bodyPr>
            <a:normAutofit/>
          </a:bodyPr>
          <a:lstStyle/>
          <a:p>
            <a:r>
              <a:rPr lang="ru-RU" sz="3600" b="1">
                <a:solidFill>
                  <a:srgbClr val="000000"/>
                </a:solidFill>
              </a:rPr>
              <a:t> Проблемы, которые Минский поднимал на лекции</a:t>
            </a:r>
            <a:br>
              <a:rPr lang="ru-RU" sz="3600" b="1">
                <a:solidFill>
                  <a:srgbClr val="000000"/>
                </a:solidFill>
              </a:rPr>
            </a:br>
            <a:endParaRPr lang="ru-RU" sz="3600">
              <a:solidFill>
                <a:srgbClr val="000000"/>
              </a:solidFill>
            </a:endParaRPr>
          </a:p>
        </p:txBody>
      </p:sp>
      <p:sp useBgFill="1">
        <p:nvSpPr>
          <p:cNvPr id="27" name="Rounded Rectangle 16">
            <a:extLst>
              <a:ext uri="{FF2B5EF4-FFF2-40B4-BE49-F238E27FC236}">
                <a16:creationId xmlns:a16="http://schemas.microsoft.com/office/drawing/2014/main" id="{A27AE693-58E8-48BC-8ED0-568ABFEAB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1162" y="648931"/>
            <a:ext cx="6881862" cy="5231964"/>
          </a:xfrm>
          <a:prstGeom prst="roundRect">
            <a:avLst>
              <a:gd name="adj" fmla="val 4834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8" name="Объект 2">
            <a:extLst>
              <a:ext uri="{FF2B5EF4-FFF2-40B4-BE49-F238E27FC236}">
                <a16:creationId xmlns:a16="http://schemas.microsoft.com/office/drawing/2014/main" id="{E32BBF03-9A9F-8EF5-4B53-D810F2872E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9177993"/>
              </p:ext>
            </p:extLst>
          </p:nvPr>
        </p:nvGraphicFramePr>
        <p:xfrm>
          <a:off x="4941201" y="992181"/>
          <a:ext cx="6237359" cy="4566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5776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0" name="Rectangle 6150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33B7777-AB46-C451-4167-F29F83297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40" r="11194" b="-2"/>
          <a:stretch>
            <a:fillRect/>
          </a:stretch>
        </p:blipFill>
        <p:spPr bwMode="auto"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61" name="Group 6152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6154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155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156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157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158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159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490F09-3419-F3DF-B47B-61DE4BC44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ru-RU" b="1"/>
              <a:t>Значение для современности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06EEDC-2356-6749-CE57-304E58165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000"/>
              <a:t>Идеи Минского лежат в основе </a:t>
            </a:r>
            <a:r>
              <a:rPr lang="ru-RU" sz="2000" b="1"/>
              <a:t>современного глубокого обучения</a:t>
            </a:r>
            <a:endParaRPr lang="ru-RU" sz="2000"/>
          </a:p>
          <a:p>
            <a:pPr>
              <a:lnSpc>
                <a:spcPct val="90000"/>
              </a:lnSpc>
            </a:pPr>
            <a:r>
              <a:rPr lang="ru-RU" sz="2000"/>
              <a:t>Его критика формализма помогла сместить фокус на </a:t>
            </a:r>
            <a:r>
              <a:rPr lang="ru-RU" sz="2000" b="1"/>
              <a:t>практические алгоритмы</a:t>
            </a:r>
            <a:endParaRPr lang="ru-RU" sz="2000"/>
          </a:p>
          <a:p>
            <a:pPr>
              <a:lnSpc>
                <a:spcPct val="90000"/>
              </a:lnSpc>
            </a:pPr>
            <a:r>
              <a:rPr lang="ru-RU" sz="2000"/>
              <a:t>Лаборатория MIT Media Lab — прямое продолжение его vision</a:t>
            </a:r>
          </a:p>
          <a:p>
            <a:pPr>
              <a:lnSpc>
                <a:spcPct val="90000"/>
              </a:lnSpc>
            </a:pPr>
            <a:r>
              <a:rPr lang="ru-RU" sz="2000"/>
              <a:t>Без Минского не было бы сегодняшних </a:t>
            </a:r>
            <a:r>
              <a:rPr lang="ru-RU" sz="2000" b="1"/>
              <a:t>нейросетей, ChatGPT и компьютерного зрения</a:t>
            </a: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29358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93667F4D-F2CD-4E50-BACC-24766910F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382913" y="0"/>
            <a:ext cx="1122363" cy="5329238"/>
          </a:xfrm>
          <a:custGeom>
            <a:avLst/>
            <a:gdLst/>
            <a:ahLst/>
            <a:cxnLst/>
            <a:rect l="0" t="0" r="r" b="b"/>
            <a:pathLst>
              <a:path w="707" h="3357">
                <a:moveTo>
                  <a:pt x="0" y="3330"/>
                </a:moveTo>
                <a:lnTo>
                  <a:pt x="156" y="3357"/>
                </a:lnTo>
                <a:lnTo>
                  <a:pt x="707" y="0"/>
                </a:lnTo>
                <a:lnTo>
                  <a:pt x="547" y="0"/>
                </a:lnTo>
                <a:lnTo>
                  <a:pt x="0" y="333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20CAAE25-D2F2-493F-9569-EC552C1AD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76525" y="0"/>
            <a:ext cx="1117600" cy="5276850"/>
          </a:xfrm>
          <a:custGeom>
            <a:avLst/>
            <a:gdLst/>
            <a:ahLst/>
            <a:cxnLst/>
            <a:rect l="0" t="0" r="r" b="b"/>
            <a:pathLst>
              <a:path w="704" h="3324">
                <a:moveTo>
                  <a:pt x="704" y="0"/>
                </a:moveTo>
                <a:lnTo>
                  <a:pt x="545" y="0"/>
                </a:lnTo>
                <a:lnTo>
                  <a:pt x="0" y="3300"/>
                </a:lnTo>
                <a:lnTo>
                  <a:pt x="157" y="3324"/>
                </a:lnTo>
                <a:lnTo>
                  <a:pt x="7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1" name="Freeform 10">
            <a:extLst>
              <a:ext uri="{FF2B5EF4-FFF2-40B4-BE49-F238E27FC236}">
                <a16:creationId xmlns:a16="http://schemas.microsoft.com/office/drawing/2014/main" id="{92FDEA97-0861-44C0-9B26-4BB5F777A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382913" y="5286375"/>
            <a:ext cx="2130425" cy="1571625"/>
          </a:xfrm>
          <a:custGeom>
            <a:avLst/>
            <a:gdLst/>
            <a:ahLst/>
            <a:cxnLst/>
            <a:rect l="0" t="0" r="r" b="b"/>
            <a:pathLst>
              <a:path w="1342" h="990">
                <a:moveTo>
                  <a:pt x="0" y="3"/>
                </a:moveTo>
                <a:lnTo>
                  <a:pt x="942" y="990"/>
                </a:lnTo>
                <a:lnTo>
                  <a:pt x="1342" y="990"/>
                </a:lnTo>
                <a:lnTo>
                  <a:pt x="156" y="27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chemeClr val="tx2">
              <a:lumMod val="25000"/>
              <a:alpha val="80000"/>
            </a:schemeClr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FC953F9-A744-406B-9DCA-1E7B5D471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76525" y="5238750"/>
            <a:ext cx="1695450" cy="1619250"/>
          </a:xfrm>
          <a:custGeom>
            <a:avLst/>
            <a:gdLst>
              <a:gd name="connsiteX0" fmla="*/ 0 w 1695450"/>
              <a:gd name="connsiteY0" fmla="*/ 0 h 1619250"/>
              <a:gd name="connsiteX1" fmla="*/ 10414 w 1695450"/>
              <a:gd name="connsiteY1" fmla="*/ 1623 h 1619250"/>
              <a:gd name="connsiteX2" fmla="*/ 9236 w 1695450"/>
              <a:gd name="connsiteY2" fmla="*/ 0 h 1619250"/>
              <a:gd name="connsiteX3" fmla="*/ 10475 w 1695450"/>
              <a:gd name="connsiteY3" fmla="*/ 1633 h 1619250"/>
              <a:gd name="connsiteX4" fmla="*/ 244475 w 1695450"/>
              <a:gd name="connsiteY4" fmla="*/ 38100 h 1619250"/>
              <a:gd name="connsiteX5" fmla="*/ 249238 w 1695450"/>
              <a:gd name="connsiteY5" fmla="*/ 38100 h 1619250"/>
              <a:gd name="connsiteX6" fmla="*/ 249238 w 1695450"/>
              <a:gd name="connsiteY6" fmla="*/ 42863 h 1619250"/>
              <a:gd name="connsiteX7" fmla="*/ 244475 w 1695450"/>
              <a:gd name="connsiteY7" fmla="*/ 42863 h 1619250"/>
              <a:gd name="connsiteX8" fmla="*/ 292100 w 1695450"/>
              <a:gd name="connsiteY8" fmla="*/ 95250 h 1619250"/>
              <a:gd name="connsiteX9" fmla="*/ 1695450 w 1695450"/>
              <a:gd name="connsiteY9" fmla="*/ 1619250 h 1619250"/>
              <a:gd name="connsiteX10" fmla="*/ 1237961 w 1695450"/>
              <a:gd name="connsiteY10" fmla="*/ 1619250 h 1619250"/>
              <a:gd name="connsiteX11" fmla="*/ 1228725 w 1695450"/>
              <a:gd name="connsiteY11" fmla="*/ 1619250 h 1619250"/>
              <a:gd name="connsiteX12" fmla="*/ 1183986 w 1695450"/>
              <a:gd name="connsiteY12" fmla="*/ 1619250 h 1619250"/>
              <a:gd name="connsiteX13" fmla="*/ 210255 w 1695450"/>
              <a:gd name="connsiteY13" fmla="*/ 277080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95450" h="1619250">
                <a:moveTo>
                  <a:pt x="0" y="0"/>
                </a:moveTo>
                <a:lnTo>
                  <a:pt x="10414" y="1623"/>
                </a:lnTo>
                <a:lnTo>
                  <a:pt x="9236" y="0"/>
                </a:lnTo>
                <a:lnTo>
                  <a:pt x="10475" y="1633"/>
                </a:lnTo>
                <a:lnTo>
                  <a:pt x="244475" y="38100"/>
                </a:lnTo>
                <a:lnTo>
                  <a:pt x="249238" y="38100"/>
                </a:lnTo>
                <a:lnTo>
                  <a:pt x="249238" y="42863"/>
                </a:lnTo>
                <a:lnTo>
                  <a:pt x="244475" y="42863"/>
                </a:lnTo>
                <a:lnTo>
                  <a:pt x="292100" y="95250"/>
                </a:lnTo>
                <a:lnTo>
                  <a:pt x="1695450" y="1619250"/>
                </a:lnTo>
                <a:lnTo>
                  <a:pt x="1237961" y="1619250"/>
                </a:lnTo>
                <a:lnTo>
                  <a:pt x="1228725" y="1619250"/>
                </a:lnTo>
                <a:lnTo>
                  <a:pt x="1183986" y="1619250"/>
                </a:lnTo>
                <a:lnTo>
                  <a:pt x="210255" y="277080"/>
                </a:lnTo>
                <a:close/>
              </a:path>
            </a:pathLst>
          </a:cu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59003D2-E7D2-4253-9EF1-1F513027A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8143384" cy="6858000"/>
          </a:xfrm>
          <a:custGeom>
            <a:avLst/>
            <a:gdLst>
              <a:gd name="connsiteX0" fmla="*/ 0 w 8143384"/>
              <a:gd name="connsiteY0" fmla="*/ 0 h 6858001"/>
              <a:gd name="connsiteX1" fmla="*/ 3861881 w 8143384"/>
              <a:gd name="connsiteY1" fmla="*/ 0 h 6858001"/>
              <a:gd name="connsiteX2" fmla="*/ 3861881 w 8143384"/>
              <a:gd name="connsiteY2" fmla="*/ 1 h 6858001"/>
              <a:gd name="connsiteX3" fmla="*/ 6963565 w 8143384"/>
              <a:gd name="connsiteY3" fmla="*/ 1 h 6858001"/>
              <a:gd name="connsiteX4" fmla="*/ 6963565 w 8143384"/>
              <a:gd name="connsiteY4" fmla="*/ 0 h 6858001"/>
              <a:gd name="connsiteX5" fmla="*/ 7841583 w 8143384"/>
              <a:gd name="connsiteY5" fmla="*/ 0 h 6858001"/>
              <a:gd name="connsiteX6" fmla="*/ 6994625 w 8143384"/>
              <a:gd name="connsiteY6" fmla="*/ 5258645 h 6858001"/>
              <a:gd name="connsiteX7" fmla="*/ 6994625 w 8143384"/>
              <a:gd name="connsiteY7" fmla="*/ 5263939 h 6858001"/>
              <a:gd name="connsiteX8" fmla="*/ 8143384 w 8143384"/>
              <a:gd name="connsiteY8" fmla="*/ 6858001 h 6858001"/>
              <a:gd name="connsiteX9" fmla="*/ 6994625 w 8143384"/>
              <a:gd name="connsiteY9" fmla="*/ 6858001 h 6858001"/>
              <a:gd name="connsiteX10" fmla="*/ 6643195 w 8143384"/>
              <a:gd name="connsiteY10" fmla="*/ 6858001 h 6858001"/>
              <a:gd name="connsiteX11" fmla="*/ 3861881 w 8143384"/>
              <a:gd name="connsiteY11" fmla="*/ 6858001 h 6858001"/>
              <a:gd name="connsiteX12" fmla="*/ 3739675 w 8143384"/>
              <a:gd name="connsiteY12" fmla="*/ 6858001 h 6858001"/>
              <a:gd name="connsiteX13" fmla="*/ 0 w 8143384"/>
              <a:gd name="connsiteY1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43384" h="6858001">
                <a:moveTo>
                  <a:pt x="0" y="0"/>
                </a:moveTo>
                <a:lnTo>
                  <a:pt x="3861881" y="0"/>
                </a:lnTo>
                <a:lnTo>
                  <a:pt x="3861881" y="1"/>
                </a:lnTo>
                <a:lnTo>
                  <a:pt x="6963565" y="1"/>
                </a:lnTo>
                <a:lnTo>
                  <a:pt x="6963565" y="0"/>
                </a:lnTo>
                <a:lnTo>
                  <a:pt x="7841583" y="0"/>
                </a:lnTo>
                <a:lnTo>
                  <a:pt x="6994625" y="5258645"/>
                </a:lnTo>
                <a:lnTo>
                  <a:pt x="6994625" y="5263939"/>
                </a:lnTo>
                <a:lnTo>
                  <a:pt x="8143384" y="6858001"/>
                </a:lnTo>
                <a:lnTo>
                  <a:pt x="6994625" y="6858001"/>
                </a:lnTo>
                <a:lnTo>
                  <a:pt x="6643195" y="6858001"/>
                </a:lnTo>
                <a:lnTo>
                  <a:pt x="3861881" y="6858001"/>
                </a:lnTo>
                <a:lnTo>
                  <a:pt x="3739675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>
              <a:lumMod val="75000"/>
              <a:lumOff val="2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26BD7B-1F2E-20CC-DE23-C9836A26C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397" y="643467"/>
            <a:ext cx="6269128" cy="45952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60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1191870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356</Words>
  <Application>Microsoft Office PowerPoint</Application>
  <PresentationFormat>Широкоэкранный</PresentationFormat>
  <Paragraphs>44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Corbel</vt:lpstr>
      <vt:lpstr>Parallax</vt:lpstr>
      <vt:lpstr>Премия Тьюринга Марвин Минский Лауреат 1969 года </vt:lpstr>
      <vt:lpstr> Кто такой Марвин Минский</vt:lpstr>
      <vt:lpstr>Основание лаборатории ИИ в MIT </vt:lpstr>
      <vt:lpstr>Дартмутская конференция 1956 года</vt:lpstr>
      <vt:lpstr>Премия Тьюринга 1969 года</vt:lpstr>
      <vt:lpstr>Ключевое научное достижение — Перцептроны</vt:lpstr>
      <vt:lpstr> Проблемы, которые Минский поднимал на лекции </vt:lpstr>
      <vt:lpstr>Значение для современности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Andrey Surkov</dc:creator>
  <cp:lastModifiedBy>Andrey Surkov</cp:lastModifiedBy>
  <cp:revision>7</cp:revision>
  <dcterms:created xsi:type="dcterms:W3CDTF">2026-02-24T13:57:02Z</dcterms:created>
  <dcterms:modified xsi:type="dcterms:W3CDTF">2026-03-01T22:51:02Z</dcterms:modified>
</cp:coreProperties>
</file>
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132" y="16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3114E4-AACD-4D00-835D-A8C7A26156CF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E50959-EE3F-42AF-9F46-BBFE9CD67B5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3738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Здравствуйте. Сегодня я представлю вам World Data Center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Climate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Всемирный центр данных по климату. Это уникальный научный репозиторий, который обеспечивает долгосрочное хранение и открытый доступ к климатическим данным для исследователей по всему миру. WDCC является ярким примером того, как работают с Big Data в академической среде, где объёмы измеряются петабайтами, а качество данных контролируется на самом высоком уровне.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E50959-EE3F-42AF-9F46-BBFE9CD67B5C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74582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WDCC был создан в 2003 году и с тех пор является аккредитованным членом Международной системы мировых данных (World Data System) при Международном научном совете. Центр сертифицирован по самому строгому стандарту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CoreTrustSeal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который подтверждает, что это надёжное хранилище данных. Физически центр размещается в Немецком климатическом вычислительном центре (DKRZ) в Гамбурге, Германия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E50959-EE3F-42AF-9F46-BBFE9CD67B5C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7197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 состоянию на 2022 год WDCC хранит и курирует около 5 петабайт данных на магнитных лентах — это надёжный и энергоэффективный способ хранения больших объёмов. Основной формат данных —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NetCDF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который является стандартом для климатических исследований. Объём постоянно растёт за счёт новых результатов моделирования климата, поступающих от научных групп по всему миру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E50959-EE3F-42AF-9F46-BBFE9CD67B5C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78161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Миссия WDCC — обеспечить долгосрочное сохранение данных, критически важных для исследований климата и Земной системы. Все сервисы центра руководствуются принципами FAIR: данные должны быть находимыми, доступными, совместимыми и пригодными для повторного использования. Это особенно важно для климатологии, где данные, собранные десятилетия назад, могут быть необходимы для новых исследований и проверки гипотез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E50959-EE3F-42AF-9F46-BBFE9CD67B5C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20842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WDCC управляется Немецким климатическим вычислительным центром — это некоммерческая организация, специализирующаяся на предоставлении вычислительных ресурсов для климатических исследований. Среди ключевых сотрудников, представляющих центр, — Андреа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Ламмерт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её коллеги. Юридический статус некоммерческой организации гарантирует, что главная цель центра — не извлечение прибыли, а служение научному сообществу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E50959-EE3F-42AF-9F46-BBFE9CD67B5C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52649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WDCC предоставляет два основных типа сервисов. Во-первых, это услуги для учёных, которые производят данные: долгосрочное архивирование результатов моделирования в соответствии с принципами добросовестной научной практики. Во-вторых, это доступ для тех, кто хочет использовать опубликованные данные в новых исследованиях. Перед публикацией все данные проходят тщательную проверку и курацию. Недавно WDCC установил собственный стандарт для заголовков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NetCDF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-файлов — только данные, соответствующие этому стандарту, принимаются к публикации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E50959-EE3F-42AF-9F46-BBFE9CD67B5C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55176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Качество данных в WDCC обеспечивается многоуровневой системой контроля. Ключевой принцип — богатые метаданные. Чтобы данные можно было использовать через десятилетия и в разных научных областях, недостаточно сохранить сами цифры — нужно сохранить полное описание того, как эти данные были получены, какие модели использовались, какие допущения были сделаны. Поэтому перед публикацией каждый набор данных проходит несколько этапов проверки и курации. Сертификация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CoreTrustSeal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подтверждает, что процессы центра соответствуют мировым стандартам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E50959-EE3F-42AF-9F46-BBFE9CD67B5C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290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Пользователи WDCC делятся на две основные категории. Первая — учёные, которые производят данные: например, команды, занимающиеся климатическим моделированием на суперкомпьютерах. Для них WDCC предоставляет возможность долгосрочного архивирования, что часто требуется грантодателями и научными журналами. Вторая категория — исследователи, которые используют эти данные для новых работ: например, для анализа климатических изменений, проверки гипотез или подготовки отчётов Межправительственной группы экспертов по изменению климата (IPCC)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E50959-EE3F-42AF-9F46-BBFE9CD67B5C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21976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 точки зрения качества WDCC является эталонным научным репозиторием. Актуальность обеспечивается постоянным пополнением новыми результатами моделирования. Достоверность гарантируется научным рецензированием исходных работ и тщательной проверкой метаданных при публикации. Полнота высока в своей области — климатическом моделировании. Данные хранятся на ленточных носителях, которые обеспечивают долговечность, и регулярно мигрируют на новые носители по мере старения технологий. Единственное ограничение — узкая специализация: это данные для науки, а не для широкой публики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E50959-EE3F-42AF-9F46-BBFE9CD67B5C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75474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Ключевая особенность WDCC — полный открытый доступ. Любой исследователь из любой страны может бесплатно искать и скачивать данные через веб-интерфейс. Рекламы на сайте нет и быть не может — это принципиальная позиция научного репозитория, финансируемого из государственных средств Германии и Европейского союза. Интерфейс на английском языке обеспечивает доступность для международного научного сообщества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E50959-EE3F-42AF-9F46-BBFE9CD67B5C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69460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Общее впечатление от WDCC —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это典型ный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научный репозиторий, где функциональность ставится выше дизайна. Интерфейс строгий и минималистичный, главное в нём — доступ к данным и метаданным. Для неподготовленного пользователя сайт может показаться сложным, но для профессионального климатолога или океанолога это идеальный инструмент, где каждая деталь продумана для удобства исследовательской работы. Центр активно интегрируется с международными научными проектами, такими как NFDI4Earth и Европейская облачная инициатива EOSC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E50959-EE3F-42AF-9F46-BBFE9CD67B5C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21032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подготовке я опирался исключительно на официальные и научные источники. Основные данные взяты из презентации WDCC на международном симпозиуме Data Science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Symposium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2025, организованном центром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Helmholtz-Zentrum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Hereon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Также использована информация из каталога Европейской облачной инициативы EOSC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Marketplace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где WDCC представлен как сертифицированный сервис. Данные о сертификации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CoreTrustSeal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статусе члена World Data System подтверждены официальными источниками. Все цифры актуальны на 2025–2026 годы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E50959-EE3F-42AF-9F46-BBFE9CD67B5C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26826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Спасибо за внимание. World Data Center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Climate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это пример того, как должны работать научные репозитории Big Data: открыто, надёжно и с долгосрочной перспективой. Я готов ответить на ваши вопросы.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E50959-EE3F-42AF-9F46-BBFE9CD67B5C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70076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00" b="0" i="0">
                <a:solidFill>
                  <a:schemeClr val="bg1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00" b="0" i="0">
                <a:solidFill>
                  <a:schemeClr val="bg1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00" b="0" i="0">
                <a:solidFill>
                  <a:schemeClr val="bg1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76500" y="3689591"/>
            <a:ext cx="7283958" cy="100001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00" b="0" i="0">
                <a:solidFill>
                  <a:schemeClr val="bg1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77766" y="238505"/>
            <a:ext cx="7140575" cy="1530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00" b="0" i="0">
                <a:solidFill>
                  <a:schemeClr val="bg1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110098" y="2416556"/>
            <a:ext cx="5852159" cy="27857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26" Type="http://schemas.openxmlformats.org/officeDocument/2006/relationships/image" Target="../media/image32.png"/><Relationship Id="rId3" Type="http://schemas.openxmlformats.org/officeDocument/2006/relationships/image" Target="../media/image9.jpg"/><Relationship Id="rId21" Type="http://schemas.openxmlformats.org/officeDocument/2006/relationships/image" Target="../media/image27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5" Type="http://schemas.openxmlformats.org/officeDocument/2006/relationships/image" Target="../media/image31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29" Type="http://schemas.openxmlformats.org/officeDocument/2006/relationships/image" Target="../media/image3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24" Type="http://schemas.openxmlformats.org/officeDocument/2006/relationships/image" Target="../media/image30.png"/><Relationship Id="rId32" Type="http://schemas.openxmlformats.org/officeDocument/2006/relationships/image" Target="../media/image38.png"/><Relationship Id="rId5" Type="http://schemas.openxmlformats.org/officeDocument/2006/relationships/image" Target="../media/image11.jpg"/><Relationship Id="rId15" Type="http://schemas.openxmlformats.org/officeDocument/2006/relationships/image" Target="../media/image21.png"/><Relationship Id="rId23" Type="http://schemas.openxmlformats.org/officeDocument/2006/relationships/image" Target="../media/image29.png"/><Relationship Id="rId28" Type="http://schemas.openxmlformats.org/officeDocument/2006/relationships/image" Target="../media/image34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31" Type="http://schemas.openxmlformats.org/officeDocument/2006/relationships/image" Target="../media/image37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Relationship Id="rId27" Type="http://schemas.openxmlformats.org/officeDocument/2006/relationships/image" Target="../media/image33.png"/><Relationship Id="rId30" Type="http://schemas.openxmlformats.org/officeDocument/2006/relationships/image" Target="../media/image3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17" Type="http://schemas.openxmlformats.org/officeDocument/2006/relationships/image" Target="../media/image53.jp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5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5" Type="http://schemas.openxmlformats.org/officeDocument/2006/relationships/image" Target="../media/image5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4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5" Type="http://schemas.openxmlformats.org/officeDocument/2006/relationships/image" Target="../media/image66.png"/><Relationship Id="rId10" Type="http://schemas.openxmlformats.org/officeDocument/2006/relationships/image" Target="../media/image61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Relationship Id="rId14" Type="http://schemas.openxmlformats.org/officeDocument/2006/relationships/image" Target="../media/image6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jpg"/><Relationship Id="rId4" Type="http://schemas.openxmlformats.org/officeDocument/2006/relationships/image" Target="../media/image6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73.jpg"/><Relationship Id="rId4" Type="http://schemas.openxmlformats.org/officeDocument/2006/relationships/image" Target="../media/image7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13" Type="http://schemas.openxmlformats.org/officeDocument/2006/relationships/image" Target="../media/image84.png"/><Relationship Id="rId18" Type="http://schemas.openxmlformats.org/officeDocument/2006/relationships/image" Target="../media/image89.png"/><Relationship Id="rId26" Type="http://schemas.openxmlformats.org/officeDocument/2006/relationships/image" Target="../media/image97.png"/><Relationship Id="rId3" Type="http://schemas.openxmlformats.org/officeDocument/2006/relationships/image" Target="../media/image68.png"/><Relationship Id="rId21" Type="http://schemas.openxmlformats.org/officeDocument/2006/relationships/image" Target="../media/image92.png"/><Relationship Id="rId7" Type="http://schemas.openxmlformats.org/officeDocument/2006/relationships/image" Target="../media/image78.png"/><Relationship Id="rId12" Type="http://schemas.openxmlformats.org/officeDocument/2006/relationships/image" Target="../media/image83.png"/><Relationship Id="rId17" Type="http://schemas.openxmlformats.org/officeDocument/2006/relationships/image" Target="../media/image88.png"/><Relationship Id="rId25" Type="http://schemas.openxmlformats.org/officeDocument/2006/relationships/image" Target="../media/image96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87.png"/><Relationship Id="rId20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11" Type="http://schemas.openxmlformats.org/officeDocument/2006/relationships/image" Target="../media/image82.png"/><Relationship Id="rId24" Type="http://schemas.openxmlformats.org/officeDocument/2006/relationships/image" Target="../media/image95.png"/><Relationship Id="rId5" Type="http://schemas.openxmlformats.org/officeDocument/2006/relationships/image" Target="../media/image70.jpg"/><Relationship Id="rId15" Type="http://schemas.openxmlformats.org/officeDocument/2006/relationships/image" Target="../media/image86.png"/><Relationship Id="rId23" Type="http://schemas.openxmlformats.org/officeDocument/2006/relationships/image" Target="../media/image94.png"/><Relationship Id="rId10" Type="http://schemas.openxmlformats.org/officeDocument/2006/relationships/image" Target="../media/image81.png"/><Relationship Id="rId19" Type="http://schemas.openxmlformats.org/officeDocument/2006/relationships/image" Target="../media/image90.png"/><Relationship Id="rId4" Type="http://schemas.openxmlformats.org/officeDocument/2006/relationships/image" Target="../media/image69.png"/><Relationship Id="rId9" Type="http://schemas.openxmlformats.org/officeDocument/2006/relationships/image" Target="../media/image80.png"/><Relationship Id="rId14" Type="http://schemas.openxmlformats.org/officeDocument/2006/relationships/image" Target="../media/image85.png"/><Relationship Id="rId22" Type="http://schemas.openxmlformats.org/officeDocument/2006/relationships/image" Target="../media/image93.png"/><Relationship Id="rId27" Type="http://schemas.openxmlformats.org/officeDocument/2006/relationships/image" Target="../media/image9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13" Type="http://schemas.openxmlformats.org/officeDocument/2006/relationships/image" Target="../media/image109.png"/><Relationship Id="rId18" Type="http://schemas.openxmlformats.org/officeDocument/2006/relationships/image" Target="../media/image114.png"/><Relationship Id="rId3" Type="http://schemas.openxmlformats.org/officeDocument/2006/relationships/image" Target="../media/image99.png"/><Relationship Id="rId7" Type="http://schemas.openxmlformats.org/officeDocument/2006/relationships/image" Target="../media/image103.png"/><Relationship Id="rId12" Type="http://schemas.openxmlformats.org/officeDocument/2006/relationships/image" Target="../media/image108.png"/><Relationship Id="rId17" Type="http://schemas.openxmlformats.org/officeDocument/2006/relationships/image" Target="../media/image113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1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2.png"/><Relationship Id="rId11" Type="http://schemas.openxmlformats.org/officeDocument/2006/relationships/image" Target="../media/image107.png"/><Relationship Id="rId5" Type="http://schemas.openxmlformats.org/officeDocument/2006/relationships/image" Target="../media/image101.png"/><Relationship Id="rId15" Type="http://schemas.openxmlformats.org/officeDocument/2006/relationships/image" Target="../media/image111.png"/><Relationship Id="rId10" Type="http://schemas.openxmlformats.org/officeDocument/2006/relationships/image" Target="../media/image106.png"/><Relationship Id="rId19" Type="http://schemas.openxmlformats.org/officeDocument/2006/relationships/image" Target="../media/image115.jpg"/><Relationship Id="rId4" Type="http://schemas.openxmlformats.org/officeDocument/2006/relationships/image" Target="../media/image100.png"/><Relationship Id="rId9" Type="http://schemas.openxmlformats.org/officeDocument/2006/relationships/image" Target="../media/image105.png"/><Relationship Id="rId14" Type="http://schemas.openxmlformats.org/officeDocument/2006/relationships/image" Target="../media/image1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13" Type="http://schemas.openxmlformats.org/officeDocument/2006/relationships/image" Target="../media/image126.png"/><Relationship Id="rId3" Type="http://schemas.openxmlformats.org/officeDocument/2006/relationships/image" Target="../media/image116.png"/><Relationship Id="rId7" Type="http://schemas.openxmlformats.org/officeDocument/2006/relationships/image" Target="../media/image120.png"/><Relationship Id="rId12" Type="http://schemas.openxmlformats.org/officeDocument/2006/relationships/image" Target="../media/image1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9.png"/><Relationship Id="rId11" Type="http://schemas.openxmlformats.org/officeDocument/2006/relationships/image" Target="../media/image124.png"/><Relationship Id="rId5" Type="http://schemas.openxmlformats.org/officeDocument/2006/relationships/image" Target="../media/image118.png"/><Relationship Id="rId15" Type="http://schemas.openxmlformats.org/officeDocument/2006/relationships/image" Target="../media/image128.jpg"/><Relationship Id="rId10" Type="http://schemas.openxmlformats.org/officeDocument/2006/relationships/image" Target="../media/image123.png"/><Relationship Id="rId4" Type="http://schemas.openxmlformats.org/officeDocument/2006/relationships/image" Target="../media/image117.png"/><Relationship Id="rId9" Type="http://schemas.openxmlformats.org/officeDocument/2006/relationships/image" Target="../media/image122.png"/><Relationship Id="rId14" Type="http://schemas.openxmlformats.org/officeDocument/2006/relationships/image" Target="../media/image1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"/>
            <a:ext cx="12192000" cy="6858000"/>
            <a:chOff x="0" y="-1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-1"/>
              <a:ext cx="12192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09544" y="67056"/>
              <a:ext cx="8683752" cy="262432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32319" y="906830"/>
              <a:ext cx="4663566" cy="97403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33927" y="1620062"/>
              <a:ext cx="8561832" cy="974039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8255" algn="r">
              <a:lnSpc>
                <a:spcPts val="5930"/>
              </a:lnSpc>
              <a:spcBef>
                <a:spcPts val="95"/>
              </a:spcBef>
            </a:pPr>
            <a:r>
              <a:rPr spc="-254" dirty="0"/>
              <a:t>База</a:t>
            </a:r>
            <a:r>
              <a:rPr spc="-575" dirty="0"/>
              <a:t> </a:t>
            </a:r>
            <a:r>
              <a:rPr spc="-295" dirty="0"/>
              <a:t>данных</a:t>
            </a:r>
          </a:p>
          <a:p>
            <a:pPr marR="5080" algn="r">
              <a:lnSpc>
                <a:spcPts val="5930"/>
              </a:lnSpc>
            </a:pPr>
            <a:r>
              <a:rPr spc="-525" dirty="0"/>
              <a:t>W</a:t>
            </a:r>
            <a:r>
              <a:rPr spc="-330" dirty="0"/>
              <a:t>or</a:t>
            </a:r>
            <a:r>
              <a:rPr spc="-335" dirty="0"/>
              <a:t>l</a:t>
            </a:r>
            <a:r>
              <a:rPr spc="-25" dirty="0"/>
              <a:t>d</a:t>
            </a:r>
            <a:r>
              <a:rPr spc="-555" dirty="0"/>
              <a:t> </a:t>
            </a:r>
            <a:r>
              <a:rPr spc="-315" dirty="0"/>
              <a:t>D</a:t>
            </a:r>
            <a:r>
              <a:rPr spc="-325" dirty="0"/>
              <a:t>a</a:t>
            </a:r>
            <a:r>
              <a:rPr spc="-320" dirty="0"/>
              <a:t>t</a:t>
            </a:r>
            <a:r>
              <a:rPr spc="225" dirty="0"/>
              <a:t>a</a:t>
            </a:r>
            <a:r>
              <a:rPr spc="-320" dirty="0"/>
              <a:t>C</a:t>
            </a:r>
            <a:r>
              <a:rPr spc="-325" dirty="0"/>
              <a:t>e</a:t>
            </a:r>
            <a:r>
              <a:rPr spc="-320" dirty="0"/>
              <a:t>nt</a:t>
            </a:r>
            <a:r>
              <a:rPr spc="-325" dirty="0"/>
              <a:t>e</a:t>
            </a:r>
            <a:r>
              <a:rPr spc="-15" dirty="0"/>
              <a:t>r</a:t>
            </a:r>
            <a:r>
              <a:rPr spc="-540" dirty="0"/>
              <a:t> </a:t>
            </a:r>
            <a:r>
              <a:rPr spc="-270" dirty="0"/>
              <a:t>f</a:t>
            </a:r>
            <a:r>
              <a:rPr spc="-275" dirty="0"/>
              <a:t>o</a:t>
            </a:r>
            <a:r>
              <a:rPr spc="254" dirty="0"/>
              <a:t>r</a:t>
            </a:r>
            <a:r>
              <a:rPr spc="-275" dirty="0"/>
              <a:t>C</a:t>
            </a:r>
            <a:r>
              <a:rPr spc="-280" dirty="0"/>
              <a:t>li</a:t>
            </a:r>
            <a:r>
              <a:rPr spc="-275" dirty="0"/>
              <a:t>m</a:t>
            </a:r>
            <a:r>
              <a:rPr spc="-280" dirty="0"/>
              <a:t>a</a:t>
            </a:r>
            <a:r>
              <a:rPr spc="-275" dirty="0"/>
              <a:t>t</a:t>
            </a:r>
            <a:r>
              <a:rPr spc="30" dirty="0"/>
              <a:t>e</a:t>
            </a:r>
          </a:p>
        </p:txBody>
      </p:sp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093208" y="4108703"/>
            <a:ext cx="6291072" cy="152095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352034" y="4141172"/>
            <a:ext cx="5728335" cy="115633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705"/>
              </a:spcBef>
            </a:pPr>
            <a:r>
              <a:rPr sz="3200" spc="-10" dirty="0">
                <a:solidFill>
                  <a:srgbClr val="FFFFFF"/>
                </a:solidFill>
                <a:latin typeface="Corbel"/>
                <a:cs typeface="Corbel"/>
              </a:rPr>
              <a:t>Доклад</a:t>
            </a:r>
            <a:r>
              <a:rPr sz="3200" spc="-8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orbel"/>
                <a:cs typeface="Corbel"/>
              </a:rPr>
              <a:t>студента</a:t>
            </a:r>
            <a:r>
              <a:rPr sz="3200" spc="-8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orbel"/>
                <a:cs typeface="Corbel"/>
              </a:rPr>
              <a:t>4-</a:t>
            </a:r>
            <a:r>
              <a:rPr sz="3200" dirty="0">
                <a:solidFill>
                  <a:srgbClr val="FFFFFF"/>
                </a:solidFill>
                <a:latin typeface="Corbel"/>
                <a:cs typeface="Corbel"/>
              </a:rPr>
              <a:t>го</a:t>
            </a:r>
            <a:r>
              <a:rPr sz="3200" spc="-7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200" dirty="0">
                <a:solidFill>
                  <a:srgbClr val="FFFFFF"/>
                </a:solidFill>
                <a:latin typeface="Corbel"/>
                <a:cs typeface="Corbel"/>
              </a:rPr>
              <a:t>курса</a:t>
            </a:r>
            <a:r>
              <a:rPr sz="3200" spc="-7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Corbel"/>
                <a:cs typeface="Corbel"/>
              </a:rPr>
              <a:t>ИВТ</a:t>
            </a:r>
            <a:endParaRPr sz="3200">
              <a:latin typeface="Corbel"/>
              <a:cs typeface="Corbel"/>
            </a:endParaRPr>
          </a:p>
          <a:p>
            <a:pPr marR="6985" algn="r">
              <a:lnSpc>
                <a:spcPct val="100000"/>
              </a:lnSpc>
              <a:spcBef>
                <a:spcPts val="615"/>
              </a:spcBef>
            </a:pPr>
            <a:r>
              <a:rPr sz="3200" spc="-40" dirty="0">
                <a:solidFill>
                  <a:srgbClr val="FFFFFF"/>
                </a:solidFill>
                <a:latin typeface="Corbel"/>
                <a:cs typeface="Corbel"/>
              </a:rPr>
              <a:t>Суркова</a:t>
            </a:r>
            <a:r>
              <a:rPr sz="3200" spc="-10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Corbel"/>
                <a:cs typeface="Corbel"/>
              </a:rPr>
              <a:t>А.А.</a:t>
            </a:r>
            <a:endParaRPr sz="32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36008" y="56"/>
              <a:ext cx="7555992" cy="685787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4818888" cy="6858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4636008" cy="68579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46975" y="697102"/>
              <a:ext cx="3118929" cy="29527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43190" y="1957958"/>
              <a:ext cx="63004" cy="6299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70201" y="1898650"/>
              <a:ext cx="1166368" cy="18300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78128" y="1912366"/>
              <a:ext cx="1132890" cy="16929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73149" y="2170048"/>
              <a:ext cx="2788742" cy="22326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43190" y="2633091"/>
              <a:ext cx="63004" cy="6299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78128" y="2587498"/>
              <a:ext cx="1681530" cy="20853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43190" y="3035426"/>
              <a:ext cx="63004" cy="6299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949955" y="2632582"/>
              <a:ext cx="466090" cy="17246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170673" y="2986658"/>
              <a:ext cx="771537" cy="22720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005329" y="2976117"/>
              <a:ext cx="1998471" cy="23774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171917" y="3309239"/>
              <a:ext cx="487083" cy="12420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719452" y="3250438"/>
              <a:ext cx="2001012" cy="23774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171917" y="3535298"/>
              <a:ext cx="657898" cy="209803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43190" y="3984878"/>
              <a:ext cx="63004" cy="6299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170673" y="3925570"/>
              <a:ext cx="1707273" cy="23774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950082" y="3936110"/>
              <a:ext cx="1141095" cy="17246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170050" y="4199890"/>
              <a:ext cx="2247646" cy="23774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179372" y="4484751"/>
              <a:ext cx="1180795" cy="22720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943190" y="4934330"/>
              <a:ext cx="63004" cy="6299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160729" y="4888738"/>
              <a:ext cx="577265" cy="169291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816226" y="4875021"/>
              <a:ext cx="1681099" cy="183006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173149" y="5159883"/>
              <a:ext cx="2730830" cy="230251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943190" y="5610974"/>
              <a:ext cx="63004" cy="63004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178128" y="5565394"/>
              <a:ext cx="1707438" cy="169354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178128" y="5839675"/>
              <a:ext cx="1013637" cy="224066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973451" y="5552059"/>
              <a:ext cx="897127" cy="23736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35778" y="504825"/>
            <a:ext cx="5162550" cy="38938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92319" y="1906016"/>
            <a:ext cx="2403348" cy="31381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14284" y="1909826"/>
            <a:ext cx="3053969" cy="32270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092319" y="2421889"/>
            <a:ext cx="2563367" cy="3317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786623" y="2436622"/>
            <a:ext cx="3331464" cy="31699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100954" y="2820670"/>
            <a:ext cx="2255647" cy="29273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102605" y="3335528"/>
            <a:ext cx="2278761" cy="23634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483729" y="3335528"/>
            <a:ext cx="3306318" cy="3126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102605" y="3846163"/>
            <a:ext cx="754761" cy="23625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988303" y="3846067"/>
            <a:ext cx="4986782" cy="236346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100954" y="4293108"/>
            <a:ext cx="1504823" cy="22796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128256" y="4742296"/>
            <a:ext cx="1665604" cy="312556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080127" y="4742179"/>
            <a:ext cx="1917192" cy="290956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100954" y="5189220"/>
            <a:ext cx="4953381" cy="249682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9" y="-1"/>
            <a:ext cx="4343399" cy="685799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75783" y="564895"/>
            <a:ext cx="2849371" cy="397637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911677" y="2127081"/>
            <a:ext cx="3677920" cy="2597150"/>
            <a:chOff x="911677" y="2127081"/>
            <a:chExt cx="3677920" cy="2597150"/>
          </a:xfrm>
        </p:grpSpPr>
        <p:sp>
          <p:nvSpPr>
            <p:cNvPr id="4" name="object 4"/>
            <p:cNvSpPr/>
            <p:nvPr/>
          </p:nvSpPr>
          <p:spPr>
            <a:xfrm>
              <a:off x="934604" y="2150008"/>
              <a:ext cx="3632200" cy="2551430"/>
            </a:xfrm>
            <a:custGeom>
              <a:avLst/>
              <a:gdLst/>
              <a:ahLst/>
              <a:cxnLst/>
              <a:rect l="l" t="t" r="r" b="b"/>
              <a:pathLst>
                <a:path w="3632200" h="2551429">
                  <a:moveTo>
                    <a:pt x="3313248" y="0"/>
                  </a:moveTo>
                  <a:lnTo>
                    <a:pt x="1300921" y="1902339"/>
                  </a:lnTo>
                  <a:lnTo>
                    <a:pt x="334061" y="911865"/>
                  </a:lnTo>
                  <a:lnTo>
                    <a:pt x="0" y="1230231"/>
                  </a:lnTo>
                  <a:lnTo>
                    <a:pt x="1285200" y="2550864"/>
                  </a:lnTo>
                  <a:lnTo>
                    <a:pt x="1623208" y="2236427"/>
                  </a:lnTo>
                  <a:lnTo>
                    <a:pt x="3631604" y="330158"/>
                  </a:lnTo>
                  <a:lnTo>
                    <a:pt x="3313248" y="0"/>
                  </a:lnTo>
                  <a:close/>
                </a:path>
              </a:pathLst>
            </a:custGeom>
            <a:solidFill>
              <a:srgbClr val="41AD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34604" y="2150008"/>
              <a:ext cx="3632200" cy="2551430"/>
            </a:xfrm>
            <a:custGeom>
              <a:avLst/>
              <a:gdLst/>
              <a:ahLst/>
              <a:cxnLst/>
              <a:rect l="l" t="t" r="r" b="b"/>
              <a:pathLst>
                <a:path w="3632200" h="2551429">
                  <a:moveTo>
                    <a:pt x="3313248" y="0"/>
                  </a:moveTo>
                  <a:lnTo>
                    <a:pt x="1300921" y="1902339"/>
                  </a:lnTo>
                  <a:lnTo>
                    <a:pt x="334061" y="911865"/>
                  </a:lnTo>
                  <a:lnTo>
                    <a:pt x="0" y="1230231"/>
                  </a:lnTo>
                  <a:lnTo>
                    <a:pt x="1285200" y="2550864"/>
                  </a:lnTo>
                  <a:lnTo>
                    <a:pt x="1623208" y="2236427"/>
                  </a:lnTo>
                  <a:lnTo>
                    <a:pt x="3631604" y="330158"/>
                  </a:lnTo>
                  <a:lnTo>
                    <a:pt x="3313248" y="0"/>
                  </a:lnTo>
                  <a:close/>
                </a:path>
              </a:pathLst>
            </a:custGeom>
            <a:ln w="45854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56352" y="1795907"/>
            <a:ext cx="75437" cy="7543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82030" y="1741297"/>
            <a:ext cx="5404993" cy="2682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91047" y="2054098"/>
            <a:ext cx="3462168" cy="28460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356352" y="2582291"/>
            <a:ext cx="75437" cy="7543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586603" y="2511679"/>
            <a:ext cx="5382133" cy="28422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591047" y="2856864"/>
            <a:ext cx="2097404" cy="26822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356352" y="3367151"/>
            <a:ext cx="75437" cy="7543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586603" y="3308730"/>
            <a:ext cx="4684014" cy="27203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584580" y="3625341"/>
            <a:ext cx="2597521" cy="284606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356352" y="4152010"/>
            <a:ext cx="75437" cy="75437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593969" y="4097401"/>
            <a:ext cx="5366638" cy="26822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591047" y="4410202"/>
            <a:ext cx="1824481" cy="2660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8217" y="457073"/>
            <a:ext cx="7352347" cy="54736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113650" y="2635376"/>
            <a:ext cx="10246995" cy="636905"/>
            <a:chOff x="1113650" y="2635376"/>
            <a:chExt cx="10246995" cy="636905"/>
          </a:xfrm>
        </p:grpSpPr>
        <p:sp>
          <p:nvSpPr>
            <p:cNvPr id="4" name="object 4"/>
            <p:cNvSpPr/>
            <p:nvPr/>
          </p:nvSpPr>
          <p:spPr>
            <a:xfrm>
              <a:off x="1120000" y="2641726"/>
              <a:ext cx="10234295" cy="624205"/>
            </a:xfrm>
            <a:custGeom>
              <a:avLst/>
              <a:gdLst/>
              <a:ahLst/>
              <a:cxnLst/>
              <a:rect l="l" t="t" r="r" b="b"/>
              <a:pathLst>
                <a:path w="10234295" h="624204">
                  <a:moveTo>
                    <a:pt x="10129913" y="0"/>
                  </a:moveTo>
                  <a:lnTo>
                    <a:pt x="103936" y="0"/>
                  </a:lnTo>
                  <a:lnTo>
                    <a:pt x="63479" y="8179"/>
                  </a:lnTo>
                  <a:lnTo>
                    <a:pt x="30441" y="30480"/>
                  </a:lnTo>
                  <a:lnTo>
                    <a:pt x="8167" y="63543"/>
                  </a:lnTo>
                  <a:lnTo>
                    <a:pt x="0" y="104012"/>
                  </a:lnTo>
                  <a:lnTo>
                    <a:pt x="0" y="519684"/>
                  </a:lnTo>
                  <a:lnTo>
                    <a:pt x="8167" y="560153"/>
                  </a:lnTo>
                  <a:lnTo>
                    <a:pt x="30441" y="593216"/>
                  </a:lnTo>
                  <a:lnTo>
                    <a:pt x="63479" y="615517"/>
                  </a:lnTo>
                  <a:lnTo>
                    <a:pt x="103936" y="623697"/>
                  </a:lnTo>
                  <a:lnTo>
                    <a:pt x="10129913" y="623697"/>
                  </a:lnTo>
                  <a:lnTo>
                    <a:pt x="10170363" y="615517"/>
                  </a:lnTo>
                  <a:lnTo>
                    <a:pt x="10203383" y="593216"/>
                  </a:lnTo>
                  <a:lnTo>
                    <a:pt x="10225639" y="560153"/>
                  </a:lnTo>
                  <a:lnTo>
                    <a:pt x="10233799" y="519684"/>
                  </a:lnTo>
                  <a:lnTo>
                    <a:pt x="10233799" y="104012"/>
                  </a:lnTo>
                  <a:lnTo>
                    <a:pt x="10225639" y="63543"/>
                  </a:lnTo>
                  <a:lnTo>
                    <a:pt x="10203383" y="30480"/>
                  </a:lnTo>
                  <a:lnTo>
                    <a:pt x="10170363" y="8179"/>
                  </a:lnTo>
                  <a:lnTo>
                    <a:pt x="10129913" y="0"/>
                  </a:lnTo>
                  <a:close/>
                </a:path>
              </a:pathLst>
            </a:custGeom>
            <a:solidFill>
              <a:srgbClr val="41AD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20000" y="2641726"/>
              <a:ext cx="10234295" cy="624205"/>
            </a:xfrm>
            <a:custGeom>
              <a:avLst/>
              <a:gdLst/>
              <a:ahLst/>
              <a:cxnLst/>
              <a:rect l="l" t="t" r="r" b="b"/>
              <a:pathLst>
                <a:path w="10234295" h="624204">
                  <a:moveTo>
                    <a:pt x="0" y="104012"/>
                  </a:moveTo>
                  <a:lnTo>
                    <a:pt x="8167" y="63543"/>
                  </a:lnTo>
                  <a:lnTo>
                    <a:pt x="30441" y="30480"/>
                  </a:lnTo>
                  <a:lnTo>
                    <a:pt x="63479" y="8179"/>
                  </a:lnTo>
                  <a:lnTo>
                    <a:pt x="103936" y="0"/>
                  </a:lnTo>
                  <a:lnTo>
                    <a:pt x="10129913" y="0"/>
                  </a:lnTo>
                  <a:lnTo>
                    <a:pt x="10170363" y="8179"/>
                  </a:lnTo>
                  <a:lnTo>
                    <a:pt x="10203383" y="30480"/>
                  </a:lnTo>
                  <a:lnTo>
                    <a:pt x="10225639" y="63543"/>
                  </a:lnTo>
                  <a:lnTo>
                    <a:pt x="10233799" y="104012"/>
                  </a:lnTo>
                  <a:lnTo>
                    <a:pt x="10233799" y="519684"/>
                  </a:lnTo>
                  <a:lnTo>
                    <a:pt x="10225639" y="560153"/>
                  </a:lnTo>
                  <a:lnTo>
                    <a:pt x="10203383" y="593216"/>
                  </a:lnTo>
                  <a:lnTo>
                    <a:pt x="10170363" y="615517"/>
                  </a:lnTo>
                  <a:lnTo>
                    <a:pt x="10129913" y="623697"/>
                  </a:lnTo>
                  <a:lnTo>
                    <a:pt x="103936" y="623697"/>
                  </a:lnTo>
                  <a:lnTo>
                    <a:pt x="63479" y="615517"/>
                  </a:lnTo>
                  <a:lnTo>
                    <a:pt x="30441" y="593216"/>
                  </a:lnTo>
                  <a:lnTo>
                    <a:pt x="8167" y="560153"/>
                  </a:lnTo>
                  <a:lnTo>
                    <a:pt x="0" y="519684"/>
                  </a:lnTo>
                  <a:lnTo>
                    <a:pt x="0" y="10401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113650" y="3333877"/>
            <a:ext cx="10246995" cy="636270"/>
            <a:chOff x="1113650" y="3333877"/>
            <a:chExt cx="10246995" cy="636270"/>
          </a:xfrm>
        </p:grpSpPr>
        <p:sp>
          <p:nvSpPr>
            <p:cNvPr id="7" name="object 7"/>
            <p:cNvSpPr/>
            <p:nvPr/>
          </p:nvSpPr>
          <p:spPr>
            <a:xfrm>
              <a:off x="1120000" y="3340227"/>
              <a:ext cx="10234295" cy="623570"/>
            </a:xfrm>
            <a:custGeom>
              <a:avLst/>
              <a:gdLst/>
              <a:ahLst/>
              <a:cxnLst/>
              <a:rect l="l" t="t" r="r" b="b"/>
              <a:pathLst>
                <a:path w="10234295" h="623570">
                  <a:moveTo>
                    <a:pt x="10129913" y="0"/>
                  </a:moveTo>
                  <a:lnTo>
                    <a:pt x="103936" y="0"/>
                  </a:lnTo>
                  <a:lnTo>
                    <a:pt x="63479" y="8179"/>
                  </a:lnTo>
                  <a:lnTo>
                    <a:pt x="30441" y="30480"/>
                  </a:lnTo>
                  <a:lnTo>
                    <a:pt x="8167" y="63543"/>
                  </a:lnTo>
                  <a:lnTo>
                    <a:pt x="0" y="104012"/>
                  </a:lnTo>
                  <a:lnTo>
                    <a:pt x="0" y="519684"/>
                  </a:lnTo>
                  <a:lnTo>
                    <a:pt x="8167" y="560133"/>
                  </a:lnTo>
                  <a:lnTo>
                    <a:pt x="30441" y="593153"/>
                  </a:lnTo>
                  <a:lnTo>
                    <a:pt x="63479" y="615410"/>
                  </a:lnTo>
                  <a:lnTo>
                    <a:pt x="103936" y="623570"/>
                  </a:lnTo>
                  <a:lnTo>
                    <a:pt x="10129913" y="623570"/>
                  </a:lnTo>
                  <a:lnTo>
                    <a:pt x="10170363" y="615410"/>
                  </a:lnTo>
                  <a:lnTo>
                    <a:pt x="10203383" y="593153"/>
                  </a:lnTo>
                  <a:lnTo>
                    <a:pt x="10225639" y="560133"/>
                  </a:lnTo>
                  <a:lnTo>
                    <a:pt x="10233799" y="519684"/>
                  </a:lnTo>
                  <a:lnTo>
                    <a:pt x="10233799" y="104012"/>
                  </a:lnTo>
                  <a:lnTo>
                    <a:pt x="10225639" y="63543"/>
                  </a:lnTo>
                  <a:lnTo>
                    <a:pt x="10203383" y="30480"/>
                  </a:lnTo>
                  <a:lnTo>
                    <a:pt x="10170363" y="8179"/>
                  </a:lnTo>
                  <a:lnTo>
                    <a:pt x="10129913" y="0"/>
                  </a:lnTo>
                  <a:close/>
                </a:path>
              </a:pathLst>
            </a:custGeom>
            <a:solidFill>
              <a:srgbClr val="41AD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20000" y="3340227"/>
              <a:ext cx="10234295" cy="623570"/>
            </a:xfrm>
            <a:custGeom>
              <a:avLst/>
              <a:gdLst/>
              <a:ahLst/>
              <a:cxnLst/>
              <a:rect l="l" t="t" r="r" b="b"/>
              <a:pathLst>
                <a:path w="10234295" h="623570">
                  <a:moveTo>
                    <a:pt x="0" y="104012"/>
                  </a:moveTo>
                  <a:lnTo>
                    <a:pt x="8167" y="63543"/>
                  </a:lnTo>
                  <a:lnTo>
                    <a:pt x="30441" y="30480"/>
                  </a:lnTo>
                  <a:lnTo>
                    <a:pt x="63479" y="8179"/>
                  </a:lnTo>
                  <a:lnTo>
                    <a:pt x="103936" y="0"/>
                  </a:lnTo>
                  <a:lnTo>
                    <a:pt x="10129913" y="0"/>
                  </a:lnTo>
                  <a:lnTo>
                    <a:pt x="10170363" y="8179"/>
                  </a:lnTo>
                  <a:lnTo>
                    <a:pt x="10203383" y="30480"/>
                  </a:lnTo>
                  <a:lnTo>
                    <a:pt x="10225639" y="63543"/>
                  </a:lnTo>
                  <a:lnTo>
                    <a:pt x="10233799" y="104012"/>
                  </a:lnTo>
                  <a:lnTo>
                    <a:pt x="10233799" y="519684"/>
                  </a:lnTo>
                  <a:lnTo>
                    <a:pt x="10225639" y="560133"/>
                  </a:lnTo>
                  <a:lnTo>
                    <a:pt x="10203383" y="593153"/>
                  </a:lnTo>
                  <a:lnTo>
                    <a:pt x="10170363" y="615410"/>
                  </a:lnTo>
                  <a:lnTo>
                    <a:pt x="10129913" y="623570"/>
                  </a:lnTo>
                  <a:lnTo>
                    <a:pt x="103936" y="623570"/>
                  </a:lnTo>
                  <a:lnTo>
                    <a:pt x="63479" y="615410"/>
                  </a:lnTo>
                  <a:lnTo>
                    <a:pt x="30441" y="593153"/>
                  </a:lnTo>
                  <a:lnTo>
                    <a:pt x="8167" y="560133"/>
                  </a:lnTo>
                  <a:lnTo>
                    <a:pt x="0" y="519684"/>
                  </a:lnTo>
                  <a:lnTo>
                    <a:pt x="0" y="104012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113650" y="4032377"/>
            <a:ext cx="10246995" cy="636270"/>
            <a:chOff x="1113650" y="4032377"/>
            <a:chExt cx="10246995" cy="636270"/>
          </a:xfrm>
        </p:grpSpPr>
        <p:sp>
          <p:nvSpPr>
            <p:cNvPr id="10" name="object 10"/>
            <p:cNvSpPr/>
            <p:nvPr/>
          </p:nvSpPr>
          <p:spPr>
            <a:xfrm>
              <a:off x="1120000" y="4038727"/>
              <a:ext cx="10234295" cy="623570"/>
            </a:xfrm>
            <a:custGeom>
              <a:avLst/>
              <a:gdLst/>
              <a:ahLst/>
              <a:cxnLst/>
              <a:rect l="l" t="t" r="r" b="b"/>
              <a:pathLst>
                <a:path w="10234295" h="623570">
                  <a:moveTo>
                    <a:pt x="10129913" y="0"/>
                  </a:moveTo>
                  <a:lnTo>
                    <a:pt x="103936" y="0"/>
                  </a:lnTo>
                  <a:lnTo>
                    <a:pt x="63479" y="8159"/>
                  </a:lnTo>
                  <a:lnTo>
                    <a:pt x="30441" y="30416"/>
                  </a:lnTo>
                  <a:lnTo>
                    <a:pt x="8167" y="63436"/>
                  </a:lnTo>
                  <a:lnTo>
                    <a:pt x="0" y="103886"/>
                  </a:lnTo>
                  <a:lnTo>
                    <a:pt x="0" y="519684"/>
                  </a:lnTo>
                  <a:lnTo>
                    <a:pt x="8167" y="560133"/>
                  </a:lnTo>
                  <a:lnTo>
                    <a:pt x="30441" y="593153"/>
                  </a:lnTo>
                  <a:lnTo>
                    <a:pt x="63479" y="615410"/>
                  </a:lnTo>
                  <a:lnTo>
                    <a:pt x="103936" y="623570"/>
                  </a:lnTo>
                  <a:lnTo>
                    <a:pt x="10129913" y="623570"/>
                  </a:lnTo>
                  <a:lnTo>
                    <a:pt x="10170363" y="615410"/>
                  </a:lnTo>
                  <a:lnTo>
                    <a:pt x="10203383" y="593153"/>
                  </a:lnTo>
                  <a:lnTo>
                    <a:pt x="10225639" y="560133"/>
                  </a:lnTo>
                  <a:lnTo>
                    <a:pt x="10233799" y="519684"/>
                  </a:lnTo>
                  <a:lnTo>
                    <a:pt x="10233799" y="103886"/>
                  </a:lnTo>
                  <a:lnTo>
                    <a:pt x="10225639" y="63436"/>
                  </a:lnTo>
                  <a:lnTo>
                    <a:pt x="10203383" y="30416"/>
                  </a:lnTo>
                  <a:lnTo>
                    <a:pt x="10170363" y="8159"/>
                  </a:lnTo>
                  <a:lnTo>
                    <a:pt x="10129913" y="0"/>
                  </a:lnTo>
                  <a:close/>
                </a:path>
              </a:pathLst>
            </a:custGeom>
            <a:solidFill>
              <a:srgbClr val="41AD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120000" y="4038727"/>
              <a:ext cx="10234295" cy="623570"/>
            </a:xfrm>
            <a:custGeom>
              <a:avLst/>
              <a:gdLst/>
              <a:ahLst/>
              <a:cxnLst/>
              <a:rect l="l" t="t" r="r" b="b"/>
              <a:pathLst>
                <a:path w="10234295" h="623570">
                  <a:moveTo>
                    <a:pt x="0" y="103886"/>
                  </a:moveTo>
                  <a:lnTo>
                    <a:pt x="8167" y="63436"/>
                  </a:lnTo>
                  <a:lnTo>
                    <a:pt x="30441" y="30416"/>
                  </a:lnTo>
                  <a:lnTo>
                    <a:pt x="63479" y="8159"/>
                  </a:lnTo>
                  <a:lnTo>
                    <a:pt x="103936" y="0"/>
                  </a:lnTo>
                  <a:lnTo>
                    <a:pt x="10129913" y="0"/>
                  </a:lnTo>
                  <a:lnTo>
                    <a:pt x="10170363" y="8159"/>
                  </a:lnTo>
                  <a:lnTo>
                    <a:pt x="10203383" y="30416"/>
                  </a:lnTo>
                  <a:lnTo>
                    <a:pt x="10225639" y="63436"/>
                  </a:lnTo>
                  <a:lnTo>
                    <a:pt x="10233799" y="103886"/>
                  </a:lnTo>
                  <a:lnTo>
                    <a:pt x="10233799" y="519684"/>
                  </a:lnTo>
                  <a:lnTo>
                    <a:pt x="10225639" y="560133"/>
                  </a:lnTo>
                  <a:lnTo>
                    <a:pt x="10203383" y="593153"/>
                  </a:lnTo>
                  <a:lnTo>
                    <a:pt x="10170363" y="615410"/>
                  </a:lnTo>
                  <a:lnTo>
                    <a:pt x="10129913" y="623570"/>
                  </a:lnTo>
                  <a:lnTo>
                    <a:pt x="103936" y="623570"/>
                  </a:lnTo>
                  <a:lnTo>
                    <a:pt x="63479" y="615410"/>
                  </a:lnTo>
                  <a:lnTo>
                    <a:pt x="30441" y="593153"/>
                  </a:lnTo>
                  <a:lnTo>
                    <a:pt x="8167" y="560133"/>
                  </a:lnTo>
                  <a:lnTo>
                    <a:pt x="0" y="519684"/>
                  </a:lnTo>
                  <a:lnTo>
                    <a:pt x="0" y="103886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1113650" y="4730877"/>
            <a:ext cx="10246995" cy="636270"/>
            <a:chOff x="1113650" y="4730877"/>
            <a:chExt cx="10246995" cy="636270"/>
          </a:xfrm>
        </p:grpSpPr>
        <p:sp>
          <p:nvSpPr>
            <p:cNvPr id="13" name="object 13"/>
            <p:cNvSpPr/>
            <p:nvPr/>
          </p:nvSpPr>
          <p:spPr>
            <a:xfrm>
              <a:off x="1120000" y="4737227"/>
              <a:ext cx="10234295" cy="623570"/>
            </a:xfrm>
            <a:custGeom>
              <a:avLst/>
              <a:gdLst/>
              <a:ahLst/>
              <a:cxnLst/>
              <a:rect l="l" t="t" r="r" b="b"/>
              <a:pathLst>
                <a:path w="10234295" h="623570">
                  <a:moveTo>
                    <a:pt x="10129913" y="0"/>
                  </a:moveTo>
                  <a:lnTo>
                    <a:pt x="103936" y="0"/>
                  </a:lnTo>
                  <a:lnTo>
                    <a:pt x="63479" y="8159"/>
                  </a:lnTo>
                  <a:lnTo>
                    <a:pt x="30441" y="30416"/>
                  </a:lnTo>
                  <a:lnTo>
                    <a:pt x="8167" y="63436"/>
                  </a:lnTo>
                  <a:lnTo>
                    <a:pt x="0" y="103886"/>
                  </a:lnTo>
                  <a:lnTo>
                    <a:pt x="0" y="519684"/>
                  </a:lnTo>
                  <a:lnTo>
                    <a:pt x="8167" y="560133"/>
                  </a:lnTo>
                  <a:lnTo>
                    <a:pt x="30441" y="593153"/>
                  </a:lnTo>
                  <a:lnTo>
                    <a:pt x="63479" y="615410"/>
                  </a:lnTo>
                  <a:lnTo>
                    <a:pt x="103936" y="623570"/>
                  </a:lnTo>
                  <a:lnTo>
                    <a:pt x="10129913" y="623570"/>
                  </a:lnTo>
                  <a:lnTo>
                    <a:pt x="10170363" y="615410"/>
                  </a:lnTo>
                  <a:lnTo>
                    <a:pt x="10203383" y="593153"/>
                  </a:lnTo>
                  <a:lnTo>
                    <a:pt x="10225639" y="560133"/>
                  </a:lnTo>
                  <a:lnTo>
                    <a:pt x="10233799" y="519684"/>
                  </a:lnTo>
                  <a:lnTo>
                    <a:pt x="10233799" y="103886"/>
                  </a:lnTo>
                  <a:lnTo>
                    <a:pt x="10225639" y="63436"/>
                  </a:lnTo>
                  <a:lnTo>
                    <a:pt x="10203383" y="30416"/>
                  </a:lnTo>
                  <a:lnTo>
                    <a:pt x="10170363" y="8159"/>
                  </a:lnTo>
                  <a:lnTo>
                    <a:pt x="10129913" y="0"/>
                  </a:lnTo>
                  <a:close/>
                </a:path>
              </a:pathLst>
            </a:custGeom>
            <a:solidFill>
              <a:srgbClr val="41AD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120000" y="4737227"/>
              <a:ext cx="10234295" cy="623570"/>
            </a:xfrm>
            <a:custGeom>
              <a:avLst/>
              <a:gdLst/>
              <a:ahLst/>
              <a:cxnLst/>
              <a:rect l="l" t="t" r="r" b="b"/>
              <a:pathLst>
                <a:path w="10234295" h="623570">
                  <a:moveTo>
                    <a:pt x="0" y="103886"/>
                  </a:moveTo>
                  <a:lnTo>
                    <a:pt x="8167" y="63436"/>
                  </a:lnTo>
                  <a:lnTo>
                    <a:pt x="30441" y="30416"/>
                  </a:lnTo>
                  <a:lnTo>
                    <a:pt x="63479" y="8159"/>
                  </a:lnTo>
                  <a:lnTo>
                    <a:pt x="103936" y="0"/>
                  </a:lnTo>
                  <a:lnTo>
                    <a:pt x="10129913" y="0"/>
                  </a:lnTo>
                  <a:lnTo>
                    <a:pt x="10170363" y="8159"/>
                  </a:lnTo>
                  <a:lnTo>
                    <a:pt x="10203383" y="30416"/>
                  </a:lnTo>
                  <a:lnTo>
                    <a:pt x="10225639" y="63436"/>
                  </a:lnTo>
                  <a:lnTo>
                    <a:pt x="10233799" y="103886"/>
                  </a:lnTo>
                  <a:lnTo>
                    <a:pt x="10233799" y="519684"/>
                  </a:lnTo>
                  <a:lnTo>
                    <a:pt x="10225639" y="560133"/>
                  </a:lnTo>
                  <a:lnTo>
                    <a:pt x="10203383" y="593153"/>
                  </a:lnTo>
                  <a:lnTo>
                    <a:pt x="10170363" y="615410"/>
                  </a:lnTo>
                  <a:lnTo>
                    <a:pt x="10129913" y="623570"/>
                  </a:lnTo>
                  <a:lnTo>
                    <a:pt x="103936" y="623570"/>
                  </a:lnTo>
                  <a:lnTo>
                    <a:pt x="63479" y="615410"/>
                  </a:lnTo>
                  <a:lnTo>
                    <a:pt x="30441" y="593153"/>
                  </a:lnTo>
                  <a:lnTo>
                    <a:pt x="8167" y="560133"/>
                  </a:lnTo>
                  <a:lnTo>
                    <a:pt x="0" y="519684"/>
                  </a:lnTo>
                  <a:lnTo>
                    <a:pt x="0" y="103886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236980" y="2703398"/>
            <a:ext cx="9782810" cy="25190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dirty="0">
                <a:solidFill>
                  <a:srgbClr val="FFFFFF"/>
                </a:solidFill>
                <a:latin typeface="Corbel"/>
                <a:cs typeface="Corbel"/>
              </a:rPr>
              <a:t>Оператор:</a:t>
            </a:r>
            <a:r>
              <a:rPr sz="2600" b="1" spc="-5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600" dirty="0">
                <a:solidFill>
                  <a:srgbClr val="FFFFFF"/>
                </a:solidFill>
                <a:latin typeface="Corbel"/>
                <a:cs typeface="Corbel"/>
              </a:rPr>
              <a:t>Deutsches</a:t>
            </a:r>
            <a:r>
              <a:rPr sz="2600" spc="-4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rbel"/>
                <a:cs typeface="Corbel"/>
              </a:rPr>
              <a:t>Klimarechenzentrum</a:t>
            </a:r>
            <a:r>
              <a:rPr sz="2600" spc="-12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600" dirty="0">
                <a:solidFill>
                  <a:srgbClr val="FFFFFF"/>
                </a:solidFill>
                <a:latin typeface="Corbel"/>
                <a:cs typeface="Corbel"/>
              </a:rPr>
              <a:t>GmbH</a:t>
            </a:r>
            <a:r>
              <a:rPr sz="2600" spc="-4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rbel"/>
                <a:cs typeface="Corbel"/>
              </a:rPr>
              <a:t>(DKRZ)</a:t>
            </a:r>
            <a:endParaRPr sz="26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2385"/>
              </a:spcBef>
            </a:pPr>
            <a:r>
              <a:rPr sz="2600" b="1" dirty="0">
                <a:solidFill>
                  <a:srgbClr val="FFFFFF"/>
                </a:solidFill>
                <a:latin typeface="Corbel"/>
                <a:cs typeface="Corbel"/>
              </a:rPr>
              <a:t>Юридический</a:t>
            </a:r>
            <a:r>
              <a:rPr sz="2600" b="1" spc="-5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600" b="1" spc="-10" dirty="0">
                <a:solidFill>
                  <a:srgbClr val="FFFFFF"/>
                </a:solidFill>
                <a:latin typeface="Corbel"/>
                <a:cs typeface="Corbel"/>
              </a:rPr>
              <a:t>статус:</a:t>
            </a:r>
            <a:r>
              <a:rPr sz="2600" b="1" spc="-8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rbel"/>
                <a:cs typeface="Corbel"/>
              </a:rPr>
              <a:t>Некоммерческая</a:t>
            </a:r>
            <a:r>
              <a:rPr sz="2600" spc="-6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600" dirty="0">
                <a:solidFill>
                  <a:srgbClr val="FFFFFF"/>
                </a:solidFill>
                <a:latin typeface="Corbel"/>
                <a:cs typeface="Corbel"/>
              </a:rPr>
              <a:t>организация</a:t>
            </a:r>
            <a:r>
              <a:rPr sz="2600" spc="-4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600" dirty="0">
                <a:solidFill>
                  <a:srgbClr val="FFFFFF"/>
                </a:solidFill>
                <a:latin typeface="Corbel"/>
                <a:cs typeface="Corbel"/>
              </a:rPr>
              <a:t>(Non</a:t>
            </a:r>
            <a:r>
              <a:rPr sz="2600" spc="-5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600" dirty="0">
                <a:solidFill>
                  <a:srgbClr val="FFFFFF"/>
                </a:solidFill>
                <a:latin typeface="Corbel"/>
                <a:cs typeface="Corbel"/>
              </a:rPr>
              <a:t>For</a:t>
            </a:r>
            <a:r>
              <a:rPr sz="2600" spc="-5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rbel"/>
                <a:cs typeface="Corbel"/>
              </a:rPr>
              <a:t>Profit)</a:t>
            </a:r>
            <a:endParaRPr sz="26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2380"/>
              </a:spcBef>
            </a:pPr>
            <a:r>
              <a:rPr sz="2600" b="1" spc="-10" dirty="0">
                <a:solidFill>
                  <a:srgbClr val="FFFFFF"/>
                </a:solidFill>
                <a:latin typeface="Corbel"/>
                <a:cs typeface="Corbel"/>
              </a:rPr>
              <a:t>Контакты:</a:t>
            </a:r>
            <a:r>
              <a:rPr sz="2600" b="1" spc="-13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600" dirty="0">
                <a:solidFill>
                  <a:srgbClr val="FFFFFF"/>
                </a:solidFill>
                <a:latin typeface="Corbel"/>
                <a:cs typeface="Corbel"/>
              </a:rPr>
              <a:t>Andrea</a:t>
            </a:r>
            <a:r>
              <a:rPr sz="2600" spc="-5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600" dirty="0">
                <a:solidFill>
                  <a:srgbClr val="FFFFFF"/>
                </a:solidFill>
                <a:latin typeface="Corbel"/>
                <a:cs typeface="Corbel"/>
              </a:rPr>
              <a:t>Lammert,</a:t>
            </a:r>
            <a:r>
              <a:rPr sz="2600" spc="-4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600" dirty="0">
                <a:solidFill>
                  <a:srgbClr val="FFFFFF"/>
                </a:solidFill>
                <a:latin typeface="Corbel"/>
                <a:cs typeface="Corbel"/>
              </a:rPr>
              <a:t>E.</a:t>
            </a:r>
            <a:r>
              <a:rPr sz="2600" spc="-2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600" dirty="0">
                <a:solidFill>
                  <a:srgbClr val="FFFFFF"/>
                </a:solidFill>
                <a:latin typeface="Corbel"/>
                <a:cs typeface="Corbel"/>
              </a:rPr>
              <a:t>Hertwig,</a:t>
            </a:r>
            <a:r>
              <a:rPr sz="2600" spc="-1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600" dirty="0">
                <a:solidFill>
                  <a:srgbClr val="FFFFFF"/>
                </a:solidFill>
                <a:latin typeface="Corbel"/>
                <a:cs typeface="Corbel"/>
              </a:rPr>
              <a:t>B.</a:t>
            </a:r>
            <a:r>
              <a:rPr sz="2600" spc="-2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600" dirty="0">
                <a:solidFill>
                  <a:srgbClr val="FFFFFF"/>
                </a:solidFill>
                <a:latin typeface="Corbel"/>
                <a:cs typeface="Corbel"/>
              </a:rPr>
              <a:t>Krüss</a:t>
            </a:r>
            <a:r>
              <a:rPr sz="2600" spc="-2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rbel"/>
                <a:cs typeface="Corbel"/>
              </a:rPr>
              <a:t>(представители)</a:t>
            </a:r>
            <a:endParaRPr sz="26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2380"/>
              </a:spcBef>
            </a:pPr>
            <a:r>
              <a:rPr sz="2600" b="1" dirty="0">
                <a:solidFill>
                  <a:srgbClr val="FFFFFF"/>
                </a:solidFill>
                <a:latin typeface="Corbel"/>
                <a:cs typeface="Corbel"/>
              </a:rPr>
              <a:t>Научный</a:t>
            </a:r>
            <a:r>
              <a:rPr sz="2600" b="1" spc="-7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Corbel"/>
                <a:cs typeface="Corbel"/>
              </a:rPr>
              <a:t>домен:</a:t>
            </a:r>
            <a:r>
              <a:rPr sz="2600" b="1" spc="-8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600" dirty="0">
                <a:solidFill>
                  <a:srgbClr val="FFFFFF"/>
                </a:solidFill>
                <a:latin typeface="Corbel"/>
                <a:cs typeface="Corbel"/>
              </a:rPr>
              <a:t>Earth</a:t>
            </a:r>
            <a:r>
              <a:rPr sz="2600" spc="-6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600" dirty="0">
                <a:solidFill>
                  <a:srgbClr val="FFFFFF"/>
                </a:solidFill>
                <a:latin typeface="Corbel"/>
                <a:cs typeface="Corbel"/>
              </a:rPr>
              <a:t>&amp;</a:t>
            </a:r>
            <a:r>
              <a:rPr sz="2600" spc="-6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600" dirty="0">
                <a:solidFill>
                  <a:srgbClr val="FFFFFF"/>
                </a:solidFill>
                <a:latin typeface="Corbel"/>
                <a:cs typeface="Corbel"/>
              </a:rPr>
              <a:t>Related</a:t>
            </a:r>
            <a:r>
              <a:rPr sz="2600" spc="-6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600" dirty="0">
                <a:solidFill>
                  <a:srgbClr val="FFFFFF"/>
                </a:solidFill>
                <a:latin typeface="Corbel"/>
                <a:cs typeface="Corbel"/>
              </a:rPr>
              <a:t>Environmental</a:t>
            </a:r>
            <a:r>
              <a:rPr sz="2600" spc="-114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rbel"/>
                <a:cs typeface="Corbel"/>
              </a:rPr>
              <a:t>Sciences</a:t>
            </a:r>
            <a:endParaRPr sz="26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66032" y="0"/>
              <a:ext cx="812584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4154424" cy="6858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4067683" cy="6857996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726744" y="1279093"/>
            <a:ext cx="2668270" cy="130111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 indent="93980">
              <a:lnSpc>
                <a:spcPts val="4750"/>
              </a:lnSpc>
              <a:spcBef>
                <a:spcPts val="705"/>
              </a:spcBef>
            </a:pPr>
            <a:r>
              <a:rPr sz="4400" b="1" spc="-30" dirty="0">
                <a:solidFill>
                  <a:srgbClr val="FFFFFF"/>
                </a:solidFill>
                <a:latin typeface="Corbel"/>
                <a:cs typeface="Corbel"/>
              </a:rPr>
              <a:t>Структура </a:t>
            </a:r>
            <a:r>
              <a:rPr sz="4400" b="1" dirty="0">
                <a:solidFill>
                  <a:srgbClr val="FFFFFF"/>
                </a:solidFill>
                <a:latin typeface="Corbel"/>
                <a:cs typeface="Corbel"/>
              </a:rPr>
              <a:t>и</a:t>
            </a:r>
            <a:r>
              <a:rPr sz="4400" b="1" spc="-3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4400" b="1" spc="-10" dirty="0">
                <a:solidFill>
                  <a:srgbClr val="FFFFFF"/>
                </a:solidFill>
                <a:latin typeface="Corbel"/>
                <a:cs typeface="Corbel"/>
              </a:rPr>
              <a:t>сервисы</a:t>
            </a:r>
            <a:endParaRPr sz="4400">
              <a:latin typeface="Corbel"/>
              <a:cs typeface="Corbe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662042" y="640715"/>
            <a:ext cx="6912609" cy="0"/>
          </a:xfrm>
          <a:custGeom>
            <a:avLst/>
            <a:gdLst/>
            <a:ahLst/>
            <a:cxnLst/>
            <a:rect l="l" t="t" r="r" b="b"/>
            <a:pathLst>
              <a:path w="6912609">
                <a:moveTo>
                  <a:pt x="0" y="0"/>
                </a:moveTo>
                <a:lnTo>
                  <a:pt x="6912356" y="0"/>
                </a:lnTo>
              </a:path>
            </a:pathLst>
          </a:custGeom>
          <a:ln w="6350">
            <a:solidFill>
              <a:srgbClr val="455F5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768088" y="679449"/>
            <a:ext cx="4295140" cy="497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100" b="1" spc="-10" dirty="0">
                <a:latin typeface="Corbel"/>
                <a:cs typeface="Corbel"/>
              </a:rPr>
              <a:t>Публикация</a:t>
            </a:r>
            <a:r>
              <a:rPr sz="3100" b="1" spc="-100" dirty="0">
                <a:latin typeface="Corbel"/>
                <a:cs typeface="Corbel"/>
              </a:rPr>
              <a:t> </a:t>
            </a:r>
            <a:r>
              <a:rPr sz="3100" b="1" dirty="0">
                <a:latin typeface="Corbel"/>
                <a:cs typeface="Corbel"/>
              </a:rPr>
              <a:t>данных</a:t>
            </a:r>
            <a:r>
              <a:rPr sz="3100" b="1" spc="-100" dirty="0">
                <a:latin typeface="Corbel"/>
                <a:cs typeface="Corbel"/>
              </a:rPr>
              <a:t> </a:t>
            </a:r>
            <a:r>
              <a:rPr sz="3100" spc="-25" dirty="0"/>
              <a:t>для</a:t>
            </a:r>
            <a:endParaRPr sz="3100">
              <a:latin typeface="Corbel"/>
              <a:cs typeface="Corbe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68088" y="1112266"/>
            <a:ext cx="5720715" cy="497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100" spc="-30" dirty="0">
                <a:solidFill>
                  <a:srgbClr val="FFFFFF"/>
                </a:solidFill>
                <a:latin typeface="Corbel"/>
                <a:cs typeface="Corbel"/>
              </a:rPr>
              <a:t>исследователей-</a:t>
            </a:r>
            <a:r>
              <a:rPr sz="3100" spc="-10" dirty="0">
                <a:solidFill>
                  <a:srgbClr val="FFFFFF"/>
                </a:solidFill>
                <a:latin typeface="Corbel"/>
                <a:cs typeface="Corbel"/>
              </a:rPr>
              <a:t>производителей</a:t>
            </a:r>
            <a:endParaRPr sz="3100">
              <a:latin typeface="Corbel"/>
              <a:cs typeface="Corbe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662042" y="1747901"/>
            <a:ext cx="6912609" cy="0"/>
          </a:xfrm>
          <a:custGeom>
            <a:avLst/>
            <a:gdLst/>
            <a:ahLst/>
            <a:cxnLst/>
            <a:rect l="l" t="t" r="r" b="b"/>
            <a:pathLst>
              <a:path w="6912609">
                <a:moveTo>
                  <a:pt x="0" y="0"/>
                </a:moveTo>
                <a:lnTo>
                  <a:pt x="6912356" y="0"/>
                </a:lnTo>
              </a:path>
            </a:pathLst>
          </a:custGeom>
          <a:ln w="6350">
            <a:solidFill>
              <a:srgbClr val="455F5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768088" y="1786889"/>
            <a:ext cx="5809615" cy="930275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 marR="5080">
              <a:lnSpc>
                <a:spcPts val="3410"/>
              </a:lnSpc>
              <a:spcBef>
                <a:spcPts val="465"/>
              </a:spcBef>
            </a:pPr>
            <a:r>
              <a:rPr sz="3100" b="1" dirty="0">
                <a:solidFill>
                  <a:srgbClr val="FFFFFF"/>
                </a:solidFill>
                <a:latin typeface="Corbel"/>
                <a:cs typeface="Corbel"/>
              </a:rPr>
              <a:t>Доступ</a:t>
            </a:r>
            <a:r>
              <a:rPr sz="3100" b="1" spc="-7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100" b="1" dirty="0">
                <a:solidFill>
                  <a:srgbClr val="FFFFFF"/>
                </a:solidFill>
                <a:latin typeface="Corbel"/>
                <a:cs typeface="Corbel"/>
              </a:rPr>
              <a:t>к</a:t>
            </a:r>
            <a:r>
              <a:rPr sz="3100" b="1" spc="-6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100" b="1" dirty="0">
                <a:solidFill>
                  <a:srgbClr val="FFFFFF"/>
                </a:solidFill>
                <a:latin typeface="Corbel"/>
                <a:cs typeface="Corbel"/>
              </a:rPr>
              <a:t>данным</a:t>
            </a:r>
            <a:r>
              <a:rPr sz="3100" b="1" spc="-6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100" dirty="0">
                <a:solidFill>
                  <a:srgbClr val="FFFFFF"/>
                </a:solidFill>
                <a:latin typeface="Corbel"/>
                <a:cs typeface="Corbel"/>
              </a:rPr>
              <a:t>для</a:t>
            </a:r>
            <a:r>
              <a:rPr sz="3100" spc="-6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100" spc="-10" dirty="0">
                <a:solidFill>
                  <a:srgbClr val="FFFFFF"/>
                </a:solidFill>
                <a:latin typeface="Corbel"/>
                <a:cs typeface="Corbel"/>
              </a:rPr>
              <a:t>вторичного использования</a:t>
            </a:r>
            <a:endParaRPr sz="3100">
              <a:latin typeface="Corbel"/>
              <a:cs typeface="Corbe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662042" y="2854960"/>
            <a:ext cx="6912609" cy="2214245"/>
          </a:xfrm>
          <a:custGeom>
            <a:avLst/>
            <a:gdLst/>
            <a:ahLst/>
            <a:cxnLst/>
            <a:rect l="l" t="t" r="r" b="b"/>
            <a:pathLst>
              <a:path w="6912609" h="2214245">
                <a:moveTo>
                  <a:pt x="0" y="0"/>
                </a:moveTo>
                <a:lnTo>
                  <a:pt x="6912356" y="0"/>
                </a:lnTo>
              </a:path>
              <a:path w="6912609" h="2214245">
                <a:moveTo>
                  <a:pt x="0" y="1107058"/>
                </a:moveTo>
                <a:lnTo>
                  <a:pt x="6912356" y="1107058"/>
                </a:lnTo>
              </a:path>
              <a:path w="6912609" h="2214245">
                <a:moveTo>
                  <a:pt x="0" y="2214245"/>
                </a:moveTo>
                <a:lnTo>
                  <a:pt x="6912356" y="2214245"/>
                </a:lnTo>
              </a:path>
            </a:pathLst>
          </a:custGeom>
          <a:ln w="6350">
            <a:solidFill>
              <a:srgbClr val="455F5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768088" y="2894202"/>
            <a:ext cx="6309995" cy="31451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100" b="1" spc="-20" dirty="0">
                <a:solidFill>
                  <a:srgbClr val="FFFFFF"/>
                </a:solidFill>
                <a:latin typeface="Corbel"/>
                <a:cs typeface="Corbel"/>
              </a:rPr>
              <a:t>Курация</a:t>
            </a:r>
            <a:r>
              <a:rPr sz="3100" b="1" spc="-8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100" b="1" dirty="0">
                <a:solidFill>
                  <a:srgbClr val="FFFFFF"/>
                </a:solidFill>
                <a:latin typeface="Corbel"/>
                <a:cs typeface="Corbel"/>
              </a:rPr>
              <a:t>и</a:t>
            </a:r>
            <a:r>
              <a:rPr sz="3100" b="1" spc="-8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100" b="1" dirty="0">
                <a:solidFill>
                  <a:srgbClr val="FFFFFF"/>
                </a:solidFill>
                <a:latin typeface="Corbel"/>
                <a:cs typeface="Corbel"/>
              </a:rPr>
              <a:t>проверка</a:t>
            </a:r>
            <a:r>
              <a:rPr sz="3100" b="1" spc="-8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100" spc="-10" dirty="0">
                <a:solidFill>
                  <a:srgbClr val="FFFFFF"/>
                </a:solidFill>
                <a:latin typeface="Corbel"/>
                <a:cs typeface="Corbel"/>
              </a:rPr>
              <a:t>метаданных</a:t>
            </a:r>
            <a:endParaRPr sz="3100">
              <a:latin typeface="Corbel"/>
              <a:cs typeface="Corbel"/>
            </a:endParaRPr>
          </a:p>
          <a:p>
            <a:pPr>
              <a:lnSpc>
                <a:spcPct val="100000"/>
              </a:lnSpc>
              <a:spcBef>
                <a:spcPts val="1215"/>
              </a:spcBef>
            </a:pPr>
            <a:endParaRPr sz="31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</a:pPr>
            <a:r>
              <a:rPr sz="3100" b="1" spc="-30" dirty="0">
                <a:solidFill>
                  <a:srgbClr val="FFFFFF"/>
                </a:solidFill>
                <a:latin typeface="Corbel"/>
                <a:cs typeface="Corbel"/>
              </a:rPr>
              <a:t>Стандартизация</a:t>
            </a:r>
            <a:r>
              <a:rPr sz="3100" b="1" spc="3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100" spc="-25" dirty="0">
                <a:solidFill>
                  <a:srgbClr val="FFFFFF"/>
                </a:solidFill>
                <a:latin typeface="Corbel"/>
                <a:cs typeface="Corbel"/>
              </a:rPr>
              <a:t>NetCDF-</a:t>
            </a:r>
            <a:r>
              <a:rPr sz="3100" spc="-10" dirty="0">
                <a:solidFill>
                  <a:srgbClr val="FFFFFF"/>
                </a:solidFill>
                <a:latin typeface="Corbel"/>
                <a:cs typeface="Corbel"/>
              </a:rPr>
              <a:t>заголовков</a:t>
            </a:r>
            <a:endParaRPr sz="3100">
              <a:latin typeface="Corbel"/>
              <a:cs typeface="Corbel"/>
            </a:endParaRPr>
          </a:p>
          <a:p>
            <a:pPr>
              <a:lnSpc>
                <a:spcPct val="100000"/>
              </a:lnSpc>
              <a:spcBef>
                <a:spcPts val="1585"/>
              </a:spcBef>
            </a:pPr>
            <a:endParaRPr sz="3100">
              <a:latin typeface="Corbel"/>
              <a:cs typeface="Corbel"/>
            </a:endParaRPr>
          </a:p>
          <a:p>
            <a:pPr marL="12700" marR="1329055">
              <a:lnSpc>
                <a:spcPts val="3410"/>
              </a:lnSpc>
            </a:pPr>
            <a:r>
              <a:rPr sz="3100" b="1" spc="-20" dirty="0">
                <a:solidFill>
                  <a:srgbClr val="FFFFFF"/>
                </a:solidFill>
                <a:latin typeface="Corbel"/>
                <a:cs typeface="Corbel"/>
              </a:rPr>
              <a:t>Веб-</a:t>
            </a:r>
            <a:r>
              <a:rPr sz="3100" b="1" spc="-10" dirty="0">
                <a:solidFill>
                  <a:srgbClr val="FFFFFF"/>
                </a:solidFill>
                <a:latin typeface="Corbel"/>
                <a:cs typeface="Corbel"/>
              </a:rPr>
              <a:t>интерфейс</a:t>
            </a:r>
            <a:r>
              <a:rPr sz="3100" b="1" spc="-5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100" dirty="0">
                <a:solidFill>
                  <a:srgbClr val="FFFFFF"/>
                </a:solidFill>
                <a:latin typeface="Corbel"/>
                <a:cs typeface="Corbel"/>
              </a:rPr>
              <a:t>для</a:t>
            </a:r>
            <a:r>
              <a:rPr sz="3100" spc="-5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100" dirty="0">
                <a:solidFill>
                  <a:srgbClr val="FFFFFF"/>
                </a:solidFill>
                <a:latin typeface="Corbel"/>
                <a:cs typeface="Corbel"/>
              </a:rPr>
              <a:t>поиска</a:t>
            </a:r>
            <a:r>
              <a:rPr sz="3100" spc="-5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3100" spc="-50" dirty="0">
                <a:solidFill>
                  <a:srgbClr val="FFFFFF"/>
                </a:solidFill>
                <a:latin typeface="Corbel"/>
                <a:cs typeface="Corbel"/>
              </a:rPr>
              <a:t>и </a:t>
            </a:r>
            <a:r>
              <a:rPr sz="3100" spc="-10" dirty="0">
                <a:solidFill>
                  <a:srgbClr val="FFFFFF"/>
                </a:solidFill>
                <a:latin typeface="Corbel"/>
                <a:cs typeface="Corbel"/>
              </a:rPr>
              <a:t>скачивания</a:t>
            </a:r>
            <a:endParaRPr sz="31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191" y="0"/>
            <a:ext cx="12179935" cy="6858000"/>
            <a:chOff x="12191" y="0"/>
            <a:chExt cx="12179935" cy="685800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191" y="0"/>
              <a:ext cx="8117635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39099" y="0"/>
              <a:ext cx="4152900" cy="6858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29905" y="0"/>
              <a:ext cx="4062095" cy="6857996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709406" y="1279093"/>
            <a:ext cx="2644140" cy="130111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sz="4400" b="1" spc="-10" dirty="0">
                <a:latin typeface="Corbel"/>
                <a:cs typeface="Corbel"/>
              </a:rPr>
              <a:t>Принципы работы</a:t>
            </a:r>
            <a:endParaRPr sz="4400">
              <a:latin typeface="Corbel"/>
              <a:cs typeface="Corbel"/>
            </a:endParaRPr>
          </a:p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7291" y="673100"/>
            <a:ext cx="6862533" cy="103428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64235" y="758697"/>
            <a:ext cx="5356225" cy="78549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 marR="5080">
              <a:lnSpc>
                <a:spcPts val="2860"/>
              </a:lnSpc>
              <a:spcBef>
                <a:spcPts val="415"/>
              </a:spcBef>
            </a:pPr>
            <a:r>
              <a:rPr sz="2600" b="1" spc="-10" dirty="0">
                <a:solidFill>
                  <a:srgbClr val="FFFFFF"/>
                </a:solidFill>
                <a:latin typeface="Corbel"/>
                <a:cs typeface="Corbel"/>
              </a:rPr>
              <a:t>FAIR</a:t>
            </a:r>
            <a:r>
              <a:rPr sz="2600" b="1" spc="-3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Corbel"/>
                <a:cs typeface="Corbel"/>
              </a:rPr>
              <a:t>principles</a:t>
            </a:r>
            <a:r>
              <a:rPr sz="2600" b="1" spc="-4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600" dirty="0">
                <a:solidFill>
                  <a:srgbClr val="FFFFFF"/>
                </a:solidFill>
                <a:latin typeface="Corbel"/>
                <a:cs typeface="Corbel"/>
              </a:rPr>
              <a:t>—</a:t>
            </a:r>
            <a:r>
              <a:rPr sz="2600" spc="-3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rbel"/>
                <a:cs typeface="Corbel"/>
              </a:rPr>
              <a:t>Findable,</a:t>
            </a:r>
            <a:r>
              <a:rPr sz="2600" spc="-12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rbel"/>
                <a:cs typeface="Corbel"/>
              </a:rPr>
              <a:t>Accessible, </a:t>
            </a:r>
            <a:r>
              <a:rPr sz="2600" dirty="0">
                <a:solidFill>
                  <a:srgbClr val="FFFFFF"/>
                </a:solidFill>
                <a:latin typeface="Corbel"/>
                <a:cs typeface="Corbel"/>
              </a:rPr>
              <a:t>Interoperable,</a:t>
            </a:r>
            <a:r>
              <a:rPr sz="2600" spc="-3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rbel"/>
                <a:cs typeface="Corbel"/>
              </a:rPr>
              <a:t>Reusable</a:t>
            </a:r>
            <a:endParaRPr sz="2600">
              <a:latin typeface="Corbel"/>
              <a:cs typeface="Corbel"/>
            </a:endParaRPr>
          </a:p>
        </p:txBody>
      </p:sp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27291" y="1782191"/>
            <a:ext cx="6862533" cy="103428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764235" y="1867611"/>
            <a:ext cx="5438775" cy="786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990"/>
              </a:lnSpc>
              <a:spcBef>
                <a:spcPts val="105"/>
              </a:spcBef>
            </a:pPr>
            <a:r>
              <a:rPr sz="2600" b="1" dirty="0">
                <a:solidFill>
                  <a:srgbClr val="FFFFFF"/>
                </a:solidFill>
                <a:latin typeface="Corbel"/>
                <a:cs typeface="Corbel"/>
              </a:rPr>
              <a:t>Богатые</a:t>
            </a:r>
            <a:r>
              <a:rPr sz="2600" b="1" spc="-6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600" b="1" spc="-10" dirty="0">
                <a:solidFill>
                  <a:srgbClr val="FFFFFF"/>
                </a:solidFill>
                <a:latin typeface="Corbel"/>
                <a:cs typeface="Corbel"/>
              </a:rPr>
              <a:t>метаданные</a:t>
            </a:r>
            <a:r>
              <a:rPr sz="2600" b="1" spc="-9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600" spc="-25" dirty="0">
                <a:solidFill>
                  <a:srgbClr val="FFFFFF"/>
                </a:solidFill>
                <a:latin typeface="Corbel"/>
                <a:cs typeface="Corbel"/>
              </a:rPr>
              <a:t>для</a:t>
            </a:r>
            <a:endParaRPr sz="2600">
              <a:latin typeface="Corbel"/>
              <a:cs typeface="Corbel"/>
            </a:endParaRPr>
          </a:p>
          <a:p>
            <a:pPr marL="12700">
              <a:lnSpc>
                <a:spcPts val="2990"/>
              </a:lnSpc>
            </a:pPr>
            <a:r>
              <a:rPr sz="2600" dirty="0">
                <a:solidFill>
                  <a:srgbClr val="FFFFFF"/>
                </a:solidFill>
                <a:latin typeface="Corbel"/>
                <a:cs typeface="Corbel"/>
              </a:rPr>
              <a:t>междисциплинарного</a:t>
            </a:r>
            <a:r>
              <a:rPr sz="2600" spc="-13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rbel"/>
                <a:cs typeface="Corbel"/>
              </a:rPr>
              <a:t>использования</a:t>
            </a:r>
            <a:endParaRPr sz="2600">
              <a:latin typeface="Corbel"/>
              <a:cs typeface="Corbe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27291" y="2891408"/>
            <a:ext cx="6863080" cy="3253104"/>
            <a:chOff x="627291" y="2891408"/>
            <a:chExt cx="6863080" cy="3253104"/>
          </a:xfrm>
        </p:grpSpPr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7291" y="2891408"/>
              <a:ext cx="6862533" cy="103428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7291" y="4000500"/>
              <a:ext cx="6862533" cy="103428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7291" y="5109717"/>
              <a:ext cx="6862533" cy="1034262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764235" y="3158439"/>
            <a:ext cx="6577330" cy="26416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b="1" dirty="0">
                <a:solidFill>
                  <a:srgbClr val="FFFFFF"/>
                </a:solidFill>
                <a:latin typeface="Corbel"/>
                <a:cs typeface="Corbel"/>
              </a:rPr>
              <a:t>Многократные</a:t>
            </a:r>
            <a:r>
              <a:rPr sz="2600" b="1" spc="-7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600" b="1" dirty="0">
                <a:solidFill>
                  <a:srgbClr val="FFFFFF"/>
                </a:solidFill>
                <a:latin typeface="Corbel"/>
                <a:cs typeface="Corbel"/>
              </a:rPr>
              <a:t>проверки</a:t>
            </a:r>
            <a:r>
              <a:rPr sz="2600" b="1" spc="-7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600" dirty="0">
                <a:solidFill>
                  <a:srgbClr val="FFFFFF"/>
                </a:solidFill>
                <a:latin typeface="Corbel"/>
                <a:cs typeface="Corbel"/>
              </a:rPr>
              <a:t>перед</a:t>
            </a:r>
            <a:r>
              <a:rPr sz="2600" spc="-5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rbel"/>
                <a:cs typeface="Corbel"/>
              </a:rPr>
              <a:t>публикацией</a:t>
            </a:r>
            <a:endParaRPr sz="2600">
              <a:latin typeface="Corbel"/>
              <a:cs typeface="Corbel"/>
            </a:endParaRPr>
          </a:p>
          <a:p>
            <a:pPr>
              <a:lnSpc>
                <a:spcPct val="100000"/>
              </a:lnSpc>
              <a:spcBef>
                <a:spcPts val="2440"/>
              </a:spcBef>
            </a:pPr>
            <a:endParaRPr sz="26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</a:pPr>
            <a:r>
              <a:rPr sz="2600" b="1" spc="-20" dirty="0">
                <a:solidFill>
                  <a:srgbClr val="FFFFFF"/>
                </a:solidFill>
                <a:latin typeface="Corbel"/>
                <a:cs typeface="Corbel"/>
              </a:rPr>
              <a:t>Стандартизация</a:t>
            </a:r>
            <a:r>
              <a:rPr sz="2600" b="1" spc="-1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600" b="1" spc="-10" dirty="0">
                <a:solidFill>
                  <a:srgbClr val="FFFFFF"/>
                </a:solidFill>
                <a:latin typeface="Corbel"/>
                <a:cs typeface="Corbel"/>
              </a:rPr>
              <a:t>форматов</a:t>
            </a:r>
            <a:endParaRPr sz="2600">
              <a:latin typeface="Corbel"/>
              <a:cs typeface="Corbel"/>
            </a:endParaRPr>
          </a:p>
          <a:p>
            <a:pPr>
              <a:lnSpc>
                <a:spcPct val="100000"/>
              </a:lnSpc>
              <a:spcBef>
                <a:spcPts val="2445"/>
              </a:spcBef>
            </a:pPr>
            <a:endParaRPr sz="26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</a:pPr>
            <a:r>
              <a:rPr sz="2600" b="1" spc="-10" dirty="0">
                <a:solidFill>
                  <a:srgbClr val="FFFFFF"/>
                </a:solidFill>
                <a:latin typeface="Corbel"/>
                <a:cs typeface="Corbel"/>
              </a:rPr>
              <a:t>Сертификация</a:t>
            </a:r>
            <a:r>
              <a:rPr sz="2600" b="1" spc="-7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600" b="1" spc="-10" dirty="0">
                <a:solidFill>
                  <a:srgbClr val="FFFFFF"/>
                </a:solidFill>
                <a:latin typeface="Corbel"/>
                <a:cs typeface="Corbel"/>
              </a:rPr>
              <a:t>CoreTrustSeal</a:t>
            </a:r>
            <a:endParaRPr sz="26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66032" y="0"/>
              <a:ext cx="812584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4154424" cy="6858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4067683" cy="6857996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26744" y="1303477"/>
            <a:ext cx="2736850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b="1" spc="-20" dirty="0">
                <a:latin typeface="Corbel"/>
                <a:cs typeface="Corbel"/>
              </a:rPr>
              <a:t>Пользователи</a:t>
            </a:r>
            <a:endParaRPr sz="3400">
              <a:latin typeface="Corbel"/>
              <a:cs typeface="Corbe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25339" y="1601851"/>
            <a:ext cx="51365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Corbel"/>
                <a:cs typeface="Corbel"/>
              </a:rPr>
              <a:t>Учёные-</a:t>
            </a:r>
            <a:r>
              <a:rPr sz="2000" spc="-10" dirty="0">
                <a:solidFill>
                  <a:srgbClr val="FFFFFF"/>
                </a:solidFill>
                <a:latin typeface="Corbel"/>
                <a:cs typeface="Corbel"/>
              </a:rPr>
              <a:t>климатологи</a:t>
            </a:r>
            <a:r>
              <a:rPr sz="200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orbel"/>
                <a:cs typeface="Corbel"/>
              </a:rPr>
              <a:t>(производители</a:t>
            </a:r>
            <a:r>
              <a:rPr sz="2000" spc="-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orbel"/>
                <a:cs typeface="Corbel"/>
              </a:rPr>
              <a:t>данных)</a:t>
            </a:r>
            <a:endParaRPr sz="2000">
              <a:latin typeface="Corbel"/>
              <a:cs typeface="Corbe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058028" y="2010410"/>
            <a:ext cx="6102985" cy="2588260"/>
            <a:chOff x="5058028" y="2010410"/>
            <a:chExt cx="6102985" cy="2588260"/>
          </a:xfrm>
        </p:grpSpPr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61203" y="2013585"/>
              <a:ext cx="829563" cy="13830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061203" y="2013585"/>
              <a:ext cx="829944" cy="138430"/>
            </a:xfrm>
            <a:custGeom>
              <a:avLst/>
              <a:gdLst/>
              <a:ahLst/>
              <a:cxnLst/>
              <a:rect l="l" t="t" r="r" b="b"/>
              <a:pathLst>
                <a:path w="829945" h="138430">
                  <a:moveTo>
                    <a:pt x="0" y="138302"/>
                  </a:moveTo>
                  <a:lnTo>
                    <a:pt x="194691" y="0"/>
                  </a:lnTo>
                  <a:lnTo>
                    <a:pt x="829563" y="0"/>
                  </a:lnTo>
                  <a:lnTo>
                    <a:pt x="634873" y="138302"/>
                  </a:lnTo>
                  <a:lnTo>
                    <a:pt x="0" y="138302"/>
                  </a:lnTo>
                  <a:close/>
                </a:path>
              </a:pathLst>
            </a:custGeom>
            <a:ln w="6349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39154" y="2013585"/>
              <a:ext cx="829437" cy="13830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939154" y="2013585"/>
              <a:ext cx="829944" cy="138430"/>
            </a:xfrm>
            <a:custGeom>
              <a:avLst/>
              <a:gdLst/>
              <a:ahLst/>
              <a:cxnLst/>
              <a:rect l="l" t="t" r="r" b="b"/>
              <a:pathLst>
                <a:path w="829945" h="138430">
                  <a:moveTo>
                    <a:pt x="0" y="138302"/>
                  </a:moveTo>
                  <a:lnTo>
                    <a:pt x="194691" y="0"/>
                  </a:lnTo>
                  <a:lnTo>
                    <a:pt x="829437" y="0"/>
                  </a:lnTo>
                  <a:lnTo>
                    <a:pt x="634746" y="138302"/>
                  </a:lnTo>
                  <a:lnTo>
                    <a:pt x="0" y="138302"/>
                  </a:lnTo>
                  <a:close/>
                </a:path>
              </a:pathLst>
            </a:custGeom>
            <a:ln w="6349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816978" y="2013585"/>
              <a:ext cx="829437" cy="13830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816978" y="2013585"/>
              <a:ext cx="829944" cy="138430"/>
            </a:xfrm>
            <a:custGeom>
              <a:avLst/>
              <a:gdLst/>
              <a:ahLst/>
              <a:cxnLst/>
              <a:rect l="l" t="t" r="r" b="b"/>
              <a:pathLst>
                <a:path w="829945" h="138430">
                  <a:moveTo>
                    <a:pt x="0" y="138302"/>
                  </a:moveTo>
                  <a:lnTo>
                    <a:pt x="194691" y="0"/>
                  </a:lnTo>
                  <a:lnTo>
                    <a:pt x="829437" y="0"/>
                  </a:lnTo>
                  <a:lnTo>
                    <a:pt x="634746" y="138302"/>
                  </a:lnTo>
                  <a:lnTo>
                    <a:pt x="0" y="138302"/>
                  </a:lnTo>
                  <a:close/>
                </a:path>
              </a:pathLst>
            </a:custGeom>
            <a:ln w="6349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694802" y="2013585"/>
              <a:ext cx="829437" cy="13830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694802" y="2013585"/>
              <a:ext cx="829944" cy="138430"/>
            </a:xfrm>
            <a:custGeom>
              <a:avLst/>
              <a:gdLst/>
              <a:ahLst/>
              <a:cxnLst/>
              <a:rect l="l" t="t" r="r" b="b"/>
              <a:pathLst>
                <a:path w="829945" h="138430">
                  <a:moveTo>
                    <a:pt x="0" y="138302"/>
                  </a:moveTo>
                  <a:lnTo>
                    <a:pt x="194691" y="0"/>
                  </a:lnTo>
                  <a:lnTo>
                    <a:pt x="829437" y="0"/>
                  </a:lnTo>
                  <a:lnTo>
                    <a:pt x="634746" y="138302"/>
                  </a:lnTo>
                  <a:lnTo>
                    <a:pt x="0" y="138302"/>
                  </a:lnTo>
                  <a:close/>
                </a:path>
              </a:pathLst>
            </a:custGeom>
            <a:ln w="6349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572626" y="2013585"/>
              <a:ext cx="829564" cy="13830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8572626" y="2013585"/>
              <a:ext cx="829944" cy="138430"/>
            </a:xfrm>
            <a:custGeom>
              <a:avLst/>
              <a:gdLst/>
              <a:ahLst/>
              <a:cxnLst/>
              <a:rect l="l" t="t" r="r" b="b"/>
              <a:pathLst>
                <a:path w="829945" h="138430">
                  <a:moveTo>
                    <a:pt x="0" y="138302"/>
                  </a:moveTo>
                  <a:lnTo>
                    <a:pt x="194691" y="0"/>
                  </a:lnTo>
                  <a:lnTo>
                    <a:pt x="829564" y="0"/>
                  </a:lnTo>
                  <a:lnTo>
                    <a:pt x="634746" y="138302"/>
                  </a:lnTo>
                  <a:lnTo>
                    <a:pt x="0" y="138302"/>
                  </a:lnTo>
                  <a:close/>
                </a:path>
              </a:pathLst>
            </a:custGeom>
            <a:ln w="6350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450577" y="2013585"/>
              <a:ext cx="829437" cy="13830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9450577" y="2013585"/>
              <a:ext cx="829944" cy="138430"/>
            </a:xfrm>
            <a:custGeom>
              <a:avLst/>
              <a:gdLst/>
              <a:ahLst/>
              <a:cxnLst/>
              <a:rect l="l" t="t" r="r" b="b"/>
              <a:pathLst>
                <a:path w="829945" h="138430">
                  <a:moveTo>
                    <a:pt x="0" y="138302"/>
                  </a:moveTo>
                  <a:lnTo>
                    <a:pt x="194691" y="0"/>
                  </a:lnTo>
                  <a:lnTo>
                    <a:pt x="829437" y="0"/>
                  </a:lnTo>
                  <a:lnTo>
                    <a:pt x="634746" y="138302"/>
                  </a:lnTo>
                  <a:lnTo>
                    <a:pt x="0" y="138302"/>
                  </a:lnTo>
                  <a:close/>
                </a:path>
              </a:pathLst>
            </a:custGeom>
            <a:ln w="6349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328401" y="2013585"/>
              <a:ext cx="829437" cy="138302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0328401" y="2013585"/>
              <a:ext cx="829944" cy="138430"/>
            </a:xfrm>
            <a:custGeom>
              <a:avLst/>
              <a:gdLst/>
              <a:ahLst/>
              <a:cxnLst/>
              <a:rect l="l" t="t" r="r" b="b"/>
              <a:pathLst>
                <a:path w="829945" h="138430">
                  <a:moveTo>
                    <a:pt x="0" y="138302"/>
                  </a:moveTo>
                  <a:lnTo>
                    <a:pt x="194691" y="0"/>
                  </a:lnTo>
                  <a:lnTo>
                    <a:pt x="829437" y="0"/>
                  </a:lnTo>
                  <a:lnTo>
                    <a:pt x="634746" y="138302"/>
                  </a:lnTo>
                  <a:lnTo>
                    <a:pt x="0" y="138302"/>
                  </a:lnTo>
                  <a:close/>
                </a:path>
              </a:pathLst>
            </a:custGeom>
            <a:ln w="6349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061203" y="2828163"/>
              <a:ext cx="829563" cy="138175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061203" y="2828163"/>
              <a:ext cx="829944" cy="138430"/>
            </a:xfrm>
            <a:custGeom>
              <a:avLst/>
              <a:gdLst/>
              <a:ahLst/>
              <a:cxnLst/>
              <a:rect l="l" t="t" r="r" b="b"/>
              <a:pathLst>
                <a:path w="829945" h="138430">
                  <a:moveTo>
                    <a:pt x="0" y="138175"/>
                  </a:moveTo>
                  <a:lnTo>
                    <a:pt x="194691" y="0"/>
                  </a:lnTo>
                  <a:lnTo>
                    <a:pt x="829563" y="0"/>
                  </a:lnTo>
                  <a:lnTo>
                    <a:pt x="634873" y="138175"/>
                  </a:lnTo>
                  <a:lnTo>
                    <a:pt x="0" y="138175"/>
                  </a:lnTo>
                  <a:close/>
                </a:path>
              </a:pathLst>
            </a:custGeom>
            <a:ln w="6350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939154" y="2828163"/>
              <a:ext cx="829437" cy="138175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939154" y="2828163"/>
              <a:ext cx="829944" cy="138430"/>
            </a:xfrm>
            <a:custGeom>
              <a:avLst/>
              <a:gdLst/>
              <a:ahLst/>
              <a:cxnLst/>
              <a:rect l="l" t="t" r="r" b="b"/>
              <a:pathLst>
                <a:path w="829945" h="138430">
                  <a:moveTo>
                    <a:pt x="0" y="138175"/>
                  </a:moveTo>
                  <a:lnTo>
                    <a:pt x="194691" y="0"/>
                  </a:lnTo>
                  <a:lnTo>
                    <a:pt x="829437" y="0"/>
                  </a:lnTo>
                  <a:lnTo>
                    <a:pt x="634746" y="138175"/>
                  </a:lnTo>
                  <a:lnTo>
                    <a:pt x="0" y="138175"/>
                  </a:lnTo>
                  <a:close/>
                </a:path>
              </a:pathLst>
            </a:custGeom>
            <a:ln w="6350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816978" y="2828163"/>
              <a:ext cx="829437" cy="138175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6816978" y="2828163"/>
              <a:ext cx="829944" cy="138430"/>
            </a:xfrm>
            <a:custGeom>
              <a:avLst/>
              <a:gdLst/>
              <a:ahLst/>
              <a:cxnLst/>
              <a:rect l="l" t="t" r="r" b="b"/>
              <a:pathLst>
                <a:path w="829945" h="138430">
                  <a:moveTo>
                    <a:pt x="0" y="138175"/>
                  </a:moveTo>
                  <a:lnTo>
                    <a:pt x="194691" y="0"/>
                  </a:lnTo>
                  <a:lnTo>
                    <a:pt x="829437" y="0"/>
                  </a:lnTo>
                  <a:lnTo>
                    <a:pt x="634746" y="138175"/>
                  </a:lnTo>
                  <a:lnTo>
                    <a:pt x="0" y="138175"/>
                  </a:lnTo>
                  <a:close/>
                </a:path>
              </a:pathLst>
            </a:custGeom>
            <a:ln w="6350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694802" y="2828163"/>
              <a:ext cx="829437" cy="138175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7694802" y="2828163"/>
              <a:ext cx="829944" cy="138430"/>
            </a:xfrm>
            <a:custGeom>
              <a:avLst/>
              <a:gdLst/>
              <a:ahLst/>
              <a:cxnLst/>
              <a:rect l="l" t="t" r="r" b="b"/>
              <a:pathLst>
                <a:path w="829945" h="138430">
                  <a:moveTo>
                    <a:pt x="0" y="138175"/>
                  </a:moveTo>
                  <a:lnTo>
                    <a:pt x="194691" y="0"/>
                  </a:lnTo>
                  <a:lnTo>
                    <a:pt x="829437" y="0"/>
                  </a:lnTo>
                  <a:lnTo>
                    <a:pt x="634746" y="138175"/>
                  </a:lnTo>
                  <a:lnTo>
                    <a:pt x="0" y="138175"/>
                  </a:lnTo>
                  <a:close/>
                </a:path>
              </a:pathLst>
            </a:custGeom>
            <a:ln w="6350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572626" y="2828163"/>
              <a:ext cx="829564" cy="138175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8572626" y="2828163"/>
              <a:ext cx="829944" cy="138430"/>
            </a:xfrm>
            <a:custGeom>
              <a:avLst/>
              <a:gdLst/>
              <a:ahLst/>
              <a:cxnLst/>
              <a:rect l="l" t="t" r="r" b="b"/>
              <a:pathLst>
                <a:path w="829945" h="138430">
                  <a:moveTo>
                    <a:pt x="0" y="138175"/>
                  </a:moveTo>
                  <a:lnTo>
                    <a:pt x="194691" y="0"/>
                  </a:lnTo>
                  <a:lnTo>
                    <a:pt x="829564" y="0"/>
                  </a:lnTo>
                  <a:lnTo>
                    <a:pt x="634746" y="138175"/>
                  </a:lnTo>
                  <a:lnTo>
                    <a:pt x="0" y="138175"/>
                  </a:lnTo>
                  <a:close/>
                </a:path>
              </a:pathLst>
            </a:custGeom>
            <a:ln w="6350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450577" y="2828163"/>
              <a:ext cx="829437" cy="138175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9450577" y="2828163"/>
              <a:ext cx="829944" cy="138430"/>
            </a:xfrm>
            <a:custGeom>
              <a:avLst/>
              <a:gdLst/>
              <a:ahLst/>
              <a:cxnLst/>
              <a:rect l="l" t="t" r="r" b="b"/>
              <a:pathLst>
                <a:path w="829945" h="138430">
                  <a:moveTo>
                    <a:pt x="0" y="138175"/>
                  </a:moveTo>
                  <a:lnTo>
                    <a:pt x="194691" y="0"/>
                  </a:lnTo>
                  <a:lnTo>
                    <a:pt x="829437" y="0"/>
                  </a:lnTo>
                  <a:lnTo>
                    <a:pt x="634746" y="138175"/>
                  </a:lnTo>
                  <a:lnTo>
                    <a:pt x="0" y="138175"/>
                  </a:lnTo>
                  <a:close/>
                </a:path>
              </a:pathLst>
            </a:custGeom>
            <a:ln w="6350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328401" y="2828163"/>
              <a:ext cx="829437" cy="138175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10328401" y="2828163"/>
              <a:ext cx="829944" cy="138430"/>
            </a:xfrm>
            <a:custGeom>
              <a:avLst/>
              <a:gdLst/>
              <a:ahLst/>
              <a:cxnLst/>
              <a:rect l="l" t="t" r="r" b="b"/>
              <a:pathLst>
                <a:path w="829945" h="138430">
                  <a:moveTo>
                    <a:pt x="0" y="138175"/>
                  </a:moveTo>
                  <a:lnTo>
                    <a:pt x="194691" y="0"/>
                  </a:lnTo>
                  <a:lnTo>
                    <a:pt x="829437" y="0"/>
                  </a:lnTo>
                  <a:lnTo>
                    <a:pt x="634746" y="138175"/>
                  </a:lnTo>
                  <a:lnTo>
                    <a:pt x="0" y="138175"/>
                  </a:lnTo>
                  <a:close/>
                </a:path>
              </a:pathLst>
            </a:custGeom>
            <a:ln w="6350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061203" y="3642614"/>
              <a:ext cx="829563" cy="138303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5061203" y="3642614"/>
              <a:ext cx="829944" cy="138430"/>
            </a:xfrm>
            <a:custGeom>
              <a:avLst/>
              <a:gdLst/>
              <a:ahLst/>
              <a:cxnLst/>
              <a:rect l="l" t="t" r="r" b="b"/>
              <a:pathLst>
                <a:path w="829945" h="138429">
                  <a:moveTo>
                    <a:pt x="0" y="138303"/>
                  </a:moveTo>
                  <a:lnTo>
                    <a:pt x="194691" y="0"/>
                  </a:lnTo>
                  <a:lnTo>
                    <a:pt x="829563" y="0"/>
                  </a:lnTo>
                  <a:lnTo>
                    <a:pt x="634873" y="138303"/>
                  </a:lnTo>
                  <a:lnTo>
                    <a:pt x="0" y="138303"/>
                  </a:lnTo>
                  <a:close/>
                </a:path>
              </a:pathLst>
            </a:custGeom>
            <a:ln w="6350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939154" y="3642614"/>
              <a:ext cx="829437" cy="138303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5939154" y="3642614"/>
              <a:ext cx="829944" cy="138430"/>
            </a:xfrm>
            <a:custGeom>
              <a:avLst/>
              <a:gdLst/>
              <a:ahLst/>
              <a:cxnLst/>
              <a:rect l="l" t="t" r="r" b="b"/>
              <a:pathLst>
                <a:path w="829945" h="138429">
                  <a:moveTo>
                    <a:pt x="0" y="138303"/>
                  </a:moveTo>
                  <a:lnTo>
                    <a:pt x="194691" y="0"/>
                  </a:lnTo>
                  <a:lnTo>
                    <a:pt x="829437" y="0"/>
                  </a:lnTo>
                  <a:lnTo>
                    <a:pt x="634746" y="138303"/>
                  </a:lnTo>
                  <a:lnTo>
                    <a:pt x="0" y="138303"/>
                  </a:lnTo>
                  <a:close/>
                </a:path>
              </a:pathLst>
            </a:custGeom>
            <a:ln w="6349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816978" y="3642614"/>
              <a:ext cx="829437" cy="138303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6816978" y="3642614"/>
              <a:ext cx="829944" cy="138430"/>
            </a:xfrm>
            <a:custGeom>
              <a:avLst/>
              <a:gdLst/>
              <a:ahLst/>
              <a:cxnLst/>
              <a:rect l="l" t="t" r="r" b="b"/>
              <a:pathLst>
                <a:path w="829945" h="138429">
                  <a:moveTo>
                    <a:pt x="0" y="138303"/>
                  </a:moveTo>
                  <a:lnTo>
                    <a:pt x="194691" y="0"/>
                  </a:lnTo>
                  <a:lnTo>
                    <a:pt x="829437" y="0"/>
                  </a:lnTo>
                  <a:lnTo>
                    <a:pt x="634746" y="138303"/>
                  </a:lnTo>
                  <a:lnTo>
                    <a:pt x="0" y="138303"/>
                  </a:lnTo>
                  <a:close/>
                </a:path>
              </a:pathLst>
            </a:custGeom>
            <a:ln w="6349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694802" y="3642614"/>
              <a:ext cx="829437" cy="138303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7694802" y="3642614"/>
              <a:ext cx="829944" cy="138430"/>
            </a:xfrm>
            <a:custGeom>
              <a:avLst/>
              <a:gdLst/>
              <a:ahLst/>
              <a:cxnLst/>
              <a:rect l="l" t="t" r="r" b="b"/>
              <a:pathLst>
                <a:path w="829945" h="138429">
                  <a:moveTo>
                    <a:pt x="0" y="138303"/>
                  </a:moveTo>
                  <a:lnTo>
                    <a:pt x="194691" y="0"/>
                  </a:lnTo>
                  <a:lnTo>
                    <a:pt x="829437" y="0"/>
                  </a:lnTo>
                  <a:lnTo>
                    <a:pt x="634746" y="138303"/>
                  </a:lnTo>
                  <a:lnTo>
                    <a:pt x="0" y="138303"/>
                  </a:lnTo>
                  <a:close/>
                </a:path>
              </a:pathLst>
            </a:custGeom>
            <a:ln w="6349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572626" y="3642614"/>
              <a:ext cx="829564" cy="138303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8572626" y="3642614"/>
              <a:ext cx="829944" cy="138430"/>
            </a:xfrm>
            <a:custGeom>
              <a:avLst/>
              <a:gdLst/>
              <a:ahLst/>
              <a:cxnLst/>
              <a:rect l="l" t="t" r="r" b="b"/>
              <a:pathLst>
                <a:path w="829945" h="138429">
                  <a:moveTo>
                    <a:pt x="0" y="138303"/>
                  </a:moveTo>
                  <a:lnTo>
                    <a:pt x="194691" y="0"/>
                  </a:lnTo>
                  <a:lnTo>
                    <a:pt x="829564" y="0"/>
                  </a:lnTo>
                  <a:lnTo>
                    <a:pt x="634746" y="138303"/>
                  </a:lnTo>
                  <a:lnTo>
                    <a:pt x="0" y="138303"/>
                  </a:lnTo>
                  <a:close/>
                </a:path>
              </a:pathLst>
            </a:custGeom>
            <a:ln w="6349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9450577" y="3642614"/>
              <a:ext cx="829437" cy="138303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9450577" y="3642614"/>
              <a:ext cx="829944" cy="138430"/>
            </a:xfrm>
            <a:custGeom>
              <a:avLst/>
              <a:gdLst/>
              <a:ahLst/>
              <a:cxnLst/>
              <a:rect l="l" t="t" r="r" b="b"/>
              <a:pathLst>
                <a:path w="829945" h="138429">
                  <a:moveTo>
                    <a:pt x="0" y="138303"/>
                  </a:moveTo>
                  <a:lnTo>
                    <a:pt x="194691" y="0"/>
                  </a:lnTo>
                  <a:lnTo>
                    <a:pt x="829437" y="0"/>
                  </a:lnTo>
                  <a:lnTo>
                    <a:pt x="634746" y="138303"/>
                  </a:lnTo>
                  <a:lnTo>
                    <a:pt x="0" y="138303"/>
                  </a:lnTo>
                  <a:close/>
                </a:path>
              </a:pathLst>
            </a:custGeom>
            <a:ln w="6349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0328401" y="3642614"/>
              <a:ext cx="829437" cy="138303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10328401" y="3642614"/>
              <a:ext cx="829944" cy="138430"/>
            </a:xfrm>
            <a:custGeom>
              <a:avLst/>
              <a:gdLst/>
              <a:ahLst/>
              <a:cxnLst/>
              <a:rect l="l" t="t" r="r" b="b"/>
              <a:pathLst>
                <a:path w="829945" h="138429">
                  <a:moveTo>
                    <a:pt x="0" y="138303"/>
                  </a:moveTo>
                  <a:lnTo>
                    <a:pt x="194691" y="0"/>
                  </a:lnTo>
                  <a:lnTo>
                    <a:pt x="829437" y="0"/>
                  </a:lnTo>
                  <a:lnTo>
                    <a:pt x="634746" y="138303"/>
                  </a:lnTo>
                  <a:lnTo>
                    <a:pt x="0" y="138303"/>
                  </a:lnTo>
                  <a:close/>
                </a:path>
              </a:pathLst>
            </a:custGeom>
            <a:ln w="6349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061203" y="4457192"/>
              <a:ext cx="829563" cy="138175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5061203" y="4457192"/>
              <a:ext cx="829944" cy="138430"/>
            </a:xfrm>
            <a:custGeom>
              <a:avLst/>
              <a:gdLst/>
              <a:ahLst/>
              <a:cxnLst/>
              <a:rect l="l" t="t" r="r" b="b"/>
              <a:pathLst>
                <a:path w="829945" h="138429">
                  <a:moveTo>
                    <a:pt x="0" y="138175"/>
                  </a:moveTo>
                  <a:lnTo>
                    <a:pt x="194691" y="0"/>
                  </a:lnTo>
                  <a:lnTo>
                    <a:pt x="829563" y="0"/>
                  </a:lnTo>
                  <a:lnTo>
                    <a:pt x="634873" y="138175"/>
                  </a:lnTo>
                  <a:lnTo>
                    <a:pt x="0" y="138175"/>
                  </a:lnTo>
                  <a:close/>
                </a:path>
              </a:pathLst>
            </a:custGeom>
            <a:ln w="6350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939154" y="4457192"/>
              <a:ext cx="829437" cy="138175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5939154" y="4457192"/>
              <a:ext cx="829944" cy="138430"/>
            </a:xfrm>
            <a:custGeom>
              <a:avLst/>
              <a:gdLst/>
              <a:ahLst/>
              <a:cxnLst/>
              <a:rect l="l" t="t" r="r" b="b"/>
              <a:pathLst>
                <a:path w="829945" h="138429">
                  <a:moveTo>
                    <a:pt x="0" y="138175"/>
                  </a:moveTo>
                  <a:lnTo>
                    <a:pt x="194691" y="0"/>
                  </a:lnTo>
                  <a:lnTo>
                    <a:pt x="829437" y="0"/>
                  </a:lnTo>
                  <a:lnTo>
                    <a:pt x="634746" y="138175"/>
                  </a:lnTo>
                  <a:lnTo>
                    <a:pt x="0" y="138175"/>
                  </a:lnTo>
                  <a:close/>
                </a:path>
              </a:pathLst>
            </a:custGeom>
            <a:ln w="6350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816978" y="4457192"/>
              <a:ext cx="829437" cy="138175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6816978" y="4457192"/>
              <a:ext cx="829944" cy="138430"/>
            </a:xfrm>
            <a:custGeom>
              <a:avLst/>
              <a:gdLst/>
              <a:ahLst/>
              <a:cxnLst/>
              <a:rect l="l" t="t" r="r" b="b"/>
              <a:pathLst>
                <a:path w="829945" h="138429">
                  <a:moveTo>
                    <a:pt x="0" y="138175"/>
                  </a:moveTo>
                  <a:lnTo>
                    <a:pt x="194691" y="0"/>
                  </a:lnTo>
                  <a:lnTo>
                    <a:pt x="829437" y="0"/>
                  </a:lnTo>
                  <a:lnTo>
                    <a:pt x="634746" y="138175"/>
                  </a:lnTo>
                  <a:lnTo>
                    <a:pt x="0" y="138175"/>
                  </a:lnTo>
                  <a:close/>
                </a:path>
              </a:pathLst>
            </a:custGeom>
            <a:ln w="6350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7" name="object 57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694802" y="4457192"/>
              <a:ext cx="829437" cy="138175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7694802" y="4457192"/>
              <a:ext cx="829944" cy="138430"/>
            </a:xfrm>
            <a:custGeom>
              <a:avLst/>
              <a:gdLst/>
              <a:ahLst/>
              <a:cxnLst/>
              <a:rect l="l" t="t" r="r" b="b"/>
              <a:pathLst>
                <a:path w="829945" h="138429">
                  <a:moveTo>
                    <a:pt x="0" y="138175"/>
                  </a:moveTo>
                  <a:lnTo>
                    <a:pt x="194691" y="0"/>
                  </a:lnTo>
                  <a:lnTo>
                    <a:pt x="829437" y="0"/>
                  </a:lnTo>
                  <a:lnTo>
                    <a:pt x="634746" y="138175"/>
                  </a:lnTo>
                  <a:lnTo>
                    <a:pt x="0" y="138175"/>
                  </a:lnTo>
                  <a:close/>
                </a:path>
              </a:pathLst>
            </a:custGeom>
            <a:ln w="6350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8572626" y="4457192"/>
              <a:ext cx="829564" cy="138175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8572626" y="4457192"/>
              <a:ext cx="829944" cy="138430"/>
            </a:xfrm>
            <a:custGeom>
              <a:avLst/>
              <a:gdLst/>
              <a:ahLst/>
              <a:cxnLst/>
              <a:rect l="l" t="t" r="r" b="b"/>
              <a:pathLst>
                <a:path w="829945" h="138429">
                  <a:moveTo>
                    <a:pt x="0" y="138175"/>
                  </a:moveTo>
                  <a:lnTo>
                    <a:pt x="194691" y="0"/>
                  </a:lnTo>
                  <a:lnTo>
                    <a:pt x="829564" y="0"/>
                  </a:lnTo>
                  <a:lnTo>
                    <a:pt x="634746" y="138175"/>
                  </a:lnTo>
                  <a:lnTo>
                    <a:pt x="0" y="138175"/>
                  </a:lnTo>
                  <a:close/>
                </a:path>
              </a:pathLst>
            </a:custGeom>
            <a:ln w="6350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450577" y="4457192"/>
              <a:ext cx="829437" cy="138175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9450577" y="4457192"/>
              <a:ext cx="829944" cy="138430"/>
            </a:xfrm>
            <a:custGeom>
              <a:avLst/>
              <a:gdLst/>
              <a:ahLst/>
              <a:cxnLst/>
              <a:rect l="l" t="t" r="r" b="b"/>
              <a:pathLst>
                <a:path w="829945" h="138429">
                  <a:moveTo>
                    <a:pt x="0" y="138175"/>
                  </a:moveTo>
                  <a:lnTo>
                    <a:pt x="194691" y="0"/>
                  </a:lnTo>
                  <a:lnTo>
                    <a:pt x="829437" y="0"/>
                  </a:lnTo>
                  <a:lnTo>
                    <a:pt x="634746" y="138175"/>
                  </a:lnTo>
                  <a:lnTo>
                    <a:pt x="0" y="138175"/>
                  </a:lnTo>
                  <a:close/>
                </a:path>
              </a:pathLst>
            </a:custGeom>
            <a:ln w="6350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0328401" y="4457192"/>
              <a:ext cx="829437" cy="138175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10328401" y="4457192"/>
              <a:ext cx="829944" cy="138430"/>
            </a:xfrm>
            <a:custGeom>
              <a:avLst/>
              <a:gdLst/>
              <a:ahLst/>
              <a:cxnLst/>
              <a:rect l="l" t="t" r="r" b="b"/>
              <a:pathLst>
                <a:path w="829945" h="138429">
                  <a:moveTo>
                    <a:pt x="0" y="138175"/>
                  </a:moveTo>
                  <a:lnTo>
                    <a:pt x="194691" y="0"/>
                  </a:lnTo>
                  <a:lnTo>
                    <a:pt x="829437" y="0"/>
                  </a:lnTo>
                  <a:lnTo>
                    <a:pt x="634746" y="138175"/>
                  </a:lnTo>
                  <a:lnTo>
                    <a:pt x="0" y="138175"/>
                  </a:lnTo>
                  <a:close/>
                </a:path>
              </a:pathLst>
            </a:custGeom>
            <a:ln w="6350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30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Исследователи</a:t>
            </a:r>
            <a:r>
              <a:rPr spc="-65" dirty="0"/>
              <a:t> </a:t>
            </a:r>
            <a:r>
              <a:rPr spc="-10" dirty="0"/>
              <a:t>(потребители</a:t>
            </a:r>
            <a:r>
              <a:rPr spc="-55" dirty="0"/>
              <a:t> </a:t>
            </a:r>
            <a:r>
              <a:rPr spc="-10" dirty="0"/>
              <a:t>данных)</a:t>
            </a:r>
          </a:p>
          <a:p>
            <a:pPr>
              <a:lnSpc>
                <a:spcPct val="100000"/>
              </a:lnSpc>
              <a:spcBef>
                <a:spcPts val="2205"/>
              </a:spcBef>
            </a:pPr>
            <a:endParaRPr spc="-10" dirty="0"/>
          </a:p>
          <a:p>
            <a:pPr marL="12700">
              <a:lnSpc>
                <a:spcPct val="100000"/>
              </a:lnSpc>
            </a:pPr>
            <a:r>
              <a:rPr sz="1600" spc="-10" dirty="0"/>
              <a:t>Междисциплинарные</a:t>
            </a:r>
            <a:r>
              <a:rPr sz="1600" spc="-25" dirty="0"/>
              <a:t> </a:t>
            </a:r>
            <a:r>
              <a:rPr sz="1600" spc="-10" dirty="0"/>
              <a:t>команды</a:t>
            </a:r>
            <a:r>
              <a:rPr sz="1600" spc="-35" dirty="0"/>
              <a:t> </a:t>
            </a:r>
            <a:r>
              <a:rPr sz="1600" spc="-10" dirty="0"/>
              <a:t>(экология,</a:t>
            </a:r>
            <a:r>
              <a:rPr sz="1600" spc="-35" dirty="0"/>
              <a:t> </a:t>
            </a:r>
            <a:r>
              <a:rPr sz="1600" spc="-10" dirty="0"/>
              <a:t>океанология,</a:t>
            </a:r>
            <a:r>
              <a:rPr sz="1600" spc="-25" dirty="0"/>
              <a:t> </a:t>
            </a:r>
            <a:r>
              <a:rPr sz="1600" spc="-10" dirty="0"/>
              <a:t>геология)</a:t>
            </a:r>
            <a:endParaRPr sz="1600"/>
          </a:p>
          <a:p>
            <a:pPr>
              <a:lnSpc>
                <a:spcPct val="100000"/>
              </a:lnSpc>
              <a:spcBef>
                <a:spcPts val="1905"/>
              </a:spcBef>
            </a:pPr>
            <a:endParaRPr sz="1600"/>
          </a:p>
          <a:p>
            <a:pPr marL="27305">
              <a:lnSpc>
                <a:spcPct val="100000"/>
              </a:lnSpc>
              <a:spcBef>
                <a:spcPts val="5"/>
              </a:spcBef>
            </a:pPr>
            <a:r>
              <a:rPr spc="-30" dirty="0"/>
              <a:t>Студенты </a:t>
            </a:r>
            <a:r>
              <a:rPr dirty="0"/>
              <a:t>и</a:t>
            </a:r>
            <a:r>
              <a:rPr spc="-15" dirty="0"/>
              <a:t> </a:t>
            </a:r>
            <a:r>
              <a:rPr spc="-10" dirty="0"/>
              <a:t>аспиранты</a:t>
            </a:r>
          </a:p>
          <a:p>
            <a:pPr>
              <a:lnSpc>
                <a:spcPct val="100000"/>
              </a:lnSpc>
              <a:spcBef>
                <a:spcPts val="1895"/>
              </a:spcBef>
            </a:pPr>
            <a:endParaRPr spc="-10" dirty="0"/>
          </a:p>
          <a:p>
            <a:pPr marL="20320">
              <a:lnSpc>
                <a:spcPct val="100000"/>
              </a:lnSpc>
            </a:pPr>
            <a:r>
              <a:rPr sz="1800" spc="-30" dirty="0"/>
              <a:t>Государственные</a:t>
            </a:r>
            <a:r>
              <a:rPr sz="1800" spc="-15" dirty="0"/>
              <a:t> </a:t>
            </a:r>
            <a:r>
              <a:rPr sz="1800" dirty="0"/>
              <a:t>и </a:t>
            </a:r>
            <a:r>
              <a:rPr sz="1800" spc="-20" dirty="0"/>
              <a:t>международные</a:t>
            </a:r>
            <a:r>
              <a:rPr sz="1800" spc="5" dirty="0"/>
              <a:t> </a:t>
            </a:r>
            <a:r>
              <a:rPr sz="1800" spc="-10" dirty="0"/>
              <a:t>проекты</a:t>
            </a:r>
            <a:r>
              <a:rPr sz="1800" spc="5" dirty="0"/>
              <a:t> </a:t>
            </a:r>
            <a:r>
              <a:rPr sz="1800" spc="-10" dirty="0"/>
              <a:t>(IPCC,</a:t>
            </a:r>
            <a:r>
              <a:rPr sz="1800" spc="-105" dirty="0"/>
              <a:t> </a:t>
            </a:r>
            <a:r>
              <a:rPr sz="1800" spc="-10" dirty="0"/>
              <a:t>WCRP)</a:t>
            </a:r>
            <a:endParaRPr sz="1800"/>
          </a:p>
        </p:txBody>
      </p:sp>
      <p:grpSp>
        <p:nvGrpSpPr>
          <p:cNvPr id="66" name="object 66"/>
          <p:cNvGrpSpPr/>
          <p:nvPr/>
        </p:nvGrpSpPr>
        <p:grpSpPr>
          <a:xfrm>
            <a:off x="5058028" y="5268595"/>
            <a:ext cx="6102985" cy="144780"/>
            <a:chOff x="5058028" y="5268595"/>
            <a:chExt cx="6102985" cy="144780"/>
          </a:xfrm>
        </p:grpSpPr>
        <p:pic>
          <p:nvPicPr>
            <p:cNvPr id="67" name="object 67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061203" y="5271770"/>
              <a:ext cx="829563" cy="138176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5061203" y="5271770"/>
              <a:ext cx="829944" cy="138430"/>
            </a:xfrm>
            <a:custGeom>
              <a:avLst/>
              <a:gdLst/>
              <a:ahLst/>
              <a:cxnLst/>
              <a:rect l="l" t="t" r="r" b="b"/>
              <a:pathLst>
                <a:path w="829945" h="138429">
                  <a:moveTo>
                    <a:pt x="0" y="138175"/>
                  </a:moveTo>
                  <a:lnTo>
                    <a:pt x="194691" y="0"/>
                  </a:lnTo>
                  <a:lnTo>
                    <a:pt x="829563" y="0"/>
                  </a:lnTo>
                  <a:lnTo>
                    <a:pt x="634873" y="138175"/>
                  </a:lnTo>
                  <a:lnTo>
                    <a:pt x="0" y="138175"/>
                  </a:lnTo>
                  <a:close/>
                </a:path>
              </a:pathLst>
            </a:custGeom>
            <a:ln w="6349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939154" y="5271770"/>
              <a:ext cx="829437" cy="138176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5939154" y="5271770"/>
              <a:ext cx="829944" cy="138430"/>
            </a:xfrm>
            <a:custGeom>
              <a:avLst/>
              <a:gdLst/>
              <a:ahLst/>
              <a:cxnLst/>
              <a:rect l="l" t="t" r="r" b="b"/>
              <a:pathLst>
                <a:path w="829945" h="138429">
                  <a:moveTo>
                    <a:pt x="0" y="138175"/>
                  </a:moveTo>
                  <a:lnTo>
                    <a:pt x="194691" y="0"/>
                  </a:lnTo>
                  <a:lnTo>
                    <a:pt x="829437" y="0"/>
                  </a:lnTo>
                  <a:lnTo>
                    <a:pt x="634746" y="138175"/>
                  </a:lnTo>
                  <a:lnTo>
                    <a:pt x="0" y="138175"/>
                  </a:lnTo>
                  <a:close/>
                </a:path>
              </a:pathLst>
            </a:custGeom>
            <a:ln w="6349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816978" y="5271770"/>
              <a:ext cx="829437" cy="138176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6816978" y="5271770"/>
              <a:ext cx="829944" cy="138430"/>
            </a:xfrm>
            <a:custGeom>
              <a:avLst/>
              <a:gdLst/>
              <a:ahLst/>
              <a:cxnLst/>
              <a:rect l="l" t="t" r="r" b="b"/>
              <a:pathLst>
                <a:path w="829945" h="138429">
                  <a:moveTo>
                    <a:pt x="0" y="138175"/>
                  </a:moveTo>
                  <a:lnTo>
                    <a:pt x="194691" y="0"/>
                  </a:lnTo>
                  <a:lnTo>
                    <a:pt x="829437" y="0"/>
                  </a:lnTo>
                  <a:lnTo>
                    <a:pt x="634746" y="138175"/>
                  </a:lnTo>
                  <a:lnTo>
                    <a:pt x="0" y="138175"/>
                  </a:lnTo>
                  <a:close/>
                </a:path>
              </a:pathLst>
            </a:custGeom>
            <a:ln w="6349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694802" y="5271770"/>
              <a:ext cx="829437" cy="138176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7694802" y="5271770"/>
              <a:ext cx="829944" cy="138430"/>
            </a:xfrm>
            <a:custGeom>
              <a:avLst/>
              <a:gdLst/>
              <a:ahLst/>
              <a:cxnLst/>
              <a:rect l="l" t="t" r="r" b="b"/>
              <a:pathLst>
                <a:path w="829945" h="138429">
                  <a:moveTo>
                    <a:pt x="0" y="138175"/>
                  </a:moveTo>
                  <a:lnTo>
                    <a:pt x="194691" y="0"/>
                  </a:lnTo>
                  <a:lnTo>
                    <a:pt x="829437" y="0"/>
                  </a:lnTo>
                  <a:lnTo>
                    <a:pt x="634746" y="138175"/>
                  </a:lnTo>
                  <a:lnTo>
                    <a:pt x="0" y="138175"/>
                  </a:lnTo>
                  <a:close/>
                </a:path>
              </a:pathLst>
            </a:custGeom>
            <a:ln w="6349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5" name="object 75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8572626" y="5271770"/>
              <a:ext cx="829564" cy="138176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8572626" y="5271770"/>
              <a:ext cx="829944" cy="138430"/>
            </a:xfrm>
            <a:custGeom>
              <a:avLst/>
              <a:gdLst/>
              <a:ahLst/>
              <a:cxnLst/>
              <a:rect l="l" t="t" r="r" b="b"/>
              <a:pathLst>
                <a:path w="829945" h="138429">
                  <a:moveTo>
                    <a:pt x="0" y="138175"/>
                  </a:moveTo>
                  <a:lnTo>
                    <a:pt x="194691" y="0"/>
                  </a:lnTo>
                  <a:lnTo>
                    <a:pt x="829564" y="0"/>
                  </a:lnTo>
                  <a:lnTo>
                    <a:pt x="634746" y="138175"/>
                  </a:lnTo>
                  <a:lnTo>
                    <a:pt x="0" y="138175"/>
                  </a:lnTo>
                  <a:close/>
                </a:path>
              </a:pathLst>
            </a:custGeom>
            <a:ln w="6349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450577" y="5271770"/>
              <a:ext cx="829437" cy="138176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9450577" y="5271770"/>
              <a:ext cx="829944" cy="138430"/>
            </a:xfrm>
            <a:custGeom>
              <a:avLst/>
              <a:gdLst/>
              <a:ahLst/>
              <a:cxnLst/>
              <a:rect l="l" t="t" r="r" b="b"/>
              <a:pathLst>
                <a:path w="829945" h="138429">
                  <a:moveTo>
                    <a:pt x="0" y="138175"/>
                  </a:moveTo>
                  <a:lnTo>
                    <a:pt x="194691" y="0"/>
                  </a:lnTo>
                  <a:lnTo>
                    <a:pt x="829437" y="0"/>
                  </a:lnTo>
                  <a:lnTo>
                    <a:pt x="634746" y="138175"/>
                  </a:lnTo>
                  <a:lnTo>
                    <a:pt x="0" y="138175"/>
                  </a:lnTo>
                  <a:close/>
                </a:path>
              </a:pathLst>
            </a:custGeom>
            <a:ln w="6349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79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0328401" y="5271770"/>
              <a:ext cx="829437" cy="138176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10328401" y="5271770"/>
              <a:ext cx="829944" cy="138430"/>
            </a:xfrm>
            <a:custGeom>
              <a:avLst/>
              <a:gdLst/>
              <a:ahLst/>
              <a:cxnLst/>
              <a:rect l="l" t="t" r="r" b="b"/>
              <a:pathLst>
                <a:path w="829945" h="138429">
                  <a:moveTo>
                    <a:pt x="0" y="138175"/>
                  </a:moveTo>
                  <a:lnTo>
                    <a:pt x="194691" y="0"/>
                  </a:lnTo>
                  <a:lnTo>
                    <a:pt x="829437" y="0"/>
                  </a:lnTo>
                  <a:lnTo>
                    <a:pt x="634746" y="138175"/>
                  </a:lnTo>
                  <a:lnTo>
                    <a:pt x="0" y="138175"/>
                  </a:lnTo>
                  <a:close/>
                </a:path>
              </a:pathLst>
            </a:custGeom>
            <a:ln w="6349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60111" y="776731"/>
            <a:ext cx="5794120" cy="54521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79746" y="1925066"/>
            <a:ext cx="2098294" cy="29108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80656" y="1983613"/>
            <a:ext cx="3011678" cy="21234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099177" y="2340229"/>
            <a:ext cx="1462658" cy="16154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087873" y="2764789"/>
            <a:ext cx="2302002" cy="29108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504048" y="2823336"/>
            <a:ext cx="3659124" cy="23253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099177" y="3179952"/>
            <a:ext cx="3120771" cy="23253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100701" y="3606038"/>
            <a:ext cx="1298575" cy="22009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514972" y="3664584"/>
            <a:ext cx="3271266" cy="22047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099177" y="4021201"/>
            <a:ext cx="3472433" cy="23253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087873" y="4445761"/>
            <a:ext cx="2302002" cy="28752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484998" y="4504309"/>
            <a:ext cx="2986278" cy="23253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099177" y="4860925"/>
            <a:ext cx="2498979" cy="232537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091048" y="5281421"/>
            <a:ext cx="2024506" cy="295147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7213345" y="5344033"/>
            <a:ext cx="1972563" cy="232536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090286" y="5700686"/>
            <a:ext cx="2158618" cy="21234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9" y="-1"/>
            <a:ext cx="4343399" cy="685799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97711" y="343357"/>
            <a:ext cx="3778885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700" b="1" dirty="0">
                <a:solidFill>
                  <a:srgbClr val="F1F1F1"/>
                </a:solidFill>
                <a:latin typeface="Corbel"/>
                <a:cs typeface="Corbel"/>
              </a:rPr>
              <a:t>Доступ</a:t>
            </a:r>
            <a:r>
              <a:rPr sz="3700" b="1" spc="-85" dirty="0">
                <a:solidFill>
                  <a:srgbClr val="F1F1F1"/>
                </a:solidFill>
                <a:latin typeface="Corbel"/>
                <a:cs typeface="Corbel"/>
              </a:rPr>
              <a:t> </a:t>
            </a:r>
            <a:r>
              <a:rPr sz="3700" b="1" dirty="0">
                <a:solidFill>
                  <a:srgbClr val="F1F1F1"/>
                </a:solidFill>
                <a:latin typeface="Corbel"/>
                <a:cs typeface="Corbel"/>
              </a:rPr>
              <a:t>и</a:t>
            </a:r>
            <a:r>
              <a:rPr sz="3700" b="1" spc="-85" dirty="0">
                <a:solidFill>
                  <a:srgbClr val="F1F1F1"/>
                </a:solidFill>
                <a:latin typeface="Corbel"/>
                <a:cs typeface="Corbel"/>
              </a:rPr>
              <a:t> </a:t>
            </a:r>
            <a:r>
              <a:rPr sz="3700" b="1" spc="-10" dirty="0">
                <a:solidFill>
                  <a:srgbClr val="F1F1F1"/>
                </a:solidFill>
                <a:latin typeface="Corbel"/>
                <a:cs typeface="Corbel"/>
              </a:rPr>
              <a:t>реклама</a:t>
            </a:r>
            <a:endParaRPr sz="3700">
              <a:latin typeface="Corbel"/>
              <a:cs typeface="Corbe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38200" y="1827783"/>
            <a:ext cx="7959090" cy="0"/>
          </a:xfrm>
          <a:custGeom>
            <a:avLst/>
            <a:gdLst/>
            <a:ahLst/>
            <a:cxnLst/>
            <a:rect l="l" t="t" r="r" b="b"/>
            <a:pathLst>
              <a:path w="7959090">
                <a:moveTo>
                  <a:pt x="0" y="0"/>
                </a:moveTo>
                <a:lnTo>
                  <a:pt x="7958708" y="0"/>
                </a:lnTo>
              </a:path>
            </a:pathLst>
          </a:custGeom>
          <a:ln w="12700">
            <a:solidFill>
              <a:srgbClr val="41AD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38200" y="2552319"/>
            <a:ext cx="7959090" cy="0"/>
          </a:xfrm>
          <a:custGeom>
            <a:avLst/>
            <a:gdLst/>
            <a:ahLst/>
            <a:cxnLst/>
            <a:rect l="l" t="t" r="r" b="b"/>
            <a:pathLst>
              <a:path w="7959090">
                <a:moveTo>
                  <a:pt x="0" y="0"/>
                </a:moveTo>
                <a:lnTo>
                  <a:pt x="7958708" y="0"/>
                </a:lnTo>
              </a:path>
            </a:pathLst>
          </a:custGeom>
          <a:ln w="12700">
            <a:solidFill>
              <a:srgbClr val="41AD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38200" y="3276727"/>
            <a:ext cx="7959090" cy="0"/>
          </a:xfrm>
          <a:custGeom>
            <a:avLst/>
            <a:gdLst/>
            <a:ahLst/>
            <a:cxnLst/>
            <a:rect l="l" t="t" r="r" b="b"/>
            <a:pathLst>
              <a:path w="7959090">
                <a:moveTo>
                  <a:pt x="0" y="0"/>
                </a:moveTo>
                <a:lnTo>
                  <a:pt x="7958708" y="0"/>
                </a:lnTo>
              </a:path>
            </a:pathLst>
          </a:custGeom>
          <a:ln w="12700">
            <a:solidFill>
              <a:srgbClr val="41AD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38200" y="4001261"/>
            <a:ext cx="7959090" cy="0"/>
          </a:xfrm>
          <a:custGeom>
            <a:avLst/>
            <a:gdLst/>
            <a:ahLst/>
            <a:cxnLst/>
            <a:rect l="l" t="t" r="r" b="b"/>
            <a:pathLst>
              <a:path w="7959090">
                <a:moveTo>
                  <a:pt x="0" y="0"/>
                </a:moveTo>
                <a:lnTo>
                  <a:pt x="7958708" y="0"/>
                </a:lnTo>
              </a:path>
            </a:pathLst>
          </a:custGeom>
          <a:ln w="12700">
            <a:solidFill>
              <a:srgbClr val="41AD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38200" y="4725796"/>
            <a:ext cx="7959090" cy="0"/>
          </a:xfrm>
          <a:custGeom>
            <a:avLst/>
            <a:gdLst/>
            <a:ahLst/>
            <a:cxnLst/>
            <a:rect l="l" t="t" r="r" b="b"/>
            <a:pathLst>
              <a:path w="7959090">
                <a:moveTo>
                  <a:pt x="0" y="0"/>
                </a:moveTo>
                <a:lnTo>
                  <a:pt x="7958708" y="0"/>
                </a:lnTo>
              </a:path>
            </a:pathLst>
          </a:custGeom>
          <a:ln w="12700">
            <a:solidFill>
              <a:srgbClr val="41AD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38200" y="5450332"/>
            <a:ext cx="7959090" cy="0"/>
          </a:xfrm>
          <a:custGeom>
            <a:avLst/>
            <a:gdLst/>
            <a:ahLst/>
            <a:cxnLst/>
            <a:rect l="l" t="t" r="r" b="b"/>
            <a:pathLst>
              <a:path w="7959090">
                <a:moveTo>
                  <a:pt x="0" y="0"/>
                </a:moveTo>
                <a:lnTo>
                  <a:pt x="7958708" y="0"/>
                </a:lnTo>
              </a:path>
            </a:pathLst>
          </a:custGeom>
          <a:ln w="12700">
            <a:solidFill>
              <a:srgbClr val="41AD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20902" y="1857501"/>
            <a:ext cx="7526655" cy="40290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dirty="0">
                <a:solidFill>
                  <a:srgbClr val="FFFFFF"/>
                </a:solidFill>
                <a:latin typeface="Corbel"/>
                <a:cs typeface="Corbel"/>
              </a:rPr>
              <a:t>Открытый</a:t>
            </a:r>
            <a:r>
              <a:rPr sz="2500" b="1" spc="-7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500" b="1" spc="-10" dirty="0">
                <a:solidFill>
                  <a:srgbClr val="FFFFFF"/>
                </a:solidFill>
                <a:latin typeface="Corbel"/>
                <a:cs typeface="Corbel"/>
              </a:rPr>
              <a:t>доступ</a:t>
            </a:r>
            <a:r>
              <a:rPr sz="2500" b="1" spc="-4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500" b="1" spc="-35" dirty="0">
                <a:solidFill>
                  <a:srgbClr val="FFFFFF"/>
                </a:solidFill>
                <a:latin typeface="Corbel"/>
                <a:cs typeface="Corbel"/>
              </a:rPr>
              <a:t>(Open</a:t>
            </a:r>
            <a:r>
              <a:rPr sz="2500" b="1" spc="-11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500" b="1" dirty="0">
                <a:solidFill>
                  <a:srgbClr val="FFFFFF"/>
                </a:solidFill>
                <a:latin typeface="Corbel"/>
                <a:cs typeface="Corbel"/>
              </a:rPr>
              <a:t>Access)</a:t>
            </a:r>
            <a:r>
              <a:rPr sz="2500" b="1" spc="-5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500" dirty="0">
                <a:solidFill>
                  <a:srgbClr val="FFFFFF"/>
                </a:solidFill>
                <a:latin typeface="Corbel"/>
                <a:cs typeface="Corbel"/>
              </a:rPr>
              <a:t>—</a:t>
            </a:r>
            <a:r>
              <a:rPr sz="2500" spc="-4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Corbel"/>
                <a:cs typeface="Corbel"/>
              </a:rPr>
              <a:t>бесплатно</a:t>
            </a:r>
            <a:r>
              <a:rPr sz="2500" spc="-5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500" dirty="0">
                <a:solidFill>
                  <a:srgbClr val="FFFFFF"/>
                </a:solidFill>
                <a:latin typeface="Corbel"/>
                <a:cs typeface="Corbel"/>
              </a:rPr>
              <a:t>для</a:t>
            </a:r>
            <a:r>
              <a:rPr sz="2500" spc="-4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500" spc="-20" dirty="0">
                <a:solidFill>
                  <a:srgbClr val="FFFFFF"/>
                </a:solidFill>
                <a:latin typeface="Corbel"/>
                <a:cs typeface="Corbel"/>
              </a:rPr>
              <a:t>всех</a:t>
            </a:r>
            <a:endParaRPr sz="25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2705"/>
              </a:spcBef>
            </a:pPr>
            <a:r>
              <a:rPr sz="2500" b="1" spc="-25" dirty="0">
                <a:solidFill>
                  <a:srgbClr val="FFFFFF"/>
                </a:solidFill>
                <a:latin typeface="Corbel"/>
                <a:cs typeface="Corbel"/>
              </a:rPr>
              <a:t>Веб-</a:t>
            </a:r>
            <a:r>
              <a:rPr sz="2500" b="1" spc="-20" dirty="0">
                <a:solidFill>
                  <a:srgbClr val="FFFFFF"/>
                </a:solidFill>
                <a:latin typeface="Corbel"/>
                <a:cs typeface="Corbel"/>
              </a:rPr>
              <a:t>интерфейс:</a:t>
            </a:r>
            <a:r>
              <a:rPr sz="2500" b="1" spc="-8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500" dirty="0">
                <a:solidFill>
                  <a:srgbClr val="FFFFFF"/>
                </a:solidFill>
                <a:latin typeface="Corbel"/>
                <a:cs typeface="Corbel"/>
              </a:rPr>
              <a:t>GUI</a:t>
            </a:r>
            <a:r>
              <a:rPr sz="2500" spc="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500" dirty="0">
                <a:solidFill>
                  <a:srgbClr val="FFFFFF"/>
                </a:solidFill>
                <a:latin typeface="Corbel"/>
                <a:cs typeface="Corbel"/>
              </a:rPr>
              <a:t>для</a:t>
            </a:r>
            <a:r>
              <a:rPr sz="2500" spc="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500" dirty="0">
                <a:solidFill>
                  <a:srgbClr val="FFFFFF"/>
                </a:solidFill>
                <a:latin typeface="Corbel"/>
                <a:cs typeface="Corbel"/>
              </a:rPr>
              <a:t>поиска и </a:t>
            </a:r>
            <a:r>
              <a:rPr sz="2500" spc="-10" dirty="0">
                <a:solidFill>
                  <a:srgbClr val="FFFFFF"/>
                </a:solidFill>
                <a:latin typeface="Corbel"/>
                <a:cs typeface="Corbel"/>
              </a:rPr>
              <a:t>скачивания</a:t>
            </a:r>
            <a:endParaRPr sz="2500">
              <a:latin typeface="Corbel"/>
              <a:cs typeface="Corbel"/>
            </a:endParaRPr>
          </a:p>
          <a:p>
            <a:pPr marL="12700" marR="2964180">
              <a:lnSpc>
                <a:spcPct val="190200"/>
              </a:lnSpc>
            </a:pPr>
            <a:r>
              <a:rPr sz="2500" b="1" spc="-20" dirty="0">
                <a:solidFill>
                  <a:srgbClr val="FFFFFF"/>
                </a:solidFill>
                <a:latin typeface="Corbel"/>
                <a:cs typeface="Corbel"/>
              </a:rPr>
              <a:t>Реклама:</a:t>
            </a:r>
            <a:r>
              <a:rPr sz="2500" b="1" spc="-10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500" dirty="0">
                <a:solidFill>
                  <a:srgbClr val="FFFFFF"/>
                </a:solidFill>
                <a:latin typeface="Corbel"/>
                <a:cs typeface="Corbel"/>
              </a:rPr>
              <a:t>полностью</a:t>
            </a:r>
            <a:r>
              <a:rPr sz="2500" spc="-8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Corbel"/>
                <a:cs typeface="Corbel"/>
              </a:rPr>
              <a:t>отсутствует </a:t>
            </a:r>
            <a:r>
              <a:rPr sz="2500" b="1" dirty="0">
                <a:solidFill>
                  <a:srgbClr val="FFFFFF"/>
                </a:solidFill>
                <a:latin typeface="Corbel"/>
                <a:cs typeface="Corbel"/>
              </a:rPr>
              <a:t>Язык</a:t>
            </a:r>
            <a:r>
              <a:rPr sz="2500" b="1" spc="-5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500" b="1" spc="-10" dirty="0">
                <a:solidFill>
                  <a:srgbClr val="FFFFFF"/>
                </a:solidFill>
                <a:latin typeface="Corbel"/>
                <a:cs typeface="Corbel"/>
              </a:rPr>
              <a:t>интерфейса:</a:t>
            </a:r>
            <a:r>
              <a:rPr sz="2500" b="1" spc="-6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Corbel"/>
                <a:cs typeface="Corbel"/>
              </a:rPr>
              <a:t>английский </a:t>
            </a:r>
            <a:r>
              <a:rPr sz="2500" b="1" spc="-20" dirty="0">
                <a:solidFill>
                  <a:srgbClr val="FFFFFF"/>
                </a:solidFill>
                <a:latin typeface="Corbel"/>
                <a:cs typeface="Corbel"/>
              </a:rPr>
              <a:t>Регионы:</a:t>
            </a:r>
            <a:r>
              <a:rPr sz="2500" b="1" spc="-10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Corbel"/>
                <a:cs typeface="Corbel"/>
              </a:rPr>
              <a:t>глобальный</a:t>
            </a:r>
            <a:r>
              <a:rPr sz="2500" spc="-8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Corbel"/>
                <a:cs typeface="Corbel"/>
              </a:rPr>
              <a:t>доступ</a:t>
            </a:r>
            <a:endParaRPr sz="25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2705"/>
              </a:spcBef>
            </a:pPr>
            <a:r>
              <a:rPr sz="2500" b="1" spc="-10" dirty="0">
                <a:solidFill>
                  <a:srgbClr val="FFFFFF"/>
                </a:solidFill>
                <a:latin typeface="Corbel"/>
                <a:cs typeface="Corbel"/>
              </a:rPr>
              <a:t>Финансирование:</a:t>
            </a:r>
            <a:r>
              <a:rPr sz="2500" b="1" spc="-4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500" spc="-20" dirty="0">
                <a:solidFill>
                  <a:srgbClr val="FFFFFF"/>
                </a:solidFill>
                <a:latin typeface="Corbel"/>
                <a:cs typeface="Corbel"/>
              </a:rPr>
              <a:t>государственное</a:t>
            </a:r>
            <a:r>
              <a:rPr sz="2500" spc="-5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500" spc="-25" dirty="0">
                <a:solidFill>
                  <a:srgbClr val="FFFFFF"/>
                </a:solidFill>
                <a:latin typeface="Corbel"/>
                <a:cs typeface="Corbel"/>
              </a:rPr>
              <a:t>(Германия,</a:t>
            </a:r>
            <a:r>
              <a:rPr sz="2500" spc="-6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2500" spc="-25" dirty="0">
                <a:solidFill>
                  <a:srgbClr val="FFFFFF"/>
                </a:solidFill>
                <a:latin typeface="Corbel"/>
                <a:cs typeface="Corbel"/>
              </a:rPr>
              <a:t>ЕС)</a:t>
            </a:r>
            <a:endParaRPr sz="25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5687" y="504825"/>
            <a:ext cx="4680191" cy="47142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829055" y="1946148"/>
            <a:ext cx="4789170" cy="4912360"/>
            <a:chOff x="829055" y="1946148"/>
            <a:chExt cx="4789170" cy="4912360"/>
          </a:xfrm>
        </p:grpSpPr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9055" y="5835392"/>
              <a:ext cx="4789170" cy="102260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6675" y="1946148"/>
              <a:ext cx="4774692" cy="3898061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08267" y="2032254"/>
            <a:ext cx="3790441" cy="3317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206490" y="2544826"/>
            <a:ext cx="3830582" cy="33121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213475" y="2928366"/>
            <a:ext cx="4831715" cy="3317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216903" y="3439414"/>
            <a:ext cx="3945890" cy="33121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196076" y="3904996"/>
            <a:ext cx="2186431" cy="24968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216903" y="4352544"/>
            <a:ext cx="4878578" cy="31267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213475" y="4799584"/>
            <a:ext cx="2637154" cy="249682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208267" y="5229605"/>
            <a:ext cx="5366385" cy="33172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213475" y="5613692"/>
            <a:ext cx="2425319" cy="310007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38200" y="1821738"/>
            <a:ext cx="4773167" cy="402247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6561" y="768858"/>
            <a:ext cx="8176234" cy="45643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90876" y="1861184"/>
            <a:ext cx="6590665" cy="54991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 marR="5080">
              <a:lnSpc>
                <a:spcPts val="1970"/>
              </a:lnSpc>
              <a:spcBef>
                <a:spcPts val="325"/>
              </a:spcBef>
            </a:pPr>
            <a:r>
              <a:rPr sz="1800" b="1" dirty="0">
                <a:latin typeface="Corbel"/>
                <a:cs typeface="Corbel"/>
              </a:rPr>
              <a:t>Data</a:t>
            </a:r>
            <a:r>
              <a:rPr sz="1800" b="1" spc="-45" dirty="0">
                <a:latin typeface="Corbel"/>
                <a:cs typeface="Corbel"/>
              </a:rPr>
              <a:t> </a:t>
            </a:r>
            <a:r>
              <a:rPr sz="1800" b="1" dirty="0">
                <a:latin typeface="Corbel"/>
                <a:cs typeface="Corbel"/>
              </a:rPr>
              <a:t>Science</a:t>
            </a:r>
            <a:r>
              <a:rPr sz="1800" b="1" spc="-50" dirty="0">
                <a:latin typeface="Corbel"/>
                <a:cs typeface="Corbel"/>
              </a:rPr>
              <a:t> </a:t>
            </a:r>
            <a:r>
              <a:rPr sz="1800" b="1" spc="-10" dirty="0">
                <a:latin typeface="Corbel"/>
                <a:cs typeface="Corbel"/>
              </a:rPr>
              <a:t>Symposium</a:t>
            </a:r>
            <a:r>
              <a:rPr sz="1800" b="1" spc="-5" dirty="0">
                <a:latin typeface="Corbel"/>
                <a:cs typeface="Corbel"/>
              </a:rPr>
              <a:t> </a:t>
            </a:r>
            <a:r>
              <a:rPr sz="1800" b="1" spc="-25" dirty="0">
                <a:latin typeface="Corbel"/>
                <a:cs typeface="Corbel"/>
              </a:rPr>
              <a:t>2025</a:t>
            </a:r>
            <a:r>
              <a:rPr sz="1800" b="1" spc="-15" dirty="0">
                <a:latin typeface="Corbel"/>
                <a:cs typeface="Corbel"/>
              </a:rPr>
              <a:t> </a:t>
            </a:r>
            <a:r>
              <a:rPr sz="1800" dirty="0"/>
              <a:t>—</a:t>
            </a:r>
            <a:r>
              <a:rPr sz="1800" spc="-10" dirty="0"/>
              <a:t> официальная</a:t>
            </a:r>
            <a:r>
              <a:rPr sz="1800" spc="-5" dirty="0"/>
              <a:t> </a:t>
            </a:r>
            <a:r>
              <a:rPr sz="1800" spc="-20" dirty="0"/>
              <a:t>презентация</a:t>
            </a:r>
            <a:r>
              <a:rPr sz="1800" spc="-100" dirty="0"/>
              <a:t> </a:t>
            </a:r>
            <a:r>
              <a:rPr sz="1800" spc="-20" dirty="0"/>
              <a:t>WDCC </a:t>
            </a:r>
            <a:r>
              <a:rPr sz="1800" spc="-10" dirty="0"/>
              <a:t>(Hereon,</a:t>
            </a:r>
            <a:r>
              <a:rPr sz="1800" spc="-45" dirty="0"/>
              <a:t> </a:t>
            </a:r>
            <a:r>
              <a:rPr sz="1800" dirty="0"/>
              <a:t>Sept</a:t>
            </a:r>
            <a:r>
              <a:rPr sz="1800" spc="-5" dirty="0"/>
              <a:t> </a:t>
            </a:r>
            <a:r>
              <a:rPr sz="1800" spc="-20" dirty="0"/>
              <a:t>2025)</a:t>
            </a:r>
            <a:endParaRPr sz="1800">
              <a:latin typeface="Corbel"/>
              <a:cs typeface="Corbe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628264" y="2476119"/>
            <a:ext cx="7073265" cy="172720"/>
            <a:chOff x="2628264" y="2476119"/>
            <a:chExt cx="7073265" cy="172720"/>
          </a:xfrm>
        </p:grpSpPr>
        <p:sp>
          <p:nvSpPr>
            <p:cNvPr id="5" name="object 5"/>
            <p:cNvSpPr/>
            <p:nvPr/>
          </p:nvSpPr>
          <p:spPr>
            <a:xfrm>
              <a:off x="2634614" y="2482469"/>
              <a:ext cx="960755" cy="160020"/>
            </a:xfrm>
            <a:custGeom>
              <a:avLst/>
              <a:gdLst/>
              <a:ahLst/>
              <a:cxnLst/>
              <a:rect l="l" t="t" r="r" b="b"/>
              <a:pathLst>
                <a:path w="960754" h="160019">
                  <a:moveTo>
                    <a:pt x="960627" y="0"/>
                  </a:moveTo>
                  <a:lnTo>
                    <a:pt x="225425" y="0"/>
                  </a:lnTo>
                  <a:lnTo>
                    <a:pt x="0" y="160019"/>
                  </a:lnTo>
                  <a:lnTo>
                    <a:pt x="735076" y="160019"/>
                  </a:lnTo>
                  <a:lnTo>
                    <a:pt x="960627" y="0"/>
                  </a:lnTo>
                  <a:close/>
                </a:path>
              </a:pathLst>
            </a:custGeom>
            <a:solidFill>
              <a:srgbClr val="41AD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634614" y="2482469"/>
              <a:ext cx="960755" cy="160020"/>
            </a:xfrm>
            <a:custGeom>
              <a:avLst/>
              <a:gdLst/>
              <a:ahLst/>
              <a:cxnLst/>
              <a:rect l="l" t="t" r="r" b="b"/>
              <a:pathLst>
                <a:path w="960754" h="160019">
                  <a:moveTo>
                    <a:pt x="0" y="160019"/>
                  </a:moveTo>
                  <a:lnTo>
                    <a:pt x="225425" y="0"/>
                  </a:lnTo>
                  <a:lnTo>
                    <a:pt x="960627" y="0"/>
                  </a:lnTo>
                  <a:lnTo>
                    <a:pt x="735076" y="160019"/>
                  </a:lnTo>
                  <a:lnTo>
                    <a:pt x="0" y="160019"/>
                  </a:lnTo>
                  <a:close/>
                </a:path>
              </a:pathLst>
            </a:custGeom>
            <a:ln w="12700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51250" y="2482469"/>
              <a:ext cx="960755" cy="160020"/>
            </a:xfrm>
            <a:custGeom>
              <a:avLst/>
              <a:gdLst/>
              <a:ahLst/>
              <a:cxnLst/>
              <a:rect l="l" t="t" r="r" b="b"/>
              <a:pathLst>
                <a:path w="960754" h="160019">
                  <a:moveTo>
                    <a:pt x="960627" y="0"/>
                  </a:moveTo>
                  <a:lnTo>
                    <a:pt x="225425" y="0"/>
                  </a:lnTo>
                  <a:lnTo>
                    <a:pt x="0" y="160019"/>
                  </a:lnTo>
                  <a:lnTo>
                    <a:pt x="735076" y="160019"/>
                  </a:lnTo>
                  <a:lnTo>
                    <a:pt x="960627" y="0"/>
                  </a:lnTo>
                  <a:close/>
                </a:path>
              </a:pathLst>
            </a:custGeom>
            <a:solidFill>
              <a:srgbClr val="41AD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651250" y="2482469"/>
              <a:ext cx="960755" cy="160020"/>
            </a:xfrm>
            <a:custGeom>
              <a:avLst/>
              <a:gdLst/>
              <a:ahLst/>
              <a:cxnLst/>
              <a:rect l="l" t="t" r="r" b="b"/>
              <a:pathLst>
                <a:path w="960754" h="160019">
                  <a:moveTo>
                    <a:pt x="0" y="160019"/>
                  </a:moveTo>
                  <a:lnTo>
                    <a:pt x="225425" y="0"/>
                  </a:lnTo>
                  <a:lnTo>
                    <a:pt x="960627" y="0"/>
                  </a:lnTo>
                  <a:lnTo>
                    <a:pt x="735076" y="160019"/>
                  </a:lnTo>
                  <a:lnTo>
                    <a:pt x="0" y="160019"/>
                  </a:lnTo>
                  <a:close/>
                </a:path>
              </a:pathLst>
            </a:custGeom>
            <a:ln w="12700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667885" y="2482469"/>
              <a:ext cx="960755" cy="160020"/>
            </a:xfrm>
            <a:custGeom>
              <a:avLst/>
              <a:gdLst/>
              <a:ahLst/>
              <a:cxnLst/>
              <a:rect l="l" t="t" r="r" b="b"/>
              <a:pathLst>
                <a:path w="960754" h="160019">
                  <a:moveTo>
                    <a:pt x="960627" y="0"/>
                  </a:moveTo>
                  <a:lnTo>
                    <a:pt x="225551" y="0"/>
                  </a:lnTo>
                  <a:lnTo>
                    <a:pt x="0" y="160019"/>
                  </a:lnTo>
                  <a:lnTo>
                    <a:pt x="735076" y="160019"/>
                  </a:lnTo>
                  <a:lnTo>
                    <a:pt x="960627" y="0"/>
                  </a:lnTo>
                  <a:close/>
                </a:path>
              </a:pathLst>
            </a:custGeom>
            <a:solidFill>
              <a:srgbClr val="41AD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667885" y="2482469"/>
              <a:ext cx="960755" cy="160020"/>
            </a:xfrm>
            <a:custGeom>
              <a:avLst/>
              <a:gdLst/>
              <a:ahLst/>
              <a:cxnLst/>
              <a:rect l="l" t="t" r="r" b="b"/>
              <a:pathLst>
                <a:path w="960754" h="160019">
                  <a:moveTo>
                    <a:pt x="0" y="160019"/>
                  </a:moveTo>
                  <a:lnTo>
                    <a:pt x="225551" y="0"/>
                  </a:lnTo>
                  <a:lnTo>
                    <a:pt x="960627" y="0"/>
                  </a:lnTo>
                  <a:lnTo>
                    <a:pt x="735076" y="160019"/>
                  </a:lnTo>
                  <a:lnTo>
                    <a:pt x="0" y="160019"/>
                  </a:lnTo>
                  <a:close/>
                </a:path>
              </a:pathLst>
            </a:custGeom>
            <a:ln w="12700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684519" y="2482469"/>
              <a:ext cx="960755" cy="160020"/>
            </a:xfrm>
            <a:custGeom>
              <a:avLst/>
              <a:gdLst/>
              <a:ahLst/>
              <a:cxnLst/>
              <a:rect l="l" t="t" r="r" b="b"/>
              <a:pathLst>
                <a:path w="960754" h="160019">
                  <a:moveTo>
                    <a:pt x="960627" y="0"/>
                  </a:moveTo>
                  <a:lnTo>
                    <a:pt x="225551" y="0"/>
                  </a:lnTo>
                  <a:lnTo>
                    <a:pt x="0" y="160019"/>
                  </a:lnTo>
                  <a:lnTo>
                    <a:pt x="735202" y="160019"/>
                  </a:lnTo>
                  <a:lnTo>
                    <a:pt x="960627" y="0"/>
                  </a:lnTo>
                  <a:close/>
                </a:path>
              </a:pathLst>
            </a:custGeom>
            <a:solidFill>
              <a:srgbClr val="41AD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684519" y="2482469"/>
              <a:ext cx="960755" cy="160020"/>
            </a:xfrm>
            <a:custGeom>
              <a:avLst/>
              <a:gdLst/>
              <a:ahLst/>
              <a:cxnLst/>
              <a:rect l="l" t="t" r="r" b="b"/>
              <a:pathLst>
                <a:path w="960754" h="160019">
                  <a:moveTo>
                    <a:pt x="0" y="160019"/>
                  </a:moveTo>
                  <a:lnTo>
                    <a:pt x="225551" y="0"/>
                  </a:lnTo>
                  <a:lnTo>
                    <a:pt x="960627" y="0"/>
                  </a:lnTo>
                  <a:lnTo>
                    <a:pt x="735202" y="160019"/>
                  </a:lnTo>
                  <a:lnTo>
                    <a:pt x="0" y="160019"/>
                  </a:lnTo>
                  <a:close/>
                </a:path>
              </a:pathLst>
            </a:custGeom>
            <a:ln w="12700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701155" y="2482469"/>
              <a:ext cx="960755" cy="160020"/>
            </a:xfrm>
            <a:custGeom>
              <a:avLst/>
              <a:gdLst/>
              <a:ahLst/>
              <a:cxnLst/>
              <a:rect l="l" t="t" r="r" b="b"/>
              <a:pathLst>
                <a:path w="960754" h="160019">
                  <a:moveTo>
                    <a:pt x="960627" y="0"/>
                  </a:moveTo>
                  <a:lnTo>
                    <a:pt x="225551" y="0"/>
                  </a:lnTo>
                  <a:lnTo>
                    <a:pt x="0" y="160019"/>
                  </a:lnTo>
                  <a:lnTo>
                    <a:pt x="735202" y="160019"/>
                  </a:lnTo>
                  <a:lnTo>
                    <a:pt x="960627" y="0"/>
                  </a:lnTo>
                  <a:close/>
                </a:path>
              </a:pathLst>
            </a:custGeom>
            <a:solidFill>
              <a:srgbClr val="41AD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701155" y="2482469"/>
              <a:ext cx="960755" cy="160020"/>
            </a:xfrm>
            <a:custGeom>
              <a:avLst/>
              <a:gdLst/>
              <a:ahLst/>
              <a:cxnLst/>
              <a:rect l="l" t="t" r="r" b="b"/>
              <a:pathLst>
                <a:path w="960754" h="160019">
                  <a:moveTo>
                    <a:pt x="0" y="160019"/>
                  </a:moveTo>
                  <a:lnTo>
                    <a:pt x="225551" y="0"/>
                  </a:lnTo>
                  <a:lnTo>
                    <a:pt x="960627" y="0"/>
                  </a:lnTo>
                  <a:lnTo>
                    <a:pt x="735202" y="160019"/>
                  </a:lnTo>
                  <a:lnTo>
                    <a:pt x="0" y="160019"/>
                  </a:lnTo>
                  <a:close/>
                </a:path>
              </a:pathLst>
            </a:custGeom>
            <a:ln w="12700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717789" y="2482469"/>
              <a:ext cx="960755" cy="160020"/>
            </a:xfrm>
            <a:custGeom>
              <a:avLst/>
              <a:gdLst/>
              <a:ahLst/>
              <a:cxnLst/>
              <a:rect l="l" t="t" r="r" b="b"/>
              <a:pathLst>
                <a:path w="960754" h="160019">
                  <a:moveTo>
                    <a:pt x="960627" y="0"/>
                  </a:moveTo>
                  <a:lnTo>
                    <a:pt x="225551" y="0"/>
                  </a:lnTo>
                  <a:lnTo>
                    <a:pt x="0" y="160019"/>
                  </a:lnTo>
                  <a:lnTo>
                    <a:pt x="735202" y="160019"/>
                  </a:lnTo>
                  <a:lnTo>
                    <a:pt x="960627" y="0"/>
                  </a:lnTo>
                  <a:close/>
                </a:path>
              </a:pathLst>
            </a:custGeom>
            <a:solidFill>
              <a:srgbClr val="41AD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717789" y="2482469"/>
              <a:ext cx="960755" cy="160020"/>
            </a:xfrm>
            <a:custGeom>
              <a:avLst/>
              <a:gdLst/>
              <a:ahLst/>
              <a:cxnLst/>
              <a:rect l="l" t="t" r="r" b="b"/>
              <a:pathLst>
                <a:path w="960754" h="160019">
                  <a:moveTo>
                    <a:pt x="0" y="160019"/>
                  </a:moveTo>
                  <a:lnTo>
                    <a:pt x="225551" y="0"/>
                  </a:lnTo>
                  <a:lnTo>
                    <a:pt x="960627" y="0"/>
                  </a:lnTo>
                  <a:lnTo>
                    <a:pt x="735202" y="160019"/>
                  </a:lnTo>
                  <a:lnTo>
                    <a:pt x="0" y="160019"/>
                  </a:lnTo>
                  <a:close/>
                </a:path>
              </a:pathLst>
            </a:custGeom>
            <a:ln w="12700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734551" y="2482469"/>
              <a:ext cx="960755" cy="160020"/>
            </a:xfrm>
            <a:custGeom>
              <a:avLst/>
              <a:gdLst/>
              <a:ahLst/>
              <a:cxnLst/>
              <a:rect l="l" t="t" r="r" b="b"/>
              <a:pathLst>
                <a:path w="960754" h="160019">
                  <a:moveTo>
                    <a:pt x="960627" y="0"/>
                  </a:moveTo>
                  <a:lnTo>
                    <a:pt x="225425" y="0"/>
                  </a:lnTo>
                  <a:lnTo>
                    <a:pt x="0" y="160019"/>
                  </a:lnTo>
                  <a:lnTo>
                    <a:pt x="735076" y="160019"/>
                  </a:lnTo>
                  <a:lnTo>
                    <a:pt x="960627" y="0"/>
                  </a:lnTo>
                  <a:close/>
                </a:path>
              </a:pathLst>
            </a:custGeom>
            <a:solidFill>
              <a:srgbClr val="41AD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734551" y="2482469"/>
              <a:ext cx="960755" cy="160020"/>
            </a:xfrm>
            <a:custGeom>
              <a:avLst/>
              <a:gdLst/>
              <a:ahLst/>
              <a:cxnLst/>
              <a:rect l="l" t="t" r="r" b="b"/>
              <a:pathLst>
                <a:path w="960754" h="160019">
                  <a:moveTo>
                    <a:pt x="0" y="160019"/>
                  </a:moveTo>
                  <a:lnTo>
                    <a:pt x="225425" y="0"/>
                  </a:lnTo>
                  <a:lnTo>
                    <a:pt x="960627" y="0"/>
                  </a:lnTo>
                  <a:lnTo>
                    <a:pt x="735076" y="160019"/>
                  </a:lnTo>
                  <a:lnTo>
                    <a:pt x="0" y="160019"/>
                  </a:lnTo>
                  <a:close/>
                </a:path>
              </a:pathLst>
            </a:custGeom>
            <a:ln w="12700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2628264" y="3359277"/>
            <a:ext cx="7073265" cy="172720"/>
            <a:chOff x="2628264" y="3359277"/>
            <a:chExt cx="7073265" cy="172720"/>
          </a:xfrm>
        </p:grpSpPr>
        <p:sp>
          <p:nvSpPr>
            <p:cNvPr id="20" name="object 20"/>
            <p:cNvSpPr/>
            <p:nvPr/>
          </p:nvSpPr>
          <p:spPr>
            <a:xfrm>
              <a:off x="2634614" y="3365627"/>
              <a:ext cx="960755" cy="160020"/>
            </a:xfrm>
            <a:custGeom>
              <a:avLst/>
              <a:gdLst/>
              <a:ahLst/>
              <a:cxnLst/>
              <a:rect l="l" t="t" r="r" b="b"/>
              <a:pathLst>
                <a:path w="960754" h="160020">
                  <a:moveTo>
                    <a:pt x="960627" y="0"/>
                  </a:moveTo>
                  <a:lnTo>
                    <a:pt x="225425" y="0"/>
                  </a:lnTo>
                  <a:lnTo>
                    <a:pt x="0" y="160020"/>
                  </a:lnTo>
                  <a:lnTo>
                    <a:pt x="735076" y="160020"/>
                  </a:lnTo>
                  <a:lnTo>
                    <a:pt x="960627" y="0"/>
                  </a:lnTo>
                  <a:close/>
                </a:path>
              </a:pathLst>
            </a:custGeom>
            <a:solidFill>
              <a:srgbClr val="41AD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634614" y="3365627"/>
              <a:ext cx="960755" cy="160020"/>
            </a:xfrm>
            <a:custGeom>
              <a:avLst/>
              <a:gdLst/>
              <a:ahLst/>
              <a:cxnLst/>
              <a:rect l="l" t="t" r="r" b="b"/>
              <a:pathLst>
                <a:path w="960754" h="160020">
                  <a:moveTo>
                    <a:pt x="0" y="160020"/>
                  </a:moveTo>
                  <a:lnTo>
                    <a:pt x="225425" y="0"/>
                  </a:lnTo>
                  <a:lnTo>
                    <a:pt x="960627" y="0"/>
                  </a:lnTo>
                  <a:lnTo>
                    <a:pt x="735076" y="160020"/>
                  </a:lnTo>
                  <a:lnTo>
                    <a:pt x="0" y="160020"/>
                  </a:lnTo>
                  <a:close/>
                </a:path>
              </a:pathLst>
            </a:custGeom>
            <a:ln w="12700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51250" y="3365627"/>
              <a:ext cx="960755" cy="160020"/>
            </a:xfrm>
            <a:custGeom>
              <a:avLst/>
              <a:gdLst/>
              <a:ahLst/>
              <a:cxnLst/>
              <a:rect l="l" t="t" r="r" b="b"/>
              <a:pathLst>
                <a:path w="960754" h="160020">
                  <a:moveTo>
                    <a:pt x="960627" y="0"/>
                  </a:moveTo>
                  <a:lnTo>
                    <a:pt x="225425" y="0"/>
                  </a:lnTo>
                  <a:lnTo>
                    <a:pt x="0" y="160020"/>
                  </a:lnTo>
                  <a:lnTo>
                    <a:pt x="735076" y="160020"/>
                  </a:lnTo>
                  <a:lnTo>
                    <a:pt x="960627" y="0"/>
                  </a:lnTo>
                  <a:close/>
                </a:path>
              </a:pathLst>
            </a:custGeom>
            <a:solidFill>
              <a:srgbClr val="41AD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651250" y="3365627"/>
              <a:ext cx="960755" cy="160020"/>
            </a:xfrm>
            <a:custGeom>
              <a:avLst/>
              <a:gdLst/>
              <a:ahLst/>
              <a:cxnLst/>
              <a:rect l="l" t="t" r="r" b="b"/>
              <a:pathLst>
                <a:path w="960754" h="160020">
                  <a:moveTo>
                    <a:pt x="0" y="160020"/>
                  </a:moveTo>
                  <a:lnTo>
                    <a:pt x="225425" y="0"/>
                  </a:lnTo>
                  <a:lnTo>
                    <a:pt x="960627" y="0"/>
                  </a:lnTo>
                  <a:lnTo>
                    <a:pt x="735076" y="160020"/>
                  </a:lnTo>
                  <a:lnTo>
                    <a:pt x="0" y="160020"/>
                  </a:lnTo>
                  <a:close/>
                </a:path>
              </a:pathLst>
            </a:custGeom>
            <a:ln w="12700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667885" y="3365627"/>
              <a:ext cx="960755" cy="160020"/>
            </a:xfrm>
            <a:custGeom>
              <a:avLst/>
              <a:gdLst/>
              <a:ahLst/>
              <a:cxnLst/>
              <a:rect l="l" t="t" r="r" b="b"/>
              <a:pathLst>
                <a:path w="960754" h="160020">
                  <a:moveTo>
                    <a:pt x="960627" y="0"/>
                  </a:moveTo>
                  <a:lnTo>
                    <a:pt x="225551" y="0"/>
                  </a:lnTo>
                  <a:lnTo>
                    <a:pt x="0" y="160020"/>
                  </a:lnTo>
                  <a:lnTo>
                    <a:pt x="735076" y="160020"/>
                  </a:lnTo>
                  <a:lnTo>
                    <a:pt x="960627" y="0"/>
                  </a:lnTo>
                  <a:close/>
                </a:path>
              </a:pathLst>
            </a:custGeom>
            <a:solidFill>
              <a:srgbClr val="41AD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667885" y="3365627"/>
              <a:ext cx="960755" cy="160020"/>
            </a:xfrm>
            <a:custGeom>
              <a:avLst/>
              <a:gdLst/>
              <a:ahLst/>
              <a:cxnLst/>
              <a:rect l="l" t="t" r="r" b="b"/>
              <a:pathLst>
                <a:path w="960754" h="160020">
                  <a:moveTo>
                    <a:pt x="0" y="160020"/>
                  </a:moveTo>
                  <a:lnTo>
                    <a:pt x="225551" y="0"/>
                  </a:lnTo>
                  <a:lnTo>
                    <a:pt x="960627" y="0"/>
                  </a:lnTo>
                  <a:lnTo>
                    <a:pt x="735076" y="160020"/>
                  </a:lnTo>
                  <a:lnTo>
                    <a:pt x="0" y="160020"/>
                  </a:lnTo>
                  <a:close/>
                </a:path>
              </a:pathLst>
            </a:custGeom>
            <a:ln w="12700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684519" y="3365627"/>
              <a:ext cx="960755" cy="160020"/>
            </a:xfrm>
            <a:custGeom>
              <a:avLst/>
              <a:gdLst/>
              <a:ahLst/>
              <a:cxnLst/>
              <a:rect l="l" t="t" r="r" b="b"/>
              <a:pathLst>
                <a:path w="960754" h="160020">
                  <a:moveTo>
                    <a:pt x="960627" y="0"/>
                  </a:moveTo>
                  <a:lnTo>
                    <a:pt x="225551" y="0"/>
                  </a:lnTo>
                  <a:lnTo>
                    <a:pt x="0" y="160020"/>
                  </a:lnTo>
                  <a:lnTo>
                    <a:pt x="735202" y="160020"/>
                  </a:lnTo>
                  <a:lnTo>
                    <a:pt x="960627" y="0"/>
                  </a:lnTo>
                  <a:close/>
                </a:path>
              </a:pathLst>
            </a:custGeom>
            <a:solidFill>
              <a:srgbClr val="41AD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684519" y="3365627"/>
              <a:ext cx="960755" cy="160020"/>
            </a:xfrm>
            <a:custGeom>
              <a:avLst/>
              <a:gdLst/>
              <a:ahLst/>
              <a:cxnLst/>
              <a:rect l="l" t="t" r="r" b="b"/>
              <a:pathLst>
                <a:path w="960754" h="160020">
                  <a:moveTo>
                    <a:pt x="0" y="160020"/>
                  </a:moveTo>
                  <a:lnTo>
                    <a:pt x="225551" y="0"/>
                  </a:lnTo>
                  <a:lnTo>
                    <a:pt x="960627" y="0"/>
                  </a:lnTo>
                  <a:lnTo>
                    <a:pt x="735202" y="160020"/>
                  </a:lnTo>
                  <a:lnTo>
                    <a:pt x="0" y="160020"/>
                  </a:lnTo>
                  <a:close/>
                </a:path>
              </a:pathLst>
            </a:custGeom>
            <a:ln w="12700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701155" y="3365627"/>
              <a:ext cx="960755" cy="160020"/>
            </a:xfrm>
            <a:custGeom>
              <a:avLst/>
              <a:gdLst/>
              <a:ahLst/>
              <a:cxnLst/>
              <a:rect l="l" t="t" r="r" b="b"/>
              <a:pathLst>
                <a:path w="960754" h="160020">
                  <a:moveTo>
                    <a:pt x="960627" y="0"/>
                  </a:moveTo>
                  <a:lnTo>
                    <a:pt x="225551" y="0"/>
                  </a:lnTo>
                  <a:lnTo>
                    <a:pt x="0" y="160020"/>
                  </a:lnTo>
                  <a:lnTo>
                    <a:pt x="735202" y="160020"/>
                  </a:lnTo>
                  <a:lnTo>
                    <a:pt x="960627" y="0"/>
                  </a:lnTo>
                  <a:close/>
                </a:path>
              </a:pathLst>
            </a:custGeom>
            <a:solidFill>
              <a:srgbClr val="41AD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701155" y="3365627"/>
              <a:ext cx="960755" cy="160020"/>
            </a:xfrm>
            <a:custGeom>
              <a:avLst/>
              <a:gdLst/>
              <a:ahLst/>
              <a:cxnLst/>
              <a:rect l="l" t="t" r="r" b="b"/>
              <a:pathLst>
                <a:path w="960754" h="160020">
                  <a:moveTo>
                    <a:pt x="0" y="160020"/>
                  </a:moveTo>
                  <a:lnTo>
                    <a:pt x="225551" y="0"/>
                  </a:lnTo>
                  <a:lnTo>
                    <a:pt x="960627" y="0"/>
                  </a:lnTo>
                  <a:lnTo>
                    <a:pt x="735202" y="160020"/>
                  </a:lnTo>
                  <a:lnTo>
                    <a:pt x="0" y="160020"/>
                  </a:lnTo>
                  <a:close/>
                </a:path>
              </a:pathLst>
            </a:custGeom>
            <a:ln w="12700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717789" y="3365627"/>
              <a:ext cx="960755" cy="160020"/>
            </a:xfrm>
            <a:custGeom>
              <a:avLst/>
              <a:gdLst/>
              <a:ahLst/>
              <a:cxnLst/>
              <a:rect l="l" t="t" r="r" b="b"/>
              <a:pathLst>
                <a:path w="960754" h="160020">
                  <a:moveTo>
                    <a:pt x="960627" y="0"/>
                  </a:moveTo>
                  <a:lnTo>
                    <a:pt x="225551" y="0"/>
                  </a:lnTo>
                  <a:lnTo>
                    <a:pt x="0" y="160020"/>
                  </a:lnTo>
                  <a:lnTo>
                    <a:pt x="735202" y="160020"/>
                  </a:lnTo>
                  <a:lnTo>
                    <a:pt x="960627" y="0"/>
                  </a:lnTo>
                  <a:close/>
                </a:path>
              </a:pathLst>
            </a:custGeom>
            <a:solidFill>
              <a:srgbClr val="41AD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717789" y="3365627"/>
              <a:ext cx="960755" cy="160020"/>
            </a:xfrm>
            <a:custGeom>
              <a:avLst/>
              <a:gdLst/>
              <a:ahLst/>
              <a:cxnLst/>
              <a:rect l="l" t="t" r="r" b="b"/>
              <a:pathLst>
                <a:path w="960754" h="160020">
                  <a:moveTo>
                    <a:pt x="0" y="160020"/>
                  </a:moveTo>
                  <a:lnTo>
                    <a:pt x="225551" y="0"/>
                  </a:lnTo>
                  <a:lnTo>
                    <a:pt x="960627" y="0"/>
                  </a:lnTo>
                  <a:lnTo>
                    <a:pt x="735202" y="160020"/>
                  </a:lnTo>
                  <a:lnTo>
                    <a:pt x="0" y="160020"/>
                  </a:lnTo>
                  <a:close/>
                </a:path>
              </a:pathLst>
            </a:custGeom>
            <a:ln w="12700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734551" y="3365627"/>
              <a:ext cx="960755" cy="160020"/>
            </a:xfrm>
            <a:custGeom>
              <a:avLst/>
              <a:gdLst/>
              <a:ahLst/>
              <a:cxnLst/>
              <a:rect l="l" t="t" r="r" b="b"/>
              <a:pathLst>
                <a:path w="960754" h="160020">
                  <a:moveTo>
                    <a:pt x="960627" y="0"/>
                  </a:moveTo>
                  <a:lnTo>
                    <a:pt x="225425" y="0"/>
                  </a:lnTo>
                  <a:lnTo>
                    <a:pt x="0" y="160020"/>
                  </a:lnTo>
                  <a:lnTo>
                    <a:pt x="735076" y="160020"/>
                  </a:lnTo>
                  <a:lnTo>
                    <a:pt x="960627" y="0"/>
                  </a:lnTo>
                  <a:close/>
                </a:path>
              </a:pathLst>
            </a:custGeom>
            <a:solidFill>
              <a:srgbClr val="41AD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734551" y="3365627"/>
              <a:ext cx="960755" cy="160020"/>
            </a:xfrm>
            <a:custGeom>
              <a:avLst/>
              <a:gdLst/>
              <a:ahLst/>
              <a:cxnLst/>
              <a:rect l="l" t="t" r="r" b="b"/>
              <a:pathLst>
                <a:path w="960754" h="160020">
                  <a:moveTo>
                    <a:pt x="0" y="160020"/>
                  </a:moveTo>
                  <a:lnTo>
                    <a:pt x="225425" y="0"/>
                  </a:lnTo>
                  <a:lnTo>
                    <a:pt x="960627" y="0"/>
                  </a:lnTo>
                  <a:lnTo>
                    <a:pt x="735076" y="160020"/>
                  </a:lnTo>
                  <a:lnTo>
                    <a:pt x="0" y="160020"/>
                  </a:lnTo>
                  <a:close/>
                </a:path>
              </a:pathLst>
            </a:custGeom>
            <a:ln w="12700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2628264" y="4242434"/>
            <a:ext cx="7073265" cy="172720"/>
            <a:chOff x="2628264" y="4242434"/>
            <a:chExt cx="7073265" cy="172720"/>
          </a:xfrm>
        </p:grpSpPr>
        <p:sp>
          <p:nvSpPr>
            <p:cNvPr id="35" name="object 35"/>
            <p:cNvSpPr/>
            <p:nvPr/>
          </p:nvSpPr>
          <p:spPr>
            <a:xfrm>
              <a:off x="2634614" y="4248784"/>
              <a:ext cx="960755" cy="160020"/>
            </a:xfrm>
            <a:custGeom>
              <a:avLst/>
              <a:gdLst/>
              <a:ahLst/>
              <a:cxnLst/>
              <a:rect l="l" t="t" r="r" b="b"/>
              <a:pathLst>
                <a:path w="960754" h="160020">
                  <a:moveTo>
                    <a:pt x="960627" y="0"/>
                  </a:moveTo>
                  <a:lnTo>
                    <a:pt x="225425" y="0"/>
                  </a:lnTo>
                  <a:lnTo>
                    <a:pt x="0" y="160019"/>
                  </a:lnTo>
                  <a:lnTo>
                    <a:pt x="735076" y="160019"/>
                  </a:lnTo>
                  <a:lnTo>
                    <a:pt x="960627" y="0"/>
                  </a:lnTo>
                  <a:close/>
                </a:path>
              </a:pathLst>
            </a:custGeom>
            <a:solidFill>
              <a:srgbClr val="41AD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634614" y="4248784"/>
              <a:ext cx="960755" cy="160020"/>
            </a:xfrm>
            <a:custGeom>
              <a:avLst/>
              <a:gdLst/>
              <a:ahLst/>
              <a:cxnLst/>
              <a:rect l="l" t="t" r="r" b="b"/>
              <a:pathLst>
                <a:path w="960754" h="160020">
                  <a:moveTo>
                    <a:pt x="0" y="160019"/>
                  </a:moveTo>
                  <a:lnTo>
                    <a:pt x="225425" y="0"/>
                  </a:lnTo>
                  <a:lnTo>
                    <a:pt x="960627" y="0"/>
                  </a:lnTo>
                  <a:lnTo>
                    <a:pt x="735076" y="160019"/>
                  </a:lnTo>
                  <a:lnTo>
                    <a:pt x="0" y="160019"/>
                  </a:lnTo>
                  <a:close/>
                </a:path>
              </a:pathLst>
            </a:custGeom>
            <a:ln w="12699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651250" y="4248784"/>
              <a:ext cx="960755" cy="160020"/>
            </a:xfrm>
            <a:custGeom>
              <a:avLst/>
              <a:gdLst/>
              <a:ahLst/>
              <a:cxnLst/>
              <a:rect l="l" t="t" r="r" b="b"/>
              <a:pathLst>
                <a:path w="960754" h="160020">
                  <a:moveTo>
                    <a:pt x="960627" y="0"/>
                  </a:moveTo>
                  <a:lnTo>
                    <a:pt x="225425" y="0"/>
                  </a:lnTo>
                  <a:lnTo>
                    <a:pt x="0" y="160019"/>
                  </a:lnTo>
                  <a:lnTo>
                    <a:pt x="735076" y="160019"/>
                  </a:lnTo>
                  <a:lnTo>
                    <a:pt x="960627" y="0"/>
                  </a:lnTo>
                  <a:close/>
                </a:path>
              </a:pathLst>
            </a:custGeom>
            <a:solidFill>
              <a:srgbClr val="41AD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651250" y="4248784"/>
              <a:ext cx="960755" cy="160020"/>
            </a:xfrm>
            <a:custGeom>
              <a:avLst/>
              <a:gdLst/>
              <a:ahLst/>
              <a:cxnLst/>
              <a:rect l="l" t="t" r="r" b="b"/>
              <a:pathLst>
                <a:path w="960754" h="160020">
                  <a:moveTo>
                    <a:pt x="0" y="160019"/>
                  </a:moveTo>
                  <a:lnTo>
                    <a:pt x="225425" y="0"/>
                  </a:lnTo>
                  <a:lnTo>
                    <a:pt x="960627" y="0"/>
                  </a:lnTo>
                  <a:lnTo>
                    <a:pt x="735076" y="160019"/>
                  </a:lnTo>
                  <a:lnTo>
                    <a:pt x="0" y="160019"/>
                  </a:lnTo>
                  <a:close/>
                </a:path>
              </a:pathLst>
            </a:custGeom>
            <a:ln w="12699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667885" y="4248784"/>
              <a:ext cx="960755" cy="160020"/>
            </a:xfrm>
            <a:custGeom>
              <a:avLst/>
              <a:gdLst/>
              <a:ahLst/>
              <a:cxnLst/>
              <a:rect l="l" t="t" r="r" b="b"/>
              <a:pathLst>
                <a:path w="960754" h="160020">
                  <a:moveTo>
                    <a:pt x="960627" y="0"/>
                  </a:moveTo>
                  <a:lnTo>
                    <a:pt x="225551" y="0"/>
                  </a:lnTo>
                  <a:lnTo>
                    <a:pt x="0" y="160019"/>
                  </a:lnTo>
                  <a:lnTo>
                    <a:pt x="735076" y="160019"/>
                  </a:lnTo>
                  <a:lnTo>
                    <a:pt x="960627" y="0"/>
                  </a:lnTo>
                  <a:close/>
                </a:path>
              </a:pathLst>
            </a:custGeom>
            <a:solidFill>
              <a:srgbClr val="41AD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667885" y="4248784"/>
              <a:ext cx="960755" cy="160020"/>
            </a:xfrm>
            <a:custGeom>
              <a:avLst/>
              <a:gdLst/>
              <a:ahLst/>
              <a:cxnLst/>
              <a:rect l="l" t="t" r="r" b="b"/>
              <a:pathLst>
                <a:path w="960754" h="160020">
                  <a:moveTo>
                    <a:pt x="0" y="160019"/>
                  </a:moveTo>
                  <a:lnTo>
                    <a:pt x="225551" y="0"/>
                  </a:lnTo>
                  <a:lnTo>
                    <a:pt x="960627" y="0"/>
                  </a:lnTo>
                  <a:lnTo>
                    <a:pt x="735076" y="160019"/>
                  </a:lnTo>
                  <a:lnTo>
                    <a:pt x="0" y="160019"/>
                  </a:lnTo>
                  <a:close/>
                </a:path>
              </a:pathLst>
            </a:custGeom>
            <a:ln w="12699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684519" y="4248784"/>
              <a:ext cx="960755" cy="160020"/>
            </a:xfrm>
            <a:custGeom>
              <a:avLst/>
              <a:gdLst/>
              <a:ahLst/>
              <a:cxnLst/>
              <a:rect l="l" t="t" r="r" b="b"/>
              <a:pathLst>
                <a:path w="960754" h="160020">
                  <a:moveTo>
                    <a:pt x="960627" y="0"/>
                  </a:moveTo>
                  <a:lnTo>
                    <a:pt x="225551" y="0"/>
                  </a:lnTo>
                  <a:lnTo>
                    <a:pt x="0" y="160019"/>
                  </a:lnTo>
                  <a:lnTo>
                    <a:pt x="735202" y="160019"/>
                  </a:lnTo>
                  <a:lnTo>
                    <a:pt x="960627" y="0"/>
                  </a:lnTo>
                  <a:close/>
                </a:path>
              </a:pathLst>
            </a:custGeom>
            <a:solidFill>
              <a:srgbClr val="41AD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684519" y="4248784"/>
              <a:ext cx="960755" cy="160020"/>
            </a:xfrm>
            <a:custGeom>
              <a:avLst/>
              <a:gdLst/>
              <a:ahLst/>
              <a:cxnLst/>
              <a:rect l="l" t="t" r="r" b="b"/>
              <a:pathLst>
                <a:path w="960754" h="160020">
                  <a:moveTo>
                    <a:pt x="0" y="160019"/>
                  </a:moveTo>
                  <a:lnTo>
                    <a:pt x="225551" y="0"/>
                  </a:lnTo>
                  <a:lnTo>
                    <a:pt x="960627" y="0"/>
                  </a:lnTo>
                  <a:lnTo>
                    <a:pt x="735202" y="160019"/>
                  </a:lnTo>
                  <a:lnTo>
                    <a:pt x="0" y="160019"/>
                  </a:lnTo>
                  <a:close/>
                </a:path>
              </a:pathLst>
            </a:custGeom>
            <a:ln w="12699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701155" y="4248784"/>
              <a:ext cx="960755" cy="160020"/>
            </a:xfrm>
            <a:custGeom>
              <a:avLst/>
              <a:gdLst/>
              <a:ahLst/>
              <a:cxnLst/>
              <a:rect l="l" t="t" r="r" b="b"/>
              <a:pathLst>
                <a:path w="960754" h="160020">
                  <a:moveTo>
                    <a:pt x="960627" y="0"/>
                  </a:moveTo>
                  <a:lnTo>
                    <a:pt x="225551" y="0"/>
                  </a:lnTo>
                  <a:lnTo>
                    <a:pt x="0" y="160019"/>
                  </a:lnTo>
                  <a:lnTo>
                    <a:pt x="735202" y="160019"/>
                  </a:lnTo>
                  <a:lnTo>
                    <a:pt x="960627" y="0"/>
                  </a:lnTo>
                  <a:close/>
                </a:path>
              </a:pathLst>
            </a:custGeom>
            <a:solidFill>
              <a:srgbClr val="41AD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701155" y="4248784"/>
              <a:ext cx="960755" cy="160020"/>
            </a:xfrm>
            <a:custGeom>
              <a:avLst/>
              <a:gdLst/>
              <a:ahLst/>
              <a:cxnLst/>
              <a:rect l="l" t="t" r="r" b="b"/>
              <a:pathLst>
                <a:path w="960754" h="160020">
                  <a:moveTo>
                    <a:pt x="0" y="160019"/>
                  </a:moveTo>
                  <a:lnTo>
                    <a:pt x="225551" y="0"/>
                  </a:lnTo>
                  <a:lnTo>
                    <a:pt x="960627" y="0"/>
                  </a:lnTo>
                  <a:lnTo>
                    <a:pt x="735202" y="160019"/>
                  </a:lnTo>
                  <a:lnTo>
                    <a:pt x="0" y="160019"/>
                  </a:lnTo>
                  <a:close/>
                </a:path>
              </a:pathLst>
            </a:custGeom>
            <a:ln w="12699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717789" y="4248784"/>
              <a:ext cx="960755" cy="160020"/>
            </a:xfrm>
            <a:custGeom>
              <a:avLst/>
              <a:gdLst/>
              <a:ahLst/>
              <a:cxnLst/>
              <a:rect l="l" t="t" r="r" b="b"/>
              <a:pathLst>
                <a:path w="960754" h="160020">
                  <a:moveTo>
                    <a:pt x="960627" y="0"/>
                  </a:moveTo>
                  <a:lnTo>
                    <a:pt x="225551" y="0"/>
                  </a:lnTo>
                  <a:lnTo>
                    <a:pt x="0" y="160019"/>
                  </a:lnTo>
                  <a:lnTo>
                    <a:pt x="735202" y="160019"/>
                  </a:lnTo>
                  <a:lnTo>
                    <a:pt x="960627" y="0"/>
                  </a:lnTo>
                  <a:close/>
                </a:path>
              </a:pathLst>
            </a:custGeom>
            <a:solidFill>
              <a:srgbClr val="41AD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717789" y="4248784"/>
              <a:ext cx="960755" cy="160020"/>
            </a:xfrm>
            <a:custGeom>
              <a:avLst/>
              <a:gdLst/>
              <a:ahLst/>
              <a:cxnLst/>
              <a:rect l="l" t="t" r="r" b="b"/>
              <a:pathLst>
                <a:path w="960754" h="160020">
                  <a:moveTo>
                    <a:pt x="0" y="160019"/>
                  </a:moveTo>
                  <a:lnTo>
                    <a:pt x="225551" y="0"/>
                  </a:lnTo>
                  <a:lnTo>
                    <a:pt x="960627" y="0"/>
                  </a:lnTo>
                  <a:lnTo>
                    <a:pt x="735202" y="160019"/>
                  </a:lnTo>
                  <a:lnTo>
                    <a:pt x="0" y="160019"/>
                  </a:lnTo>
                  <a:close/>
                </a:path>
              </a:pathLst>
            </a:custGeom>
            <a:ln w="12699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8734551" y="4248784"/>
              <a:ext cx="960755" cy="160020"/>
            </a:xfrm>
            <a:custGeom>
              <a:avLst/>
              <a:gdLst/>
              <a:ahLst/>
              <a:cxnLst/>
              <a:rect l="l" t="t" r="r" b="b"/>
              <a:pathLst>
                <a:path w="960754" h="160020">
                  <a:moveTo>
                    <a:pt x="960627" y="0"/>
                  </a:moveTo>
                  <a:lnTo>
                    <a:pt x="225425" y="0"/>
                  </a:lnTo>
                  <a:lnTo>
                    <a:pt x="0" y="160019"/>
                  </a:lnTo>
                  <a:lnTo>
                    <a:pt x="735076" y="160019"/>
                  </a:lnTo>
                  <a:lnTo>
                    <a:pt x="960627" y="0"/>
                  </a:lnTo>
                  <a:close/>
                </a:path>
              </a:pathLst>
            </a:custGeom>
            <a:solidFill>
              <a:srgbClr val="41AD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734551" y="4248784"/>
              <a:ext cx="960755" cy="160020"/>
            </a:xfrm>
            <a:custGeom>
              <a:avLst/>
              <a:gdLst/>
              <a:ahLst/>
              <a:cxnLst/>
              <a:rect l="l" t="t" r="r" b="b"/>
              <a:pathLst>
                <a:path w="960754" h="160020">
                  <a:moveTo>
                    <a:pt x="0" y="160019"/>
                  </a:moveTo>
                  <a:lnTo>
                    <a:pt x="225425" y="0"/>
                  </a:lnTo>
                  <a:lnTo>
                    <a:pt x="960627" y="0"/>
                  </a:lnTo>
                  <a:lnTo>
                    <a:pt x="735076" y="160019"/>
                  </a:lnTo>
                  <a:lnTo>
                    <a:pt x="0" y="160019"/>
                  </a:lnTo>
                  <a:close/>
                </a:path>
              </a:pathLst>
            </a:custGeom>
            <a:ln w="12699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9" name="object 49"/>
          <p:cNvGrpSpPr/>
          <p:nvPr/>
        </p:nvGrpSpPr>
        <p:grpSpPr>
          <a:xfrm>
            <a:off x="2628264" y="5125465"/>
            <a:ext cx="7073265" cy="173355"/>
            <a:chOff x="2628264" y="5125465"/>
            <a:chExt cx="7073265" cy="173355"/>
          </a:xfrm>
        </p:grpSpPr>
        <p:sp>
          <p:nvSpPr>
            <p:cNvPr id="50" name="object 50"/>
            <p:cNvSpPr/>
            <p:nvPr/>
          </p:nvSpPr>
          <p:spPr>
            <a:xfrm>
              <a:off x="2634614" y="5131815"/>
              <a:ext cx="960755" cy="160655"/>
            </a:xfrm>
            <a:custGeom>
              <a:avLst/>
              <a:gdLst/>
              <a:ahLst/>
              <a:cxnLst/>
              <a:rect l="l" t="t" r="r" b="b"/>
              <a:pathLst>
                <a:path w="960754" h="160654">
                  <a:moveTo>
                    <a:pt x="960627" y="0"/>
                  </a:moveTo>
                  <a:lnTo>
                    <a:pt x="225425" y="0"/>
                  </a:lnTo>
                  <a:lnTo>
                    <a:pt x="0" y="160146"/>
                  </a:lnTo>
                  <a:lnTo>
                    <a:pt x="735076" y="160146"/>
                  </a:lnTo>
                  <a:lnTo>
                    <a:pt x="960627" y="0"/>
                  </a:lnTo>
                  <a:close/>
                </a:path>
              </a:pathLst>
            </a:custGeom>
            <a:solidFill>
              <a:srgbClr val="41AD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634614" y="5131815"/>
              <a:ext cx="960755" cy="160655"/>
            </a:xfrm>
            <a:custGeom>
              <a:avLst/>
              <a:gdLst/>
              <a:ahLst/>
              <a:cxnLst/>
              <a:rect l="l" t="t" r="r" b="b"/>
              <a:pathLst>
                <a:path w="960754" h="160654">
                  <a:moveTo>
                    <a:pt x="0" y="160146"/>
                  </a:moveTo>
                  <a:lnTo>
                    <a:pt x="225425" y="0"/>
                  </a:lnTo>
                  <a:lnTo>
                    <a:pt x="960627" y="0"/>
                  </a:lnTo>
                  <a:lnTo>
                    <a:pt x="735076" y="160146"/>
                  </a:lnTo>
                  <a:lnTo>
                    <a:pt x="0" y="160146"/>
                  </a:lnTo>
                  <a:close/>
                </a:path>
              </a:pathLst>
            </a:custGeom>
            <a:ln w="12700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651250" y="5131815"/>
              <a:ext cx="960755" cy="160655"/>
            </a:xfrm>
            <a:custGeom>
              <a:avLst/>
              <a:gdLst/>
              <a:ahLst/>
              <a:cxnLst/>
              <a:rect l="l" t="t" r="r" b="b"/>
              <a:pathLst>
                <a:path w="960754" h="160654">
                  <a:moveTo>
                    <a:pt x="960627" y="0"/>
                  </a:moveTo>
                  <a:lnTo>
                    <a:pt x="225425" y="0"/>
                  </a:lnTo>
                  <a:lnTo>
                    <a:pt x="0" y="160146"/>
                  </a:lnTo>
                  <a:lnTo>
                    <a:pt x="735076" y="160146"/>
                  </a:lnTo>
                  <a:lnTo>
                    <a:pt x="960627" y="0"/>
                  </a:lnTo>
                  <a:close/>
                </a:path>
              </a:pathLst>
            </a:custGeom>
            <a:solidFill>
              <a:srgbClr val="41AD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651250" y="5131815"/>
              <a:ext cx="960755" cy="160655"/>
            </a:xfrm>
            <a:custGeom>
              <a:avLst/>
              <a:gdLst/>
              <a:ahLst/>
              <a:cxnLst/>
              <a:rect l="l" t="t" r="r" b="b"/>
              <a:pathLst>
                <a:path w="960754" h="160654">
                  <a:moveTo>
                    <a:pt x="0" y="160146"/>
                  </a:moveTo>
                  <a:lnTo>
                    <a:pt x="225425" y="0"/>
                  </a:lnTo>
                  <a:lnTo>
                    <a:pt x="960627" y="0"/>
                  </a:lnTo>
                  <a:lnTo>
                    <a:pt x="735076" y="160146"/>
                  </a:lnTo>
                  <a:lnTo>
                    <a:pt x="0" y="160146"/>
                  </a:lnTo>
                  <a:close/>
                </a:path>
              </a:pathLst>
            </a:custGeom>
            <a:ln w="12700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667885" y="5131815"/>
              <a:ext cx="960755" cy="160655"/>
            </a:xfrm>
            <a:custGeom>
              <a:avLst/>
              <a:gdLst/>
              <a:ahLst/>
              <a:cxnLst/>
              <a:rect l="l" t="t" r="r" b="b"/>
              <a:pathLst>
                <a:path w="960754" h="160654">
                  <a:moveTo>
                    <a:pt x="960627" y="0"/>
                  </a:moveTo>
                  <a:lnTo>
                    <a:pt x="225551" y="0"/>
                  </a:lnTo>
                  <a:lnTo>
                    <a:pt x="0" y="160146"/>
                  </a:lnTo>
                  <a:lnTo>
                    <a:pt x="735076" y="160146"/>
                  </a:lnTo>
                  <a:lnTo>
                    <a:pt x="960627" y="0"/>
                  </a:lnTo>
                  <a:close/>
                </a:path>
              </a:pathLst>
            </a:custGeom>
            <a:solidFill>
              <a:srgbClr val="41AD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667885" y="5131815"/>
              <a:ext cx="960755" cy="160655"/>
            </a:xfrm>
            <a:custGeom>
              <a:avLst/>
              <a:gdLst/>
              <a:ahLst/>
              <a:cxnLst/>
              <a:rect l="l" t="t" r="r" b="b"/>
              <a:pathLst>
                <a:path w="960754" h="160654">
                  <a:moveTo>
                    <a:pt x="0" y="160146"/>
                  </a:moveTo>
                  <a:lnTo>
                    <a:pt x="225551" y="0"/>
                  </a:lnTo>
                  <a:lnTo>
                    <a:pt x="960627" y="0"/>
                  </a:lnTo>
                  <a:lnTo>
                    <a:pt x="735076" y="160146"/>
                  </a:lnTo>
                  <a:lnTo>
                    <a:pt x="0" y="160146"/>
                  </a:lnTo>
                  <a:close/>
                </a:path>
              </a:pathLst>
            </a:custGeom>
            <a:ln w="12700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684519" y="5131815"/>
              <a:ext cx="960755" cy="160655"/>
            </a:xfrm>
            <a:custGeom>
              <a:avLst/>
              <a:gdLst/>
              <a:ahLst/>
              <a:cxnLst/>
              <a:rect l="l" t="t" r="r" b="b"/>
              <a:pathLst>
                <a:path w="960754" h="160654">
                  <a:moveTo>
                    <a:pt x="960627" y="0"/>
                  </a:moveTo>
                  <a:lnTo>
                    <a:pt x="225551" y="0"/>
                  </a:lnTo>
                  <a:lnTo>
                    <a:pt x="0" y="160146"/>
                  </a:lnTo>
                  <a:lnTo>
                    <a:pt x="735202" y="160146"/>
                  </a:lnTo>
                  <a:lnTo>
                    <a:pt x="960627" y="0"/>
                  </a:lnTo>
                  <a:close/>
                </a:path>
              </a:pathLst>
            </a:custGeom>
            <a:solidFill>
              <a:srgbClr val="41AD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684519" y="5131815"/>
              <a:ext cx="960755" cy="160655"/>
            </a:xfrm>
            <a:custGeom>
              <a:avLst/>
              <a:gdLst/>
              <a:ahLst/>
              <a:cxnLst/>
              <a:rect l="l" t="t" r="r" b="b"/>
              <a:pathLst>
                <a:path w="960754" h="160654">
                  <a:moveTo>
                    <a:pt x="0" y="160146"/>
                  </a:moveTo>
                  <a:lnTo>
                    <a:pt x="225551" y="0"/>
                  </a:lnTo>
                  <a:lnTo>
                    <a:pt x="960627" y="0"/>
                  </a:lnTo>
                  <a:lnTo>
                    <a:pt x="735202" y="160146"/>
                  </a:lnTo>
                  <a:lnTo>
                    <a:pt x="0" y="160146"/>
                  </a:lnTo>
                  <a:close/>
                </a:path>
              </a:pathLst>
            </a:custGeom>
            <a:ln w="12700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701155" y="5131815"/>
              <a:ext cx="960755" cy="160655"/>
            </a:xfrm>
            <a:custGeom>
              <a:avLst/>
              <a:gdLst/>
              <a:ahLst/>
              <a:cxnLst/>
              <a:rect l="l" t="t" r="r" b="b"/>
              <a:pathLst>
                <a:path w="960754" h="160654">
                  <a:moveTo>
                    <a:pt x="960627" y="0"/>
                  </a:moveTo>
                  <a:lnTo>
                    <a:pt x="225551" y="0"/>
                  </a:lnTo>
                  <a:lnTo>
                    <a:pt x="0" y="160146"/>
                  </a:lnTo>
                  <a:lnTo>
                    <a:pt x="735202" y="160146"/>
                  </a:lnTo>
                  <a:lnTo>
                    <a:pt x="960627" y="0"/>
                  </a:lnTo>
                  <a:close/>
                </a:path>
              </a:pathLst>
            </a:custGeom>
            <a:solidFill>
              <a:srgbClr val="41AD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701155" y="5131815"/>
              <a:ext cx="960755" cy="160655"/>
            </a:xfrm>
            <a:custGeom>
              <a:avLst/>
              <a:gdLst/>
              <a:ahLst/>
              <a:cxnLst/>
              <a:rect l="l" t="t" r="r" b="b"/>
              <a:pathLst>
                <a:path w="960754" h="160654">
                  <a:moveTo>
                    <a:pt x="0" y="160146"/>
                  </a:moveTo>
                  <a:lnTo>
                    <a:pt x="225551" y="0"/>
                  </a:lnTo>
                  <a:lnTo>
                    <a:pt x="960627" y="0"/>
                  </a:lnTo>
                  <a:lnTo>
                    <a:pt x="735202" y="160146"/>
                  </a:lnTo>
                  <a:lnTo>
                    <a:pt x="0" y="160146"/>
                  </a:lnTo>
                  <a:close/>
                </a:path>
              </a:pathLst>
            </a:custGeom>
            <a:ln w="12700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717789" y="5131815"/>
              <a:ext cx="960755" cy="160655"/>
            </a:xfrm>
            <a:custGeom>
              <a:avLst/>
              <a:gdLst/>
              <a:ahLst/>
              <a:cxnLst/>
              <a:rect l="l" t="t" r="r" b="b"/>
              <a:pathLst>
                <a:path w="960754" h="160654">
                  <a:moveTo>
                    <a:pt x="960627" y="0"/>
                  </a:moveTo>
                  <a:lnTo>
                    <a:pt x="225551" y="0"/>
                  </a:lnTo>
                  <a:lnTo>
                    <a:pt x="0" y="160146"/>
                  </a:lnTo>
                  <a:lnTo>
                    <a:pt x="735202" y="160146"/>
                  </a:lnTo>
                  <a:lnTo>
                    <a:pt x="960627" y="0"/>
                  </a:lnTo>
                  <a:close/>
                </a:path>
              </a:pathLst>
            </a:custGeom>
            <a:solidFill>
              <a:srgbClr val="41AD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717789" y="5131815"/>
              <a:ext cx="960755" cy="160655"/>
            </a:xfrm>
            <a:custGeom>
              <a:avLst/>
              <a:gdLst/>
              <a:ahLst/>
              <a:cxnLst/>
              <a:rect l="l" t="t" r="r" b="b"/>
              <a:pathLst>
                <a:path w="960754" h="160654">
                  <a:moveTo>
                    <a:pt x="0" y="160146"/>
                  </a:moveTo>
                  <a:lnTo>
                    <a:pt x="225551" y="0"/>
                  </a:lnTo>
                  <a:lnTo>
                    <a:pt x="960627" y="0"/>
                  </a:lnTo>
                  <a:lnTo>
                    <a:pt x="735202" y="160146"/>
                  </a:lnTo>
                  <a:lnTo>
                    <a:pt x="0" y="160146"/>
                  </a:lnTo>
                  <a:close/>
                </a:path>
              </a:pathLst>
            </a:custGeom>
            <a:ln w="12700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8734551" y="5131815"/>
              <a:ext cx="960755" cy="160655"/>
            </a:xfrm>
            <a:custGeom>
              <a:avLst/>
              <a:gdLst/>
              <a:ahLst/>
              <a:cxnLst/>
              <a:rect l="l" t="t" r="r" b="b"/>
              <a:pathLst>
                <a:path w="960754" h="160654">
                  <a:moveTo>
                    <a:pt x="960627" y="0"/>
                  </a:moveTo>
                  <a:lnTo>
                    <a:pt x="225425" y="0"/>
                  </a:lnTo>
                  <a:lnTo>
                    <a:pt x="0" y="160146"/>
                  </a:lnTo>
                  <a:lnTo>
                    <a:pt x="735076" y="160146"/>
                  </a:lnTo>
                  <a:lnTo>
                    <a:pt x="960627" y="0"/>
                  </a:lnTo>
                  <a:close/>
                </a:path>
              </a:pathLst>
            </a:custGeom>
            <a:solidFill>
              <a:srgbClr val="41AD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8734551" y="5131815"/>
              <a:ext cx="960755" cy="160655"/>
            </a:xfrm>
            <a:custGeom>
              <a:avLst/>
              <a:gdLst/>
              <a:ahLst/>
              <a:cxnLst/>
              <a:rect l="l" t="t" r="r" b="b"/>
              <a:pathLst>
                <a:path w="960754" h="160654">
                  <a:moveTo>
                    <a:pt x="0" y="160146"/>
                  </a:moveTo>
                  <a:lnTo>
                    <a:pt x="225425" y="0"/>
                  </a:lnTo>
                  <a:lnTo>
                    <a:pt x="960627" y="0"/>
                  </a:lnTo>
                  <a:lnTo>
                    <a:pt x="735076" y="160146"/>
                  </a:lnTo>
                  <a:lnTo>
                    <a:pt x="0" y="160146"/>
                  </a:lnTo>
                  <a:close/>
                </a:path>
              </a:pathLst>
            </a:custGeom>
            <a:ln w="12700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2690876" y="2995676"/>
            <a:ext cx="6112510" cy="2950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Corbel"/>
                <a:cs typeface="Corbel"/>
              </a:rPr>
              <a:t>EOSC</a:t>
            </a:r>
            <a:r>
              <a:rPr sz="1800" b="1" spc="-6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orbel"/>
                <a:cs typeface="Corbel"/>
              </a:rPr>
              <a:t>Marketplace</a:t>
            </a:r>
            <a:r>
              <a:rPr sz="1800" b="1" spc="-1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—</a:t>
            </a:r>
            <a:r>
              <a:rPr sz="1800" spc="-2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паспорт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rbel"/>
                <a:cs typeface="Corbel"/>
              </a:rPr>
              <a:t>сервиса</a:t>
            </a:r>
            <a:r>
              <a:rPr sz="1800" spc="-11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orbel"/>
                <a:cs typeface="Corbel"/>
              </a:rPr>
              <a:t>WDCC</a:t>
            </a:r>
            <a:endParaRPr sz="1800">
              <a:latin typeface="Corbel"/>
              <a:cs typeface="Corbel"/>
            </a:endParaRPr>
          </a:p>
          <a:p>
            <a:pPr>
              <a:lnSpc>
                <a:spcPct val="100000"/>
              </a:lnSpc>
            </a:pPr>
            <a:endParaRPr sz="1800">
              <a:latin typeface="Corbel"/>
              <a:cs typeface="Corbe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18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solidFill>
                  <a:srgbClr val="FFFFFF"/>
                </a:solidFill>
                <a:latin typeface="Corbel"/>
                <a:cs typeface="Corbel"/>
              </a:rPr>
              <a:t>Helmholtz-</a:t>
            </a:r>
            <a:r>
              <a:rPr sz="1800" b="1" dirty="0">
                <a:solidFill>
                  <a:srgbClr val="FFFFFF"/>
                </a:solidFill>
                <a:latin typeface="Corbel"/>
                <a:cs typeface="Corbel"/>
              </a:rPr>
              <a:t>Zentrum</a:t>
            </a:r>
            <a:r>
              <a:rPr sz="1800" b="1" spc="-4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orbel"/>
                <a:cs typeface="Corbel"/>
              </a:rPr>
              <a:t>Hereon</a:t>
            </a:r>
            <a:r>
              <a:rPr sz="1800" b="1" spc="-4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—</a:t>
            </a:r>
            <a:r>
              <a:rPr sz="1800" spc="-4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программа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rbel"/>
                <a:cs typeface="Corbel"/>
              </a:rPr>
              <a:t>DSS2025</a:t>
            </a:r>
            <a:endParaRPr sz="1800">
              <a:latin typeface="Corbel"/>
              <a:cs typeface="Corbel"/>
            </a:endParaRPr>
          </a:p>
          <a:p>
            <a:pPr>
              <a:lnSpc>
                <a:spcPct val="100000"/>
              </a:lnSpc>
            </a:pPr>
            <a:endParaRPr sz="1800">
              <a:latin typeface="Corbel"/>
              <a:cs typeface="Corbe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18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solidFill>
                  <a:srgbClr val="FFFFFF"/>
                </a:solidFill>
                <a:latin typeface="Corbel"/>
                <a:cs typeface="Corbel"/>
              </a:rPr>
              <a:t>CoreTrustSeal</a:t>
            </a:r>
            <a:r>
              <a:rPr sz="1800" b="1" spc="-5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—</a:t>
            </a:r>
            <a:r>
              <a:rPr sz="1800" spc="-3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информация</a:t>
            </a:r>
            <a:r>
              <a:rPr sz="1800" spc="-3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о</a:t>
            </a:r>
            <a:r>
              <a:rPr sz="1800" spc="-3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rbel"/>
                <a:cs typeface="Corbel"/>
              </a:rPr>
              <a:t>сертификации</a:t>
            </a:r>
            <a:endParaRPr sz="1800">
              <a:latin typeface="Corbel"/>
              <a:cs typeface="Corbel"/>
            </a:endParaRPr>
          </a:p>
          <a:p>
            <a:pPr>
              <a:lnSpc>
                <a:spcPct val="100000"/>
              </a:lnSpc>
            </a:pPr>
            <a:endParaRPr sz="1800">
              <a:latin typeface="Corbel"/>
              <a:cs typeface="Corbe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18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solidFill>
                  <a:srgbClr val="FFFFFF"/>
                </a:solidFill>
                <a:latin typeface="Corbel"/>
                <a:cs typeface="Corbel"/>
              </a:rPr>
              <a:t>DKRZ</a:t>
            </a:r>
            <a:r>
              <a:rPr sz="1800" b="1" spc="-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—</a:t>
            </a:r>
            <a:r>
              <a:rPr sz="1800" spc="-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rbel"/>
                <a:cs typeface="Corbel"/>
              </a:rPr>
              <a:t>официальный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rbel"/>
                <a:cs typeface="Corbel"/>
              </a:rPr>
              <a:t>сайт</a:t>
            </a:r>
            <a:r>
              <a:rPr sz="1800" spc="-7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rbel"/>
                <a:cs typeface="Corbel"/>
              </a:rPr>
              <a:t>German</a:t>
            </a:r>
            <a:r>
              <a:rPr sz="1800" spc="-6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dirty="0">
                <a:solidFill>
                  <a:srgbClr val="FFFFFF"/>
                </a:solidFill>
                <a:latin typeface="Corbel"/>
                <a:cs typeface="Corbel"/>
              </a:rPr>
              <a:t>Climate</a:t>
            </a:r>
            <a:r>
              <a:rPr sz="1800" spc="-55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rbel"/>
                <a:cs typeface="Corbel"/>
              </a:rPr>
              <a:t>Computing</a:t>
            </a:r>
            <a:r>
              <a:rPr sz="1800" spc="-70" dirty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orbel"/>
                <a:cs typeface="Corbel"/>
              </a:rPr>
              <a:t>Center</a:t>
            </a:r>
            <a:endParaRPr sz="1800">
              <a:latin typeface="Corbel"/>
              <a:cs typeface="Corbel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2628264" y="6008661"/>
            <a:ext cx="7073265" cy="173355"/>
            <a:chOff x="2628264" y="6008661"/>
            <a:chExt cx="7073265" cy="173355"/>
          </a:xfrm>
        </p:grpSpPr>
        <p:sp>
          <p:nvSpPr>
            <p:cNvPr id="66" name="object 66"/>
            <p:cNvSpPr/>
            <p:nvPr/>
          </p:nvSpPr>
          <p:spPr>
            <a:xfrm>
              <a:off x="2634614" y="6015011"/>
              <a:ext cx="960755" cy="160655"/>
            </a:xfrm>
            <a:custGeom>
              <a:avLst/>
              <a:gdLst/>
              <a:ahLst/>
              <a:cxnLst/>
              <a:rect l="l" t="t" r="r" b="b"/>
              <a:pathLst>
                <a:path w="960754" h="160654">
                  <a:moveTo>
                    <a:pt x="960627" y="0"/>
                  </a:moveTo>
                  <a:lnTo>
                    <a:pt x="225425" y="0"/>
                  </a:lnTo>
                  <a:lnTo>
                    <a:pt x="0" y="160108"/>
                  </a:lnTo>
                  <a:lnTo>
                    <a:pt x="735076" y="160108"/>
                  </a:lnTo>
                  <a:lnTo>
                    <a:pt x="960627" y="0"/>
                  </a:lnTo>
                  <a:close/>
                </a:path>
              </a:pathLst>
            </a:custGeom>
            <a:solidFill>
              <a:srgbClr val="41AD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2634614" y="6015011"/>
              <a:ext cx="960755" cy="160655"/>
            </a:xfrm>
            <a:custGeom>
              <a:avLst/>
              <a:gdLst/>
              <a:ahLst/>
              <a:cxnLst/>
              <a:rect l="l" t="t" r="r" b="b"/>
              <a:pathLst>
                <a:path w="960754" h="160654">
                  <a:moveTo>
                    <a:pt x="0" y="160108"/>
                  </a:moveTo>
                  <a:lnTo>
                    <a:pt x="225425" y="0"/>
                  </a:lnTo>
                  <a:lnTo>
                    <a:pt x="960627" y="0"/>
                  </a:lnTo>
                  <a:lnTo>
                    <a:pt x="735076" y="160108"/>
                  </a:lnTo>
                  <a:lnTo>
                    <a:pt x="0" y="160108"/>
                  </a:lnTo>
                  <a:close/>
                </a:path>
              </a:pathLst>
            </a:custGeom>
            <a:ln w="12700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3651250" y="6015011"/>
              <a:ext cx="960755" cy="160655"/>
            </a:xfrm>
            <a:custGeom>
              <a:avLst/>
              <a:gdLst/>
              <a:ahLst/>
              <a:cxnLst/>
              <a:rect l="l" t="t" r="r" b="b"/>
              <a:pathLst>
                <a:path w="960754" h="160654">
                  <a:moveTo>
                    <a:pt x="960627" y="0"/>
                  </a:moveTo>
                  <a:lnTo>
                    <a:pt x="225425" y="0"/>
                  </a:lnTo>
                  <a:lnTo>
                    <a:pt x="0" y="160108"/>
                  </a:lnTo>
                  <a:lnTo>
                    <a:pt x="735076" y="160108"/>
                  </a:lnTo>
                  <a:lnTo>
                    <a:pt x="960627" y="0"/>
                  </a:lnTo>
                  <a:close/>
                </a:path>
              </a:pathLst>
            </a:custGeom>
            <a:solidFill>
              <a:srgbClr val="41AD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3651250" y="6015011"/>
              <a:ext cx="960755" cy="160655"/>
            </a:xfrm>
            <a:custGeom>
              <a:avLst/>
              <a:gdLst/>
              <a:ahLst/>
              <a:cxnLst/>
              <a:rect l="l" t="t" r="r" b="b"/>
              <a:pathLst>
                <a:path w="960754" h="160654">
                  <a:moveTo>
                    <a:pt x="0" y="160108"/>
                  </a:moveTo>
                  <a:lnTo>
                    <a:pt x="225425" y="0"/>
                  </a:lnTo>
                  <a:lnTo>
                    <a:pt x="960627" y="0"/>
                  </a:lnTo>
                  <a:lnTo>
                    <a:pt x="735076" y="160108"/>
                  </a:lnTo>
                  <a:lnTo>
                    <a:pt x="0" y="160108"/>
                  </a:lnTo>
                  <a:close/>
                </a:path>
              </a:pathLst>
            </a:custGeom>
            <a:ln w="12700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667885" y="6015011"/>
              <a:ext cx="960755" cy="160655"/>
            </a:xfrm>
            <a:custGeom>
              <a:avLst/>
              <a:gdLst/>
              <a:ahLst/>
              <a:cxnLst/>
              <a:rect l="l" t="t" r="r" b="b"/>
              <a:pathLst>
                <a:path w="960754" h="160654">
                  <a:moveTo>
                    <a:pt x="960627" y="0"/>
                  </a:moveTo>
                  <a:lnTo>
                    <a:pt x="225551" y="0"/>
                  </a:lnTo>
                  <a:lnTo>
                    <a:pt x="0" y="160108"/>
                  </a:lnTo>
                  <a:lnTo>
                    <a:pt x="735076" y="160108"/>
                  </a:lnTo>
                  <a:lnTo>
                    <a:pt x="960627" y="0"/>
                  </a:lnTo>
                  <a:close/>
                </a:path>
              </a:pathLst>
            </a:custGeom>
            <a:solidFill>
              <a:srgbClr val="41AD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4667885" y="6015011"/>
              <a:ext cx="960755" cy="160655"/>
            </a:xfrm>
            <a:custGeom>
              <a:avLst/>
              <a:gdLst/>
              <a:ahLst/>
              <a:cxnLst/>
              <a:rect l="l" t="t" r="r" b="b"/>
              <a:pathLst>
                <a:path w="960754" h="160654">
                  <a:moveTo>
                    <a:pt x="0" y="160108"/>
                  </a:moveTo>
                  <a:lnTo>
                    <a:pt x="225551" y="0"/>
                  </a:lnTo>
                  <a:lnTo>
                    <a:pt x="960627" y="0"/>
                  </a:lnTo>
                  <a:lnTo>
                    <a:pt x="735076" y="160108"/>
                  </a:lnTo>
                  <a:lnTo>
                    <a:pt x="0" y="160108"/>
                  </a:lnTo>
                  <a:close/>
                </a:path>
              </a:pathLst>
            </a:custGeom>
            <a:ln w="12700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5684519" y="6015011"/>
              <a:ext cx="960755" cy="160655"/>
            </a:xfrm>
            <a:custGeom>
              <a:avLst/>
              <a:gdLst/>
              <a:ahLst/>
              <a:cxnLst/>
              <a:rect l="l" t="t" r="r" b="b"/>
              <a:pathLst>
                <a:path w="960754" h="160654">
                  <a:moveTo>
                    <a:pt x="960627" y="0"/>
                  </a:moveTo>
                  <a:lnTo>
                    <a:pt x="225551" y="0"/>
                  </a:lnTo>
                  <a:lnTo>
                    <a:pt x="0" y="160108"/>
                  </a:lnTo>
                  <a:lnTo>
                    <a:pt x="735202" y="160108"/>
                  </a:lnTo>
                  <a:lnTo>
                    <a:pt x="960627" y="0"/>
                  </a:lnTo>
                  <a:close/>
                </a:path>
              </a:pathLst>
            </a:custGeom>
            <a:solidFill>
              <a:srgbClr val="41AD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5684519" y="6015011"/>
              <a:ext cx="960755" cy="160655"/>
            </a:xfrm>
            <a:custGeom>
              <a:avLst/>
              <a:gdLst/>
              <a:ahLst/>
              <a:cxnLst/>
              <a:rect l="l" t="t" r="r" b="b"/>
              <a:pathLst>
                <a:path w="960754" h="160654">
                  <a:moveTo>
                    <a:pt x="0" y="160108"/>
                  </a:moveTo>
                  <a:lnTo>
                    <a:pt x="225551" y="0"/>
                  </a:lnTo>
                  <a:lnTo>
                    <a:pt x="960627" y="0"/>
                  </a:lnTo>
                  <a:lnTo>
                    <a:pt x="735202" y="160108"/>
                  </a:lnTo>
                  <a:lnTo>
                    <a:pt x="0" y="160108"/>
                  </a:lnTo>
                  <a:close/>
                </a:path>
              </a:pathLst>
            </a:custGeom>
            <a:ln w="12700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6701155" y="6015011"/>
              <a:ext cx="960755" cy="160655"/>
            </a:xfrm>
            <a:custGeom>
              <a:avLst/>
              <a:gdLst/>
              <a:ahLst/>
              <a:cxnLst/>
              <a:rect l="l" t="t" r="r" b="b"/>
              <a:pathLst>
                <a:path w="960754" h="160654">
                  <a:moveTo>
                    <a:pt x="960627" y="0"/>
                  </a:moveTo>
                  <a:lnTo>
                    <a:pt x="225551" y="0"/>
                  </a:lnTo>
                  <a:lnTo>
                    <a:pt x="0" y="160108"/>
                  </a:lnTo>
                  <a:lnTo>
                    <a:pt x="735202" y="160108"/>
                  </a:lnTo>
                  <a:lnTo>
                    <a:pt x="960627" y="0"/>
                  </a:lnTo>
                  <a:close/>
                </a:path>
              </a:pathLst>
            </a:custGeom>
            <a:solidFill>
              <a:srgbClr val="41AD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6701155" y="6015011"/>
              <a:ext cx="960755" cy="160655"/>
            </a:xfrm>
            <a:custGeom>
              <a:avLst/>
              <a:gdLst/>
              <a:ahLst/>
              <a:cxnLst/>
              <a:rect l="l" t="t" r="r" b="b"/>
              <a:pathLst>
                <a:path w="960754" h="160654">
                  <a:moveTo>
                    <a:pt x="0" y="160108"/>
                  </a:moveTo>
                  <a:lnTo>
                    <a:pt x="225551" y="0"/>
                  </a:lnTo>
                  <a:lnTo>
                    <a:pt x="960627" y="0"/>
                  </a:lnTo>
                  <a:lnTo>
                    <a:pt x="735202" y="160108"/>
                  </a:lnTo>
                  <a:lnTo>
                    <a:pt x="0" y="160108"/>
                  </a:lnTo>
                  <a:close/>
                </a:path>
              </a:pathLst>
            </a:custGeom>
            <a:ln w="12700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7717789" y="6015011"/>
              <a:ext cx="960755" cy="160655"/>
            </a:xfrm>
            <a:custGeom>
              <a:avLst/>
              <a:gdLst/>
              <a:ahLst/>
              <a:cxnLst/>
              <a:rect l="l" t="t" r="r" b="b"/>
              <a:pathLst>
                <a:path w="960754" h="160654">
                  <a:moveTo>
                    <a:pt x="960627" y="0"/>
                  </a:moveTo>
                  <a:lnTo>
                    <a:pt x="225551" y="0"/>
                  </a:lnTo>
                  <a:lnTo>
                    <a:pt x="0" y="160108"/>
                  </a:lnTo>
                  <a:lnTo>
                    <a:pt x="735202" y="160108"/>
                  </a:lnTo>
                  <a:lnTo>
                    <a:pt x="960627" y="0"/>
                  </a:lnTo>
                  <a:close/>
                </a:path>
              </a:pathLst>
            </a:custGeom>
            <a:solidFill>
              <a:srgbClr val="41AD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7717789" y="6015011"/>
              <a:ext cx="960755" cy="160655"/>
            </a:xfrm>
            <a:custGeom>
              <a:avLst/>
              <a:gdLst/>
              <a:ahLst/>
              <a:cxnLst/>
              <a:rect l="l" t="t" r="r" b="b"/>
              <a:pathLst>
                <a:path w="960754" h="160654">
                  <a:moveTo>
                    <a:pt x="0" y="160108"/>
                  </a:moveTo>
                  <a:lnTo>
                    <a:pt x="225551" y="0"/>
                  </a:lnTo>
                  <a:lnTo>
                    <a:pt x="960627" y="0"/>
                  </a:lnTo>
                  <a:lnTo>
                    <a:pt x="735202" y="160108"/>
                  </a:lnTo>
                  <a:lnTo>
                    <a:pt x="0" y="160108"/>
                  </a:lnTo>
                  <a:close/>
                </a:path>
              </a:pathLst>
            </a:custGeom>
            <a:ln w="12700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8734551" y="6015011"/>
              <a:ext cx="960755" cy="160655"/>
            </a:xfrm>
            <a:custGeom>
              <a:avLst/>
              <a:gdLst/>
              <a:ahLst/>
              <a:cxnLst/>
              <a:rect l="l" t="t" r="r" b="b"/>
              <a:pathLst>
                <a:path w="960754" h="160654">
                  <a:moveTo>
                    <a:pt x="960627" y="0"/>
                  </a:moveTo>
                  <a:lnTo>
                    <a:pt x="225425" y="0"/>
                  </a:lnTo>
                  <a:lnTo>
                    <a:pt x="0" y="160108"/>
                  </a:lnTo>
                  <a:lnTo>
                    <a:pt x="735076" y="160108"/>
                  </a:lnTo>
                  <a:lnTo>
                    <a:pt x="960627" y="0"/>
                  </a:lnTo>
                  <a:close/>
                </a:path>
              </a:pathLst>
            </a:custGeom>
            <a:solidFill>
              <a:srgbClr val="41AD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8734551" y="6015011"/>
              <a:ext cx="960755" cy="160655"/>
            </a:xfrm>
            <a:custGeom>
              <a:avLst/>
              <a:gdLst/>
              <a:ahLst/>
              <a:cxnLst/>
              <a:rect l="l" t="t" r="r" b="b"/>
              <a:pathLst>
                <a:path w="960754" h="160654">
                  <a:moveTo>
                    <a:pt x="0" y="160108"/>
                  </a:moveTo>
                  <a:lnTo>
                    <a:pt x="225425" y="0"/>
                  </a:lnTo>
                  <a:lnTo>
                    <a:pt x="960627" y="0"/>
                  </a:lnTo>
                  <a:lnTo>
                    <a:pt x="735076" y="160108"/>
                  </a:lnTo>
                  <a:lnTo>
                    <a:pt x="0" y="160108"/>
                  </a:lnTo>
                  <a:close/>
                </a:path>
              </a:pathLst>
            </a:custGeom>
            <a:ln w="12700">
              <a:solidFill>
                <a:srgbClr val="41AD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44976" y="2994786"/>
            <a:ext cx="581787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275" dirty="0">
                <a:solidFill>
                  <a:srgbClr val="F1F1F1"/>
                </a:solidFill>
              </a:rPr>
              <a:t>Спасибо</a:t>
            </a:r>
            <a:r>
              <a:rPr sz="5400" spc="-585" dirty="0">
                <a:solidFill>
                  <a:srgbClr val="F1F1F1"/>
                </a:solidFill>
              </a:rPr>
              <a:t> </a:t>
            </a:r>
            <a:r>
              <a:rPr sz="5400" spc="-170" dirty="0">
                <a:solidFill>
                  <a:srgbClr val="F1F1F1"/>
                </a:solidFill>
              </a:rPr>
              <a:t>за</a:t>
            </a:r>
            <a:r>
              <a:rPr sz="5400" spc="-580" dirty="0">
                <a:solidFill>
                  <a:srgbClr val="F1F1F1"/>
                </a:solidFill>
              </a:rPr>
              <a:t> </a:t>
            </a:r>
            <a:r>
              <a:rPr sz="5400" spc="-295" dirty="0">
                <a:solidFill>
                  <a:srgbClr val="F1F1F1"/>
                </a:solidFill>
              </a:rPr>
              <a:t>внимание!</a:t>
            </a:r>
            <a:endParaRPr sz="5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1069</Words>
  <Application>Microsoft Office PowerPoint</Application>
  <PresentationFormat>Широкоэкранный</PresentationFormat>
  <Paragraphs>78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6" baseType="lpstr">
      <vt:lpstr>Aptos</vt:lpstr>
      <vt:lpstr>Corbel</vt:lpstr>
      <vt:lpstr>Office Theme</vt:lpstr>
      <vt:lpstr>База данных World DataCenter forClimate</vt:lpstr>
      <vt:lpstr>Презентация PowerPoint</vt:lpstr>
      <vt:lpstr>Презентация PowerPoint</vt:lpstr>
      <vt:lpstr>Презентация PowerPoint</vt:lpstr>
      <vt:lpstr>Презентация PowerPoint</vt:lpstr>
      <vt:lpstr>Публикация данных для</vt:lpstr>
      <vt:lpstr>Принципы работы</vt:lpstr>
      <vt:lpstr>Пользователи</vt:lpstr>
      <vt:lpstr>Презентация PowerPoint</vt:lpstr>
      <vt:lpstr>Доступ и реклама</vt:lpstr>
      <vt:lpstr>Презентация PowerPoint</vt:lpstr>
      <vt:lpstr>Data Science Symposium 2025 — официальная презентация WDCC (Hereon, Sept 2025)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Andrey Surkov</dc:creator>
  <cp:lastModifiedBy>Andrey Surkov</cp:lastModifiedBy>
  <cp:revision>1</cp:revision>
  <dcterms:created xsi:type="dcterms:W3CDTF">2026-03-02T21:44:08Z</dcterms:created>
  <dcterms:modified xsi:type="dcterms:W3CDTF">2026-03-02T21:45:48Z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2026-03-03T00:00:00Z</vt:filetime>
  </property>
  <property fmtid="{D5CDD505-2E9C-101B-9397-08002B2CF9AE}" pid="3" name="Creator">
    <vt:lpwstr>Microsoft® PowerPoint® для Microsoft 365</vt:lpwstr>
  </property>
  <property fmtid="{D5CDD505-2E9C-101B-9397-08002B2CF9AE}" pid="4" name="LastSaved">
    <vt:filetime>2026-03-02T00:00:00Z</vt:filetime>
  </property>
  <property fmtid="{D5CDD505-2E9C-101B-9397-08002B2CF9AE}" pid="5" name="Producer">
    <vt:lpwstr>Microsoft® PowerPoint® для Microsoft 365</vt:lpwstr>
  </property>
</Properties>
</file>
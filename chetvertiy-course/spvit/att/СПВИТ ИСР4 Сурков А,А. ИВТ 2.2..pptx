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1B8AE4-77FE-4D31-8557-77E2A5844C9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0DE162-F254-4018-9503-35D3AE1B2DE9}">
      <dgm:prSet/>
      <dgm:spPr/>
      <dgm:t>
        <a:bodyPr/>
        <a:lstStyle/>
        <a:p>
          <a:r>
            <a:rPr lang="ru-RU"/>
            <a:t>Госкомитет по радиоэлектронике и Министерство радиопромышленности</a:t>
          </a:r>
          <a:endParaRPr lang="en-US"/>
        </a:p>
      </dgm:t>
    </dgm:pt>
    <dgm:pt modelId="{A28E820C-55FE-4492-B7C9-55FB82AF13B1}" type="parTrans" cxnId="{1851B616-9565-4404-AC74-AB8E870F4335}">
      <dgm:prSet/>
      <dgm:spPr/>
      <dgm:t>
        <a:bodyPr/>
        <a:lstStyle/>
        <a:p>
          <a:endParaRPr lang="en-US"/>
        </a:p>
      </dgm:t>
    </dgm:pt>
    <dgm:pt modelId="{EC417386-A756-44A3-A43C-E0AF0DF44DD3}" type="sibTrans" cxnId="{1851B616-9565-4404-AC74-AB8E870F433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AA399ED-FA7C-4192-83F0-873C9EBF8580}">
      <dgm:prSet/>
      <dgm:spPr/>
      <dgm:t>
        <a:bodyPr/>
        <a:lstStyle/>
        <a:p>
          <a:r>
            <a:rPr lang="ru-RU"/>
            <a:t>Заместитель министра</a:t>
          </a:r>
          <a:endParaRPr lang="en-US"/>
        </a:p>
      </dgm:t>
    </dgm:pt>
    <dgm:pt modelId="{4AFC9395-4B63-4C75-B5F5-E493F4F85CFA}" type="parTrans" cxnId="{5531E5A1-BF2C-477D-BDCF-52EBB107120F}">
      <dgm:prSet/>
      <dgm:spPr/>
      <dgm:t>
        <a:bodyPr/>
        <a:lstStyle/>
        <a:p>
          <a:endParaRPr lang="en-US"/>
        </a:p>
      </dgm:t>
    </dgm:pt>
    <dgm:pt modelId="{D4BBEA38-6FF9-4E98-A40D-BBD77291A413}" type="sibTrans" cxnId="{5531E5A1-BF2C-477D-BDCF-52EBB107120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87F9E00-EB79-408F-98F1-33771B517673}">
      <dgm:prSet/>
      <dgm:spPr/>
      <dgm:t>
        <a:bodyPr/>
        <a:lstStyle/>
        <a:p>
          <a:r>
            <a:rPr lang="ru-RU"/>
            <a:t>Главный организатор компьютерной индустрии СССР</a:t>
          </a:r>
          <a:endParaRPr lang="en-US"/>
        </a:p>
      </dgm:t>
    </dgm:pt>
    <dgm:pt modelId="{0C7B2F43-4F7C-43D1-9319-A66AC48F58EA}" type="parTrans" cxnId="{23B16F53-9271-45E2-83BC-48D012FE5FB9}">
      <dgm:prSet/>
      <dgm:spPr/>
      <dgm:t>
        <a:bodyPr/>
        <a:lstStyle/>
        <a:p>
          <a:endParaRPr lang="en-US"/>
        </a:p>
      </dgm:t>
    </dgm:pt>
    <dgm:pt modelId="{46F7C930-C704-4337-AEE7-FD561F9CDE36}" type="sibTrans" cxnId="{23B16F53-9271-45E2-83BC-48D012FE5FB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E0C9C16-F906-4F86-8123-246F1BE9D13F}" type="pres">
      <dgm:prSet presAssocID="{3D1B8AE4-77FE-4D31-8557-77E2A5844C97}" presName="Name0" presStyleCnt="0">
        <dgm:presLayoutVars>
          <dgm:animLvl val="lvl"/>
          <dgm:resizeHandles val="exact"/>
        </dgm:presLayoutVars>
      </dgm:prSet>
      <dgm:spPr/>
    </dgm:pt>
    <dgm:pt modelId="{5BF42DFF-3CDE-4A71-9796-B9972BD19BA8}" type="pres">
      <dgm:prSet presAssocID="{DD0DE162-F254-4018-9503-35D3AE1B2DE9}" presName="compositeNode" presStyleCnt="0">
        <dgm:presLayoutVars>
          <dgm:bulletEnabled val="1"/>
        </dgm:presLayoutVars>
      </dgm:prSet>
      <dgm:spPr/>
    </dgm:pt>
    <dgm:pt modelId="{2E64840F-FBB9-4A42-B651-368560A61DF3}" type="pres">
      <dgm:prSet presAssocID="{DD0DE162-F254-4018-9503-35D3AE1B2DE9}" presName="bgRect" presStyleLbl="alignNode1" presStyleIdx="0" presStyleCnt="3"/>
      <dgm:spPr/>
    </dgm:pt>
    <dgm:pt modelId="{241C7F90-D593-41D2-AFF6-3E7307CB7E6E}" type="pres">
      <dgm:prSet presAssocID="{EC417386-A756-44A3-A43C-E0AF0DF44DD3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DEE4DCD-EF00-4249-AB6C-6EC1AB839EC6}" type="pres">
      <dgm:prSet presAssocID="{DD0DE162-F254-4018-9503-35D3AE1B2DE9}" presName="nodeRect" presStyleLbl="alignNode1" presStyleIdx="0" presStyleCnt="3">
        <dgm:presLayoutVars>
          <dgm:bulletEnabled val="1"/>
        </dgm:presLayoutVars>
      </dgm:prSet>
      <dgm:spPr/>
    </dgm:pt>
    <dgm:pt modelId="{1A21B62D-964F-4CB6-A08E-4DC07AF30209}" type="pres">
      <dgm:prSet presAssocID="{EC417386-A756-44A3-A43C-E0AF0DF44DD3}" presName="sibTrans" presStyleCnt="0"/>
      <dgm:spPr/>
    </dgm:pt>
    <dgm:pt modelId="{CC3338C6-FC7C-4F90-ACD5-9304B868C2AA}" type="pres">
      <dgm:prSet presAssocID="{9AA399ED-FA7C-4192-83F0-873C9EBF8580}" presName="compositeNode" presStyleCnt="0">
        <dgm:presLayoutVars>
          <dgm:bulletEnabled val="1"/>
        </dgm:presLayoutVars>
      </dgm:prSet>
      <dgm:spPr/>
    </dgm:pt>
    <dgm:pt modelId="{2B0ED36C-ECDF-4F1C-A57E-68855D9B4498}" type="pres">
      <dgm:prSet presAssocID="{9AA399ED-FA7C-4192-83F0-873C9EBF8580}" presName="bgRect" presStyleLbl="alignNode1" presStyleIdx="1" presStyleCnt="3"/>
      <dgm:spPr/>
    </dgm:pt>
    <dgm:pt modelId="{2CB7B6A1-0C56-44EF-9DED-32527B8DA8F5}" type="pres">
      <dgm:prSet presAssocID="{D4BBEA38-6FF9-4E98-A40D-BBD77291A41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1B92EAC-592D-4679-AEA1-CA6263A2E4A3}" type="pres">
      <dgm:prSet presAssocID="{9AA399ED-FA7C-4192-83F0-873C9EBF8580}" presName="nodeRect" presStyleLbl="alignNode1" presStyleIdx="1" presStyleCnt="3">
        <dgm:presLayoutVars>
          <dgm:bulletEnabled val="1"/>
        </dgm:presLayoutVars>
      </dgm:prSet>
      <dgm:spPr/>
    </dgm:pt>
    <dgm:pt modelId="{1C0DB568-29FE-4814-A33F-C1A96DCAD18C}" type="pres">
      <dgm:prSet presAssocID="{D4BBEA38-6FF9-4E98-A40D-BBD77291A413}" presName="sibTrans" presStyleCnt="0"/>
      <dgm:spPr/>
    </dgm:pt>
    <dgm:pt modelId="{C0F6B256-3CC9-4BA0-9731-DBBD92993130}" type="pres">
      <dgm:prSet presAssocID="{287F9E00-EB79-408F-98F1-33771B517673}" presName="compositeNode" presStyleCnt="0">
        <dgm:presLayoutVars>
          <dgm:bulletEnabled val="1"/>
        </dgm:presLayoutVars>
      </dgm:prSet>
      <dgm:spPr/>
    </dgm:pt>
    <dgm:pt modelId="{7205CD9E-59F8-44A1-A528-C4E5579C3EED}" type="pres">
      <dgm:prSet presAssocID="{287F9E00-EB79-408F-98F1-33771B517673}" presName="bgRect" presStyleLbl="alignNode1" presStyleIdx="2" presStyleCnt="3"/>
      <dgm:spPr/>
    </dgm:pt>
    <dgm:pt modelId="{F48B3BB1-E70B-4738-A384-B6519F2104DD}" type="pres">
      <dgm:prSet presAssocID="{46F7C930-C704-4337-AEE7-FD561F9CDE36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73FDC843-F085-4A2A-9DCE-D8017BD59636}" type="pres">
      <dgm:prSet presAssocID="{287F9E00-EB79-408F-98F1-33771B51767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EE0D900D-3F46-4474-B6E5-25776AD2940E}" type="presOf" srcId="{9AA399ED-FA7C-4192-83F0-873C9EBF8580}" destId="{91B92EAC-592D-4679-AEA1-CA6263A2E4A3}" srcOrd="1" destOrd="0" presId="urn:microsoft.com/office/officeart/2016/7/layout/LinearBlockProcessNumbered"/>
    <dgm:cxn modelId="{1B447810-E837-49B7-BA0C-8DA4F2047036}" type="presOf" srcId="{287F9E00-EB79-408F-98F1-33771B517673}" destId="{73FDC843-F085-4A2A-9DCE-D8017BD59636}" srcOrd="1" destOrd="0" presId="urn:microsoft.com/office/officeart/2016/7/layout/LinearBlockProcessNumbered"/>
    <dgm:cxn modelId="{1851B616-9565-4404-AC74-AB8E870F4335}" srcId="{3D1B8AE4-77FE-4D31-8557-77E2A5844C97}" destId="{DD0DE162-F254-4018-9503-35D3AE1B2DE9}" srcOrd="0" destOrd="0" parTransId="{A28E820C-55FE-4492-B7C9-55FB82AF13B1}" sibTransId="{EC417386-A756-44A3-A43C-E0AF0DF44DD3}"/>
    <dgm:cxn modelId="{2E26242F-EE6F-44EA-8CC4-3A25CB822203}" type="presOf" srcId="{D4BBEA38-6FF9-4E98-A40D-BBD77291A413}" destId="{2CB7B6A1-0C56-44EF-9DED-32527B8DA8F5}" srcOrd="0" destOrd="0" presId="urn:microsoft.com/office/officeart/2016/7/layout/LinearBlockProcessNumbered"/>
    <dgm:cxn modelId="{29040243-52A6-4D1B-B6DF-24A3F5E06A99}" type="presOf" srcId="{3D1B8AE4-77FE-4D31-8557-77E2A5844C97}" destId="{EE0C9C16-F906-4F86-8123-246F1BE9D13F}" srcOrd="0" destOrd="0" presId="urn:microsoft.com/office/officeart/2016/7/layout/LinearBlockProcessNumbered"/>
    <dgm:cxn modelId="{631F8C72-DB5C-4144-A954-831859886EBE}" type="presOf" srcId="{9AA399ED-FA7C-4192-83F0-873C9EBF8580}" destId="{2B0ED36C-ECDF-4F1C-A57E-68855D9B4498}" srcOrd="0" destOrd="0" presId="urn:microsoft.com/office/officeart/2016/7/layout/LinearBlockProcessNumbered"/>
    <dgm:cxn modelId="{23B16F53-9271-45E2-83BC-48D012FE5FB9}" srcId="{3D1B8AE4-77FE-4D31-8557-77E2A5844C97}" destId="{287F9E00-EB79-408F-98F1-33771B517673}" srcOrd="2" destOrd="0" parTransId="{0C7B2F43-4F7C-43D1-9319-A66AC48F58EA}" sibTransId="{46F7C930-C704-4337-AEE7-FD561F9CDE36}"/>
    <dgm:cxn modelId="{CD1CA957-0A4C-4BB1-9D9D-717F90DFD1D1}" type="presOf" srcId="{DD0DE162-F254-4018-9503-35D3AE1B2DE9}" destId="{2E64840F-FBB9-4A42-B651-368560A61DF3}" srcOrd="0" destOrd="0" presId="urn:microsoft.com/office/officeart/2016/7/layout/LinearBlockProcessNumbered"/>
    <dgm:cxn modelId="{4B4E5F85-A181-4DA2-A637-E7232A5EF4DE}" type="presOf" srcId="{DD0DE162-F254-4018-9503-35D3AE1B2DE9}" destId="{FDEE4DCD-EF00-4249-AB6C-6EC1AB839EC6}" srcOrd="1" destOrd="0" presId="urn:microsoft.com/office/officeart/2016/7/layout/LinearBlockProcessNumbered"/>
    <dgm:cxn modelId="{5D977997-AC6F-4DF7-A88A-AAD247A88270}" type="presOf" srcId="{287F9E00-EB79-408F-98F1-33771B517673}" destId="{7205CD9E-59F8-44A1-A528-C4E5579C3EED}" srcOrd="0" destOrd="0" presId="urn:microsoft.com/office/officeart/2016/7/layout/LinearBlockProcessNumbered"/>
    <dgm:cxn modelId="{5531E5A1-BF2C-477D-BDCF-52EBB107120F}" srcId="{3D1B8AE4-77FE-4D31-8557-77E2A5844C97}" destId="{9AA399ED-FA7C-4192-83F0-873C9EBF8580}" srcOrd="1" destOrd="0" parTransId="{4AFC9395-4B63-4C75-B5F5-E493F4F85CFA}" sibTransId="{D4BBEA38-6FF9-4E98-A40D-BBD77291A413}"/>
    <dgm:cxn modelId="{039DA7B0-5880-41DA-BF67-84F0F0DBFB9F}" type="presOf" srcId="{EC417386-A756-44A3-A43C-E0AF0DF44DD3}" destId="{241C7F90-D593-41D2-AFF6-3E7307CB7E6E}" srcOrd="0" destOrd="0" presId="urn:microsoft.com/office/officeart/2016/7/layout/LinearBlockProcessNumbered"/>
    <dgm:cxn modelId="{6C5017BC-C221-4138-830A-F9A7D6A798A6}" type="presOf" srcId="{46F7C930-C704-4337-AEE7-FD561F9CDE36}" destId="{F48B3BB1-E70B-4738-A384-B6519F2104DD}" srcOrd="0" destOrd="0" presId="urn:microsoft.com/office/officeart/2016/7/layout/LinearBlockProcessNumbered"/>
    <dgm:cxn modelId="{935C61A6-55A9-46EF-9AB4-2F221592DCEB}" type="presParOf" srcId="{EE0C9C16-F906-4F86-8123-246F1BE9D13F}" destId="{5BF42DFF-3CDE-4A71-9796-B9972BD19BA8}" srcOrd="0" destOrd="0" presId="urn:microsoft.com/office/officeart/2016/7/layout/LinearBlockProcessNumbered"/>
    <dgm:cxn modelId="{01078AAF-3C72-45E2-B43B-ACCEE3146A6E}" type="presParOf" srcId="{5BF42DFF-3CDE-4A71-9796-B9972BD19BA8}" destId="{2E64840F-FBB9-4A42-B651-368560A61DF3}" srcOrd="0" destOrd="0" presId="urn:microsoft.com/office/officeart/2016/7/layout/LinearBlockProcessNumbered"/>
    <dgm:cxn modelId="{23803D9F-F7AC-46D6-98FA-E4E6FBE59337}" type="presParOf" srcId="{5BF42DFF-3CDE-4A71-9796-B9972BD19BA8}" destId="{241C7F90-D593-41D2-AFF6-3E7307CB7E6E}" srcOrd="1" destOrd="0" presId="urn:microsoft.com/office/officeart/2016/7/layout/LinearBlockProcessNumbered"/>
    <dgm:cxn modelId="{DCC3BDA5-89A6-493D-963F-2725BD79425C}" type="presParOf" srcId="{5BF42DFF-3CDE-4A71-9796-B9972BD19BA8}" destId="{FDEE4DCD-EF00-4249-AB6C-6EC1AB839EC6}" srcOrd="2" destOrd="0" presId="urn:microsoft.com/office/officeart/2016/7/layout/LinearBlockProcessNumbered"/>
    <dgm:cxn modelId="{3647FDA4-3B94-4861-B9F4-360ACF553598}" type="presParOf" srcId="{EE0C9C16-F906-4F86-8123-246F1BE9D13F}" destId="{1A21B62D-964F-4CB6-A08E-4DC07AF30209}" srcOrd="1" destOrd="0" presId="urn:microsoft.com/office/officeart/2016/7/layout/LinearBlockProcessNumbered"/>
    <dgm:cxn modelId="{FFAEB72B-DC93-4888-A7B8-ED7F3CF5F8E0}" type="presParOf" srcId="{EE0C9C16-F906-4F86-8123-246F1BE9D13F}" destId="{CC3338C6-FC7C-4F90-ACD5-9304B868C2AA}" srcOrd="2" destOrd="0" presId="urn:microsoft.com/office/officeart/2016/7/layout/LinearBlockProcessNumbered"/>
    <dgm:cxn modelId="{84BE3549-8450-410E-AD10-6FA9A3A39AD0}" type="presParOf" srcId="{CC3338C6-FC7C-4F90-ACD5-9304B868C2AA}" destId="{2B0ED36C-ECDF-4F1C-A57E-68855D9B4498}" srcOrd="0" destOrd="0" presId="urn:microsoft.com/office/officeart/2016/7/layout/LinearBlockProcessNumbered"/>
    <dgm:cxn modelId="{FAD800D0-3F17-4C98-B041-F6DD81663012}" type="presParOf" srcId="{CC3338C6-FC7C-4F90-ACD5-9304B868C2AA}" destId="{2CB7B6A1-0C56-44EF-9DED-32527B8DA8F5}" srcOrd="1" destOrd="0" presId="urn:microsoft.com/office/officeart/2016/7/layout/LinearBlockProcessNumbered"/>
    <dgm:cxn modelId="{A7477531-9871-433D-9F7A-32283297806D}" type="presParOf" srcId="{CC3338C6-FC7C-4F90-ACD5-9304B868C2AA}" destId="{91B92EAC-592D-4679-AEA1-CA6263A2E4A3}" srcOrd="2" destOrd="0" presId="urn:microsoft.com/office/officeart/2016/7/layout/LinearBlockProcessNumbered"/>
    <dgm:cxn modelId="{C22B00AD-0FDD-4D18-A27F-67A7558D5EEC}" type="presParOf" srcId="{EE0C9C16-F906-4F86-8123-246F1BE9D13F}" destId="{1C0DB568-29FE-4814-A33F-C1A96DCAD18C}" srcOrd="3" destOrd="0" presId="urn:microsoft.com/office/officeart/2016/7/layout/LinearBlockProcessNumbered"/>
    <dgm:cxn modelId="{EA87B6BC-3DE1-4650-9437-F8FAEA227008}" type="presParOf" srcId="{EE0C9C16-F906-4F86-8123-246F1BE9D13F}" destId="{C0F6B256-3CC9-4BA0-9731-DBBD92993130}" srcOrd="4" destOrd="0" presId="urn:microsoft.com/office/officeart/2016/7/layout/LinearBlockProcessNumbered"/>
    <dgm:cxn modelId="{DEEC3A66-8E10-40FB-A65E-42F87E4565B0}" type="presParOf" srcId="{C0F6B256-3CC9-4BA0-9731-DBBD92993130}" destId="{7205CD9E-59F8-44A1-A528-C4E5579C3EED}" srcOrd="0" destOrd="0" presId="urn:microsoft.com/office/officeart/2016/7/layout/LinearBlockProcessNumbered"/>
    <dgm:cxn modelId="{B29C91B4-39D3-4488-98C3-1CEFCB15E8FE}" type="presParOf" srcId="{C0F6B256-3CC9-4BA0-9731-DBBD92993130}" destId="{F48B3BB1-E70B-4738-A384-B6519F2104DD}" srcOrd="1" destOrd="0" presId="urn:microsoft.com/office/officeart/2016/7/layout/LinearBlockProcessNumbered"/>
    <dgm:cxn modelId="{2C4242E8-824B-491A-9607-7CDA9BA13991}" type="presParOf" srcId="{C0F6B256-3CC9-4BA0-9731-DBBD92993130}" destId="{73FDC843-F085-4A2A-9DCE-D8017BD5963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774B39-9A27-4124-B5FA-E7C7743514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691685-4CBB-4132-898D-8B84E2C684ED}">
      <dgm:prSet/>
      <dgm:spPr/>
      <dgm:t>
        <a:bodyPr/>
        <a:lstStyle/>
        <a:p>
          <a:r>
            <a:rPr lang="ru-RU" b="1"/>
            <a:t>1969 год:</a:t>
          </a:r>
          <a:r>
            <a:rPr lang="ru-RU"/>
            <a:t> Защита техпроекта ЕС ЭВМ</a:t>
          </a:r>
          <a:endParaRPr lang="en-US"/>
        </a:p>
      </dgm:t>
    </dgm:pt>
    <dgm:pt modelId="{459C01EB-5B35-4AF1-8FC4-54F43237E333}" type="parTrans" cxnId="{52B99E78-D810-4A5B-AABA-C4DCCDE5D2F0}">
      <dgm:prSet/>
      <dgm:spPr/>
      <dgm:t>
        <a:bodyPr/>
        <a:lstStyle/>
        <a:p>
          <a:endParaRPr lang="en-US"/>
        </a:p>
      </dgm:t>
    </dgm:pt>
    <dgm:pt modelId="{F6C262D5-C3AC-41B1-8BAD-60CB1085D7ED}" type="sibTrans" cxnId="{52B99E78-D810-4A5B-AABA-C4DCCDE5D2F0}">
      <dgm:prSet/>
      <dgm:spPr/>
      <dgm:t>
        <a:bodyPr/>
        <a:lstStyle/>
        <a:p>
          <a:endParaRPr lang="en-US"/>
        </a:p>
      </dgm:t>
    </dgm:pt>
    <dgm:pt modelId="{8313FFF5-B5A4-4A21-A9F0-F0BD5F2BEC01}">
      <dgm:prSet/>
      <dgm:spPr/>
      <dgm:t>
        <a:bodyPr/>
        <a:lstStyle/>
        <a:p>
          <a:r>
            <a:rPr lang="ru-RU" b="1"/>
            <a:t>Против</a:t>
          </a:r>
          <a:r>
            <a:rPr lang="ru-RU"/>
            <a:t> слепого копирования IBM/360</a:t>
          </a:r>
          <a:endParaRPr lang="en-US"/>
        </a:p>
      </dgm:t>
    </dgm:pt>
    <dgm:pt modelId="{9DFAF624-4195-4286-9587-C6C353C0CBB0}" type="parTrans" cxnId="{A2920568-BE20-49CC-B992-BCF6E0F15855}">
      <dgm:prSet/>
      <dgm:spPr/>
      <dgm:t>
        <a:bodyPr/>
        <a:lstStyle/>
        <a:p>
          <a:endParaRPr lang="en-US"/>
        </a:p>
      </dgm:t>
    </dgm:pt>
    <dgm:pt modelId="{268824F5-5816-4918-B346-6C45E5D25C4D}" type="sibTrans" cxnId="{A2920568-BE20-49CC-B992-BCF6E0F15855}">
      <dgm:prSet/>
      <dgm:spPr/>
      <dgm:t>
        <a:bodyPr/>
        <a:lstStyle/>
        <a:p>
          <a:endParaRPr lang="en-US"/>
        </a:p>
      </dgm:t>
    </dgm:pt>
    <dgm:pt modelId="{594AD561-8F99-48D9-A76D-E055F84B4EB3}">
      <dgm:prSet/>
      <dgm:spPr/>
      <dgm:t>
        <a:bodyPr/>
        <a:lstStyle/>
        <a:p>
          <a:r>
            <a:rPr lang="ru-RU" b="1"/>
            <a:t>За</a:t>
          </a:r>
          <a:r>
            <a:rPr lang="ru-RU"/>
            <a:t> британскую систему ICL System 4</a:t>
          </a:r>
          <a:endParaRPr lang="en-US"/>
        </a:p>
      </dgm:t>
    </dgm:pt>
    <dgm:pt modelId="{20FD922D-AACC-44A5-926D-7B374D2A0F51}" type="parTrans" cxnId="{BCD15DA6-CEA4-47BD-8393-99746228A683}">
      <dgm:prSet/>
      <dgm:spPr/>
      <dgm:t>
        <a:bodyPr/>
        <a:lstStyle/>
        <a:p>
          <a:endParaRPr lang="en-US"/>
        </a:p>
      </dgm:t>
    </dgm:pt>
    <dgm:pt modelId="{FF21B25E-6A4D-405D-BBC2-EC66231D8D13}" type="sibTrans" cxnId="{BCD15DA6-CEA4-47BD-8393-99746228A683}">
      <dgm:prSet/>
      <dgm:spPr/>
      <dgm:t>
        <a:bodyPr/>
        <a:lstStyle/>
        <a:p>
          <a:endParaRPr lang="en-US"/>
        </a:p>
      </dgm:t>
    </dgm:pt>
    <dgm:pt modelId="{2720C0F8-E2C8-4249-BB1C-784F793AC9FB}">
      <dgm:prSet/>
      <dgm:spPr/>
      <dgm:t>
        <a:bodyPr/>
        <a:lstStyle/>
        <a:p>
          <a:r>
            <a:rPr lang="ru-RU"/>
            <a:t>Союзник: Б.И. Рамеев</a:t>
          </a:r>
          <a:endParaRPr lang="en-US"/>
        </a:p>
      </dgm:t>
    </dgm:pt>
    <dgm:pt modelId="{746EE383-CE0C-45A2-B36E-21F8C446FD69}" type="parTrans" cxnId="{9D724661-D630-4155-9BF3-5813C6CA6E63}">
      <dgm:prSet/>
      <dgm:spPr/>
      <dgm:t>
        <a:bodyPr/>
        <a:lstStyle/>
        <a:p>
          <a:endParaRPr lang="en-US"/>
        </a:p>
      </dgm:t>
    </dgm:pt>
    <dgm:pt modelId="{89BDF136-AFD0-4F57-AD03-AFC510A1419A}" type="sibTrans" cxnId="{9D724661-D630-4155-9BF3-5813C6CA6E63}">
      <dgm:prSet/>
      <dgm:spPr/>
      <dgm:t>
        <a:bodyPr/>
        <a:lstStyle/>
        <a:p>
          <a:endParaRPr lang="en-US"/>
        </a:p>
      </dgm:t>
    </dgm:pt>
    <dgm:pt modelId="{87D568F0-160B-4D29-8370-5B55C8E16F41}" type="pres">
      <dgm:prSet presAssocID="{76774B39-9A27-4124-B5FA-E7C774351451}" presName="linear" presStyleCnt="0">
        <dgm:presLayoutVars>
          <dgm:animLvl val="lvl"/>
          <dgm:resizeHandles val="exact"/>
        </dgm:presLayoutVars>
      </dgm:prSet>
      <dgm:spPr/>
    </dgm:pt>
    <dgm:pt modelId="{66D8D6C7-0518-47FC-964E-D642A9FE792C}" type="pres">
      <dgm:prSet presAssocID="{F0691685-4CBB-4132-898D-8B84E2C684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E255AA-AD36-4537-8156-BFC3D8ECF2E7}" type="pres">
      <dgm:prSet presAssocID="{F6C262D5-C3AC-41B1-8BAD-60CB1085D7ED}" presName="spacer" presStyleCnt="0"/>
      <dgm:spPr/>
    </dgm:pt>
    <dgm:pt modelId="{8103C129-79D4-4BA3-B191-7FFE0BF63D6A}" type="pres">
      <dgm:prSet presAssocID="{8313FFF5-B5A4-4A21-A9F0-F0BD5F2BEC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2537FB-60D7-46FC-9DB3-A5207DECBF7A}" type="pres">
      <dgm:prSet presAssocID="{268824F5-5816-4918-B346-6C45E5D25C4D}" presName="spacer" presStyleCnt="0"/>
      <dgm:spPr/>
    </dgm:pt>
    <dgm:pt modelId="{5BF2EE3D-6FE5-403F-AAD5-EB7E77730FD6}" type="pres">
      <dgm:prSet presAssocID="{594AD561-8F99-48D9-A76D-E055F84B4EB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B01471-CC15-4ACF-BB36-F574FE31CBAB}" type="pres">
      <dgm:prSet presAssocID="{FF21B25E-6A4D-405D-BBC2-EC66231D8D13}" presName="spacer" presStyleCnt="0"/>
      <dgm:spPr/>
    </dgm:pt>
    <dgm:pt modelId="{C81602AC-AF42-4BFA-9BD8-5410C1338A2A}" type="pres">
      <dgm:prSet presAssocID="{2720C0F8-E2C8-4249-BB1C-784F793AC9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F5771E-4914-45CB-B6AE-CE3A678CFCB2}" type="presOf" srcId="{2720C0F8-E2C8-4249-BB1C-784F793AC9FB}" destId="{C81602AC-AF42-4BFA-9BD8-5410C1338A2A}" srcOrd="0" destOrd="0" presId="urn:microsoft.com/office/officeart/2005/8/layout/vList2"/>
    <dgm:cxn modelId="{DF91291F-1818-4310-A05E-3CF3AA1AA836}" type="presOf" srcId="{F0691685-4CBB-4132-898D-8B84E2C684ED}" destId="{66D8D6C7-0518-47FC-964E-D642A9FE792C}" srcOrd="0" destOrd="0" presId="urn:microsoft.com/office/officeart/2005/8/layout/vList2"/>
    <dgm:cxn modelId="{2D24FD2E-72AF-4B1A-9590-891AEB11172B}" type="presOf" srcId="{594AD561-8F99-48D9-A76D-E055F84B4EB3}" destId="{5BF2EE3D-6FE5-403F-AAD5-EB7E77730FD6}" srcOrd="0" destOrd="0" presId="urn:microsoft.com/office/officeart/2005/8/layout/vList2"/>
    <dgm:cxn modelId="{9D724661-D630-4155-9BF3-5813C6CA6E63}" srcId="{76774B39-9A27-4124-B5FA-E7C774351451}" destId="{2720C0F8-E2C8-4249-BB1C-784F793AC9FB}" srcOrd="3" destOrd="0" parTransId="{746EE383-CE0C-45A2-B36E-21F8C446FD69}" sibTransId="{89BDF136-AFD0-4F57-AD03-AFC510A1419A}"/>
    <dgm:cxn modelId="{A2920568-BE20-49CC-B992-BCF6E0F15855}" srcId="{76774B39-9A27-4124-B5FA-E7C774351451}" destId="{8313FFF5-B5A4-4A21-A9F0-F0BD5F2BEC01}" srcOrd="1" destOrd="0" parTransId="{9DFAF624-4195-4286-9587-C6C353C0CBB0}" sibTransId="{268824F5-5816-4918-B346-6C45E5D25C4D}"/>
    <dgm:cxn modelId="{2EEF6D68-1A73-42A4-9E1D-040C053169C5}" type="presOf" srcId="{8313FFF5-B5A4-4A21-A9F0-F0BD5F2BEC01}" destId="{8103C129-79D4-4BA3-B191-7FFE0BF63D6A}" srcOrd="0" destOrd="0" presId="urn:microsoft.com/office/officeart/2005/8/layout/vList2"/>
    <dgm:cxn modelId="{52B99E78-D810-4A5B-AABA-C4DCCDE5D2F0}" srcId="{76774B39-9A27-4124-B5FA-E7C774351451}" destId="{F0691685-4CBB-4132-898D-8B84E2C684ED}" srcOrd="0" destOrd="0" parTransId="{459C01EB-5B35-4AF1-8FC4-54F43237E333}" sibTransId="{F6C262D5-C3AC-41B1-8BAD-60CB1085D7ED}"/>
    <dgm:cxn modelId="{A7AD60A2-1A07-44F7-9CF1-43B71F79FE9A}" type="presOf" srcId="{76774B39-9A27-4124-B5FA-E7C774351451}" destId="{87D568F0-160B-4D29-8370-5B55C8E16F41}" srcOrd="0" destOrd="0" presId="urn:microsoft.com/office/officeart/2005/8/layout/vList2"/>
    <dgm:cxn modelId="{BCD15DA6-CEA4-47BD-8393-99746228A683}" srcId="{76774B39-9A27-4124-B5FA-E7C774351451}" destId="{594AD561-8F99-48D9-A76D-E055F84B4EB3}" srcOrd="2" destOrd="0" parTransId="{20FD922D-AACC-44A5-926D-7B374D2A0F51}" sibTransId="{FF21B25E-6A4D-405D-BBC2-EC66231D8D13}"/>
    <dgm:cxn modelId="{06770BCF-1488-4743-91F5-00C82681CD73}" type="presParOf" srcId="{87D568F0-160B-4D29-8370-5B55C8E16F41}" destId="{66D8D6C7-0518-47FC-964E-D642A9FE792C}" srcOrd="0" destOrd="0" presId="urn:microsoft.com/office/officeart/2005/8/layout/vList2"/>
    <dgm:cxn modelId="{462419BC-DC91-4F4E-8B37-70E040EC989D}" type="presParOf" srcId="{87D568F0-160B-4D29-8370-5B55C8E16F41}" destId="{DBE255AA-AD36-4537-8156-BFC3D8ECF2E7}" srcOrd="1" destOrd="0" presId="urn:microsoft.com/office/officeart/2005/8/layout/vList2"/>
    <dgm:cxn modelId="{8EBCEB2C-918B-4145-9045-9B80A1E328D7}" type="presParOf" srcId="{87D568F0-160B-4D29-8370-5B55C8E16F41}" destId="{8103C129-79D4-4BA3-B191-7FFE0BF63D6A}" srcOrd="2" destOrd="0" presId="urn:microsoft.com/office/officeart/2005/8/layout/vList2"/>
    <dgm:cxn modelId="{DFB2B4C6-9648-4A34-9D98-6E0E8DEC021F}" type="presParOf" srcId="{87D568F0-160B-4D29-8370-5B55C8E16F41}" destId="{CE2537FB-60D7-46FC-9DB3-A5207DECBF7A}" srcOrd="3" destOrd="0" presId="urn:microsoft.com/office/officeart/2005/8/layout/vList2"/>
    <dgm:cxn modelId="{E04A95D2-FD51-4F25-91BD-6494C381AE21}" type="presParOf" srcId="{87D568F0-160B-4D29-8370-5B55C8E16F41}" destId="{5BF2EE3D-6FE5-403F-AAD5-EB7E77730FD6}" srcOrd="4" destOrd="0" presId="urn:microsoft.com/office/officeart/2005/8/layout/vList2"/>
    <dgm:cxn modelId="{E62E0C68-6C0E-475C-98EB-F4757789AACB}" type="presParOf" srcId="{87D568F0-160B-4D29-8370-5B55C8E16F41}" destId="{EDB01471-CC15-4ACF-BB36-F574FE31CBAB}" srcOrd="5" destOrd="0" presId="urn:microsoft.com/office/officeart/2005/8/layout/vList2"/>
    <dgm:cxn modelId="{3A65FBE3-1AD2-4C69-8E58-B288D26B0896}" type="presParOf" srcId="{87D568F0-160B-4D29-8370-5B55C8E16F41}" destId="{C81602AC-AF42-4BFA-9BD8-5410C1338A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64840F-FBB9-4A42-B651-368560A61DF3}">
      <dsp:nvSpPr>
        <dsp:cNvPr id="0" name=""/>
        <dsp:cNvSpPr/>
      </dsp:nvSpPr>
      <dsp:spPr>
        <a:xfrm>
          <a:off x="795" y="0"/>
          <a:ext cx="3220484" cy="3593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112" tIns="0" rIns="31811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Госкомитет по радиоэлектронике и Министерство радиопромышленности</a:t>
          </a:r>
          <a:endParaRPr lang="en-US" sz="1900" kern="1200"/>
        </a:p>
      </dsp:txBody>
      <dsp:txXfrm>
        <a:off x="795" y="1437436"/>
        <a:ext cx="3220484" cy="2156154"/>
      </dsp:txXfrm>
    </dsp:sp>
    <dsp:sp modelId="{241C7F90-D593-41D2-AFF6-3E7307CB7E6E}">
      <dsp:nvSpPr>
        <dsp:cNvPr id="0" name=""/>
        <dsp:cNvSpPr/>
      </dsp:nvSpPr>
      <dsp:spPr>
        <a:xfrm>
          <a:off x="795" y="0"/>
          <a:ext cx="3220484" cy="1437436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112" tIns="165100" rIns="31811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95" y="0"/>
        <a:ext cx="3220484" cy="1437436"/>
      </dsp:txXfrm>
    </dsp:sp>
    <dsp:sp modelId="{2B0ED36C-ECDF-4F1C-A57E-68855D9B4498}">
      <dsp:nvSpPr>
        <dsp:cNvPr id="0" name=""/>
        <dsp:cNvSpPr/>
      </dsp:nvSpPr>
      <dsp:spPr>
        <a:xfrm>
          <a:off x="3478918" y="0"/>
          <a:ext cx="3220484" cy="3593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112" tIns="0" rIns="31811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Заместитель министра</a:t>
          </a:r>
          <a:endParaRPr lang="en-US" sz="1900" kern="1200"/>
        </a:p>
      </dsp:txBody>
      <dsp:txXfrm>
        <a:off x="3478918" y="1437436"/>
        <a:ext cx="3220484" cy="2156154"/>
      </dsp:txXfrm>
    </dsp:sp>
    <dsp:sp modelId="{2CB7B6A1-0C56-44EF-9DED-32527B8DA8F5}">
      <dsp:nvSpPr>
        <dsp:cNvPr id="0" name=""/>
        <dsp:cNvSpPr/>
      </dsp:nvSpPr>
      <dsp:spPr>
        <a:xfrm>
          <a:off x="3478918" y="0"/>
          <a:ext cx="3220484" cy="1437436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112" tIns="165100" rIns="31811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478918" y="0"/>
        <a:ext cx="3220484" cy="1437436"/>
      </dsp:txXfrm>
    </dsp:sp>
    <dsp:sp modelId="{7205CD9E-59F8-44A1-A528-C4E5579C3EED}">
      <dsp:nvSpPr>
        <dsp:cNvPr id="0" name=""/>
        <dsp:cNvSpPr/>
      </dsp:nvSpPr>
      <dsp:spPr>
        <a:xfrm>
          <a:off x="6957042" y="0"/>
          <a:ext cx="3220484" cy="3593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112" tIns="0" rIns="31811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Главный организатор компьютерной индустрии СССР</a:t>
          </a:r>
          <a:endParaRPr lang="en-US" sz="1900" kern="1200"/>
        </a:p>
      </dsp:txBody>
      <dsp:txXfrm>
        <a:off x="6957042" y="1437436"/>
        <a:ext cx="3220484" cy="2156154"/>
      </dsp:txXfrm>
    </dsp:sp>
    <dsp:sp modelId="{F48B3BB1-E70B-4738-A384-B6519F2104DD}">
      <dsp:nvSpPr>
        <dsp:cNvPr id="0" name=""/>
        <dsp:cNvSpPr/>
      </dsp:nvSpPr>
      <dsp:spPr>
        <a:xfrm>
          <a:off x="6957042" y="0"/>
          <a:ext cx="3220484" cy="1437436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112" tIns="165100" rIns="31811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957042" y="0"/>
        <a:ext cx="3220484" cy="14374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8D6C7-0518-47FC-964E-D642A9FE792C}">
      <dsp:nvSpPr>
        <dsp:cNvPr id="0" name=""/>
        <dsp:cNvSpPr/>
      </dsp:nvSpPr>
      <dsp:spPr>
        <a:xfrm>
          <a:off x="0" y="18935"/>
          <a:ext cx="10178321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kern="1200"/>
            <a:t>1969 год:</a:t>
          </a:r>
          <a:r>
            <a:rPr lang="ru-RU" sz="3400" kern="1200"/>
            <a:t> Защита техпроекта ЕС ЭВМ</a:t>
          </a:r>
          <a:endParaRPr lang="en-US" sz="3400" kern="1200"/>
        </a:p>
      </dsp:txBody>
      <dsp:txXfrm>
        <a:off x="39809" y="58744"/>
        <a:ext cx="10098703" cy="735872"/>
      </dsp:txXfrm>
    </dsp:sp>
    <dsp:sp modelId="{8103C129-79D4-4BA3-B191-7FFE0BF63D6A}">
      <dsp:nvSpPr>
        <dsp:cNvPr id="0" name=""/>
        <dsp:cNvSpPr/>
      </dsp:nvSpPr>
      <dsp:spPr>
        <a:xfrm>
          <a:off x="0" y="932345"/>
          <a:ext cx="10178321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kern="1200"/>
            <a:t>Против</a:t>
          </a:r>
          <a:r>
            <a:rPr lang="ru-RU" sz="3400" kern="1200"/>
            <a:t> слепого копирования IBM/360</a:t>
          </a:r>
          <a:endParaRPr lang="en-US" sz="3400" kern="1200"/>
        </a:p>
      </dsp:txBody>
      <dsp:txXfrm>
        <a:off x="39809" y="972154"/>
        <a:ext cx="10098703" cy="735872"/>
      </dsp:txXfrm>
    </dsp:sp>
    <dsp:sp modelId="{5BF2EE3D-6FE5-403F-AAD5-EB7E77730FD6}">
      <dsp:nvSpPr>
        <dsp:cNvPr id="0" name=""/>
        <dsp:cNvSpPr/>
      </dsp:nvSpPr>
      <dsp:spPr>
        <a:xfrm>
          <a:off x="0" y="1845755"/>
          <a:ext cx="10178321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1" kern="1200"/>
            <a:t>За</a:t>
          </a:r>
          <a:r>
            <a:rPr lang="ru-RU" sz="3400" kern="1200"/>
            <a:t> британскую систему ICL System 4</a:t>
          </a:r>
          <a:endParaRPr lang="en-US" sz="3400" kern="1200"/>
        </a:p>
      </dsp:txBody>
      <dsp:txXfrm>
        <a:off x="39809" y="1885564"/>
        <a:ext cx="10098703" cy="735872"/>
      </dsp:txXfrm>
    </dsp:sp>
    <dsp:sp modelId="{C81602AC-AF42-4BFA-9BD8-5410C1338A2A}">
      <dsp:nvSpPr>
        <dsp:cNvPr id="0" name=""/>
        <dsp:cNvSpPr/>
      </dsp:nvSpPr>
      <dsp:spPr>
        <a:xfrm>
          <a:off x="0" y="2759165"/>
          <a:ext cx="10178321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/>
            <a:t>Союзник: Б.И. Рамеев</a:t>
          </a:r>
          <a:endParaRPr lang="en-US" sz="3400" kern="1200"/>
        </a:p>
      </dsp:txBody>
      <dsp:txXfrm>
        <a:off x="39809" y="2798974"/>
        <a:ext cx="10098703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EB0D1-9013-4798-BE1A-CF1595B63C11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1AC16-6203-4FA5-8B4E-1CDD98486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49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я расскажу о Михаиле Кирилловиче Сулиме — человеке, который стоял у истоков советской вычислительной техники. Он прошел путь от простого инженера до заместителя министра радиопромышленности, и его судьба отражает как триумфы, так и драматические моменты развития IT-отрасли в СССР.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783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Сулим начал карьеру в СКБ-245, где быстро проявил себя как талантливый инженер. Он участвовал в создании легендарной ламповой ЭВМ М-20 под руководством академика Лебедева. Позже он сам стал главным конструктором полупроводниковых машин М-220 и М-222, которые долгие годы были основой вычислительных центров по всей стране.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15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конце 1950-х Сулим перешел на работу в Госкомитет по радиоэлектронике, а затем в Министерство радиопромышленности. Там он дослужился до поста заместителя министра и фактически стал главным организатором всей компьютерной промышленности СССР, курируя НИИ и заводы по стране.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644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Ключевое достижение Сулима на посту замминистра — подготовка и принятие в 1967 году правительственного постановления. Оно определило развитие вычислительной техники на годы вперед. Предусматривалось создание семейства совместимых ЭВМ, строительство более 30 заводов и создание НИЦЭВТ. Фактически, Сулим заложил базу для перехода на ЭВМ третьего поколения на интегральных схемах.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620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самый драматичный момент наступил в 1969 году. На защите технического проекта Единой системы ЭВМ Сулим вместе с другим пионером,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Рамеевым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выступил против слепого копирования американской IBM/360. Они предлагали взять за основу британскую систему ICL, что позволило бы сотрудничать с Европой на равных.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665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Вернувшись на научно-производственную работу, Сулим возглавил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НИИсчетмаш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Под его руководством разрабатывались периферийные устройства и терминалы для той самой ЕС ЭВМ, против копирования которой он возражал, а также аналоговые вычислительные комплексы.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562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19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Подводя итог, можно сказать: Михаил Кириллович Сулим остался в истории как человек, который не просто строил советскую компьютерную промышленность, но и имел мужество отстаивать альтернативный путь развития — путь технологической независимости.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пример редкой принципиальности для любого времени и любой страны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1AC16-6203-4FA5-8B4E-1CDD98486F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78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285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861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43593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91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694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11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4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0184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93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89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14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159F5AD-5B7A-42BE-8975-1C952121177E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B370AF8-2D70-4B06-AF89-54F9AB1A2C5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3392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384613-A493-4A01-873E-5BD3769D1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9C9E3-89AE-B477-D554-695B9C7E6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3" y="643467"/>
            <a:ext cx="7558609" cy="4849909"/>
          </a:xfrm>
        </p:spPr>
        <p:txBody>
          <a:bodyPr anchor="b">
            <a:normAutofit/>
          </a:bodyPr>
          <a:lstStyle/>
          <a:p>
            <a:pPr algn="l"/>
            <a:r>
              <a:rPr lang="ru-RU" sz="8100" b="1"/>
              <a:t>Михаил Кириллович Сулим</a:t>
            </a:r>
            <a:br>
              <a:rPr lang="ru-RU" sz="8100" b="1"/>
            </a:br>
            <a:endParaRPr lang="ru-RU" sz="81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F920FF-201C-5B4A-991A-E6CA5207F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3" y="5563388"/>
            <a:ext cx="7558609" cy="742279"/>
          </a:xfrm>
        </p:spPr>
        <p:txBody>
          <a:bodyPr>
            <a:normAutofit/>
          </a:bodyPr>
          <a:lstStyle/>
          <a:p>
            <a:pPr algn="l"/>
            <a:r>
              <a:rPr lang="ru-RU" sz="1800"/>
              <a:t>Доклад Суркова А.А., ИВТ 2.2.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36F18-80E9-4DFA-9C2E-3F8561472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rgbClr val="171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293054-EC89-4CF2-AAEF-B38981E9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9302764" y="0"/>
            <a:ext cx="2889236" cy="6858000"/>
          </a:xfrm>
          <a:custGeom>
            <a:avLst/>
            <a:gdLst>
              <a:gd name="connsiteX0" fmla="*/ 1514461 w 2889236"/>
              <a:gd name="connsiteY0" fmla="*/ 0 h 6858000"/>
              <a:gd name="connsiteX1" fmla="*/ 1291796 w 2889236"/>
              <a:gd name="connsiteY1" fmla="*/ 0 h 6858000"/>
              <a:gd name="connsiteX2" fmla="*/ 1242998 w 2889236"/>
              <a:gd name="connsiteY2" fmla="*/ 0 h 6858000"/>
              <a:gd name="connsiteX3" fmla="*/ 303177 w 2889236"/>
              <a:gd name="connsiteY3" fmla="*/ 0 h 6858000"/>
              <a:gd name="connsiteX4" fmla="*/ 235415 w 2889236"/>
              <a:gd name="connsiteY4" fmla="*/ 0 h 6858000"/>
              <a:gd name="connsiteX5" fmla="*/ 0 w 2889236"/>
              <a:gd name="connsiteY5" fmla="*/ 0 h 6858000"/>
              <a:gd name="connsiteX6" fmla="*/ 0 w 2889236"/>
              <a:gd name="connsiteY6" fmla="*/ 6858000 h 6858000"/>
              <a:gd name="connsiteX7" fmla="*/ 235415 w 2889236"/>
              <a:gd name="connsiteY7" fmla="*/ 6858000 h 6858000"/>
              <a:gd name="connsiteX8" fmla="*/ 303177 w 2889236"/>
              <a:gd name="connsiteY8" fmla="*/ 6858000 h 6858000"/>
              <a:gd name="connsiteX9" fmla="*/ 1242998 w 2889236"/>
              <a:gd name="connsiteY9" fmla="*/ 6858000 h 6858000"/>
              <a:gd name="connsiteX10" fmla="*/ 1291795 w 2889236"/>
              <a:gd name="connsiteY10" fmla="*/ 6858000 h 6858000"/>
              <a:gd name="connsiteX11" fmla="*/ 1514461 w 2889236"/>
              <a:gd name="connsiteY11" fmla="*/ 6858000 h 6858000"/>
              <a:gd name="connsiteX12" fmla="*/ 1541448 w 2889236"/>
              <a:gd name="connsiteY12" fmla="*/ 6770688 h 6858000"/>
              <a:gd name="connsiteX13" fmla="*/ 1566848 w 2889236"/>
              <a:gd name="connsiteY13" fmla="*/ 6683375 h 6858000"/>
              <a:gd name="connsiteX14" fmla="*/ 1592248 w 2889236"/>
              <a:gd name="connsiteY14" fmla="*/ 6594475 h 6858000"/>
              <a:gd name="connsiteX15" fmla="*/ 1614473 w 2889236"/>
              <a:gd name="connsiteY15" fmla="*/ 6503988 h 6858000"/>
              <a:gd name="connsiteX16" fmla="*/ 1641461 w 2889236"/>
              <a:gd name="connsiteY16" fmla="*/ 6416675 h 6858000"/>
              <a:gd name="connsiteX17" fmla="*/ 1670036 w 2889236"/>
              <a:gd name="connsiteY17" fmla="*/ 6332538 h 6858000"/>
              <a:gd name="connsiteX18" fmla="*/ 1706548 w 2889236"/>
              <a:gd name="connsiteY18" fmla="*/ 6253163 h 6858000"/>
              <a:gd name="connsiteX19" fmla="*/ 1749411 w 2889236"/>
              <a:gd name="connsiteY19" fmla="*/ 6180138 h 6858000"/>
              <a:gd name="connsiteX20" fmla="*/ 1797036 w 2889236"/>
              <a:gd name="connsiteY20" fmla="*/ 6118225 h 6858000"/>
              <a:gd name="connsiteX21" fmla="*/ 1849423 w 2889236"/>
              <a:gd name="connsiteY21" fmla="*/ 6059488 h 6858000"/>
              <a:gd name="connsiteX22" fmla="*/ 1909748 w 2889236"/>
              <a:gd name="connsiteY22" fmla="*/ 6005513 h 6858000"/>
              <a:gd name="connsiteX23" fmla="*/ 1973248 w 2889236"/>
              <a:gd name="connsiteY23" fmla="*/ 5951538 h 6858000"/>
              <a:gd name="connsiteX24" fmla="*/ 2039923 w 2889236"/>
              <a:gd name="connsiteY24" fmla="*/ 5900738 h 6858000"/>
              <a:gd name="connsiteX25" fmla="*/ 2106598 w 2889236"/>
              <a:gd name="connsiteY25" fmla="*/ 5849938 h 6858000"/>
              <a:gd name="connsiteX26" fmla="*/ 2174861 w 2889236"/>
              <a:gd name="connsiteY26" fmla="*/ 5797550 h 6858000"/>
              <a:gd name="connsiteX27" fmla="*/ 2239948 w 2889236"/>
              <a:gd name="connsiteY27" fmla="*/ 5746750 h 6858000"/>
              <a:gd name="connsiteX28" fmla="*/ 2301861 w 2889236"/>
              <a:gd name="connsiteY28" fmla="*/ 5692775 h 6858000"/>
              <a:gd name="connsiteX29" fmla="*/ 2359011 w 2889236"/>
              <a:gd name="connsiteY29" fmla="*/ 5634038 h 6858000"/>
              <a:gd name="connsiteX30" fmla="*/ 2411398 w 2889236"/>
              <a:gd name="connsiteY30" fmla="*/ 5575300 h 6858000"/>
              <a:gd name="connsiteX31" fmla="*/ 2454261 w 2889236"/>
              <a:gd name="connsiteY31" fmla="*/ 5511800 h 6858000"/>
              <a:gd name="connsiteX32" fmla="*/ 2490773 w 2889236"/>
              <a:gd name="connsiteY32" fmla="*/ 5440363 h 6858000"/>
              <a:gd name="connsiteX33" fmla="*/ 2512998 w 2889236"/>
              <a:gd name="connsiteY33" fmla="*/ 5370513 h 6858000"/>
              <a:gd name="connsiteX34" fmla="*/ 2527286 w 2889236"/>
              <a:gd name="connsiteY34" fmla="*/ 5292725 h 6858000"/>
              <a:gd name="connsiteX35" fmla="*/ 2533636 w 2889236"/>
              <a:gd name="connsiteY35" fmla="*/ 5216525 h 6858000"/>
              <a:gd name="connsiteX36" fmla="*/ 2532048 w 2889236"/>
              <a:gd name="connsiteY36" fmla="*/ 5135563 h 6858000"/>
              <a:gd name="connsiteX37" fmla="*/ 2525698 w 2889236"/>
              <a:gd name="connsiteY37" fmla="*/ 5054600 h 6858000"/>
              <a:gd name="connsiteX38" fmla="*/ 2517761 w 2889236"/>
              <a:gd name="connsiteY38" fmla="*/ 4970463 h 6858000"/>
              <a:gd name="connsiteX39" fmla="*/ 2506648 w 2889236"/>
              <a:gd name="connsiteY39" fmla="*/ 4886325 h 6858000"/>
              <a:gd name="connsiteX40" fmla="*/ 2493948 w 2889236"/>
              <a:gd name="connsiteY40" fmla="*/ 4802188 h 6858000"/>
              <a:gd name="connsiteX41" fmla="*/ 2484423 w 2889236"/>
              <a:gd name="connsiteY41" fmla="*/ 4718050 h 6858000"/>
              <a:gd name="connsiteX42" fmla="*/ 2478073 w 2889236"/>
              <a:gd name="connsiteY42" fmla="*/ 4633913 h 6858000"/>
              <a:gd name="connsiteX43" fmla="*/ 2473311 w 2889236"/>
              <a:gd name="connsiteY43" fmla="*/ 4552950 h 6858000"/>
              <a:gd name="connsiteX44" fmla="*/ 2478073 w 2889236"/>
              <a:gd name="connsiteY44" fmla="*/ 4473575 h 6858000"/>
              <a:gd name="connsiteX45" fmla="*/ 2487598 w 2889236"/>
              <a:gd name="connsiteY45" fmla="*/ 4395788 h 6858000"/>
              <a:gd name="connsiteX46" fmla="*/ 2508236 w 2889236"/>
              <a:gd name="connsiteY46" fmla="*/ 4314825 h 6858000"/>
              <a:gd name="connsiteX47" fmla="*/ 2539986 w 2889236"/>
              <a:gd name="connsiteY47" fmla="*/ 4235450 h 6858000"/>
              <a:gd name="connsiteX48" fmla="*/ 2578086 w 2889236"/>
              <a:gd name="connsiteY48" fmla="*/ 4156075 h 6858000"/>
              <a:gd name="connsiteX49" fmla="*/ 2620948 w 2889236"/>
              <a:gd name="connsiteY49" fmla="*/ 4076700 h 6858000"/>
              <a:gd name="connsiteX50" fmla="*/ 2665398 w 2889236"/>
              <a:gd name="connsiteY50" fmla="*/ 3998913 h 6858000"/>
              <a:gd name="connsiteX51" fmla="*/ 2713024 w 2889236"/>
              <a:gd name="connsiteY51" fmla="*/ 3919538 h 6858000"/>
              <a:gd name="connsiteX52" fmla="*/ 2755886 w 2889236"/>
              <a:gd name="connsiteY52" fmla="*/ 3840163 h 6858000"/>
              <a:gd name="connsiteX53" fmla="*/ 2798748 w 2889236"/>
              <a:gd name="connsiteY53" fmla="*/ 3759200 h 6858000"/>
              <a:gd name="connsiteX54" fmla="*/ 2835261 w 2889236"/>
              <a:gd name="connsiteY54" fmla="*/ 3678238 h 6858000"/>
              <a:gd name="connsiteX55" fmla="*/ 2863836 w 2889236"/>
              <a:gd name="connsiteY55" fmla="*/ 3597275 h 6858000"/>
              <a:gd name="connsiteX56" fmla="*/ 2879711 w 2889236"/>
              <a:gd name="connsiteY56" fmla="*/ 3514725 h 6858000"/>
              <a:gd name="connsiteX57" fmla="*/ 2889236 w 2889236"/>
              <a:gd name="connsiteY57" fmla="*/ 3429000 h 6858000"/>
              <a:gd name="connsiteX58" fmla="*/ 2879711 w 2889236"/>
              <a:gd name="connsiteY58" fmla="*/ 3343275 h 6858000"/>
              <a:gd name="connsiteX59" fmla="*/ 2863836 w 2889236"/>
              <a:gd name="connsiteY59" fmla="*/ 3260725 h 6858000"/>
              <a:gd name="connsiteX60" fmla="*/ 2835261 w 2889236"/>
              <a:gd name="connsiteY60" fmla="*/ 3179763 h 6858000"/>
              <a:gd name="connsiteX61" fmla="*/ 2798748 w 2889236"/>
              <a:gd name="connsiteY61" fmla="*/ 3098800 h 6858000"/>
              <a:gd name="connsiteX62" fmla="*/ 2755886 w 2889236"/>
              <a:gd name="connsiteY62" fmla="*/ 3017838 h 6858000"/>
              <a:gd name="connsiteX63" fmla="*/ 2713024 w 2889236"/>
              <a:gd name="connsiteY63" fmla="*/ 2938463 h 6858000"/>
              <a:gd name="connsiteX64" fmla="*/ 2665398 w 2889236"/>
              <a:gd name="connsiteY64" fmla="*/ 2859088 h 6858000"/>
              <a:gd name="connsiteX65" fmla="*/ 2620948 w 2889236"/>
              <a:gd name="connsiteY65" fmla="*/ 2781300 h 6858000"/>
              <a:gd name="connsiteX66" fmla="*/ 2578086 w 2889236"/>
              <a:gd name="connsiteY66" fmla="*/ 2701925 h 6858000"/>
              <a:gd name="connsiteX67" fmla="*/ 2539986 w 2889236"/>
              <a:gd name="connsiteY67" fmla="*/ 2622550 h 6858000"/>
              <a:gd name="connsiteX68" fmla="*/ 2508236 w 2889236"/>
              <a:gd name="connsiteY68" fmla="*/ 2543175 h 6858000"/>
              <a:gd name="connsiteX69" fmla="*/ 2487598 w 2889236"/>
              <a:gd name="connsiteY69" fmla="*/ 2462213 h 6858000"/>
              <a:gd name="connsiteX70" fmla="*/ 2478073 w 2889236"/>
              <a:gd name="connsiteY70" fmla="*/ 2384425 h 6858000"/>
              <a:gd name="connsiteX71" fmla="*/ 2473311 w 2889236"/>
              <a:gd name="connsiteY71" fmla="*/ 2305050 h 6858000"/>
              <a:gd name="connsiteX72" fmla="*/ 2478073 w 2889236"/>
              <a:gd name="connsiteY72" fmla="*/ 2224088 h 6858000"/>
              <a:gd name="connsiteX73" fmla="*/ 2484423 w 2889236"/>
              <a:gd name="connsiteY73" fmla="*/ 2139950 h 6858000"/>
              <a:gd name="connsiteX74" fmla="*/ 2493948 w 2889236"/>
              <a:gd name="connsiteY74" fmla="*/ 2055813 h 6858000"/>
              <a:gd name="connsiteX75" fmla="*/ 2506648 w 2889236"/>
              <a:gd name="connsiteY75" fmla="*/ 1971675 h 6858000"/>
              <a:gd name="connsiteX76" fmla="*/ 2517761 w 2889236"/>
              <a:gd name="connsiteY76" fmla="*/ 1887538 h 6858000"/>
              <a:gd name="connsiteX77" fmla="*/ 2525698 w 2889236"/>
              <a:gd name="connsiteY77" fmla="*/ 1803400 h 6858000"/>
              <a:gd name="connsiteX78" fmla="*/ 2532048 w 2889236"/>
              <a:gd name="connsiteY78" fmla="*/ 1722438 h 6858000"/>
              <a:gd name="connsiteX79" fmla="*/ 2533636 w 2889236"/>
              <a:gd name="connsiteY79" fmla="*/ 1641475 h 6858000"/>
              <a:gd name="connsiteX80" fmla="*/ 2527286 w 2889236"/>
              <a:gd name="connsiteY80" fmla="*/ 1565275 h 6858000"/>
              <a:gd name="connsiteX81" fmla="*/ 2512998 w 2889236"/>
              <a:gd name="connsiteY81" fmla="*/ 1487488 h 6858000"/>
              <a:gd name="connsiteX82" fmla="*/ 2490773 w 2889236"/>
              <a:gd name="connsiteY82" fmla="*/ 1417638 h 6858000"/>
              <a:gd name="connsiteX83" fmla="*/ 2454261 w 2889236"/>
              <a:gd name="connsiteY83" fmla="*/ 1346200 h 6858000"/>
              <a:gd name="connsiteX84" fmla="*/ 2411398 w 2889236"/>
              <a:gd name="connsiteY84" fmla="*/ 1282700 h 6858000"/>
              <a:gd name="connsiteX85" fmla="*/ 2359011 w 2889236"/>
              <a:gd name="connsiteY85" fmla="*/ 1223963 h 6858000"/>
              <a:gd name="connsiteX86" fmla="*/ 2301861 w 2889236"/>
              <a:gd name="connsiteY86" fmla="*/ 1165225 h 6858000"/>
              <a:gd name="connsiteX87" fmla="*/ 2239948 w 2889236"/>
              <a:gd name="connsiteY87" fmla="*/ 1111250 h 6858000"/>
              <a:gd name="connsiteX88" fmla="*/ 2174861 w 2889236"/>
              <a:gd name="connsiteY88" fmla="*/ 1060450 h 6858000"/>
              <a:gd name="connsiteX89" fmla="*/ 2106598 w 2889236"/>
              <a:gd name="connsiteY89" fmla="*/ 1008063 h 6858000"/>
              <a:gd name="connsiteX90" fmla="*/ 2039923 w 2889236"/>
              <a:gd name="connsiteY90" fmla="*/ 957263 h 6858000"/>
              <a:gd name="connsiteX91" fmla="*/ 1973248 w 2889236"/>
              <a:gd name="connsiteY91" fmla="*/ 906463 h 6858000"/>
              <a:gd name="connsiteX92" fmla="*/ 1909748 w 2889236"/>
              <a:gd name="connsiteY92" fmla="*/ 852488 h 6858000"/>
              <a:gd name="connsiteX93" fmla="*/ 1849423 w 2889236"/>
              <a:gd name="connsiteY93" fmla="*/ 798513 h 6858000"/>
              <a:gd name="connsiteX94" fmla="*/ 1797036 w 2889236"/>
              <a:gd name="connsiteY94" fmla="*/ 739775 h 6858000"/>
              <a:gd name="connsiteX95" fmla="*/ 1749411 w 2889236"/>
              <a:gd name="connsiteY95" fmla="*/ 677863 h 6858000"/>
              <a:gd name="connsiteX96" fmla="*/ 1706548 w 2889236"/>
              <a:gd name="connsiteY96" fmla="*/ 604838 h 6858000"/>
              <a:gd name="connsiteX97" fmla="*/ 1670036 w 2889236"/>
              <a:gd name="connsiteY97" fmla="*/ 525463 h 6858000"/>
              <a:gd name="connsiteX98" fmla="*/ 1641461 w 2889236"/>
              <a:gd name="connsiteY98" fmla="*/ 441325 h 6858000"/>
              <a:gd name="connsiteX99" fmla="*/ 1614473 w 2889236"/>
              <a:gd name="connsiteY99" fmla="*/ 354013 h 6858000"/>
              <a:gd name="connsiteX100" fmla="*/ 1592248 w 2889236"/>
              <a:gd name="connsiteY100" fmla="*/ 263525 h 6858000"/>
              <a:gd name="connsiteX101" fmla="*/ 1566848 w 2889236"/>
              <a:gd name="connsiteY101" fmla="*/ 174625 h 6858000"/>
              <a:gd name="connsiteX102" fmla="*/ 1541448 w 2889236"/>
              <a:gd name="connsiteY102" fmla="*/ 873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2889236" h="6858000">
                <a:moveTo>
                  <a:pt x="1514461" y="0"/>
                </a:moveTo>
                <a:lnTo>
                  <a:pt x="1291796" y="0"/>
                </a:lnTo>
                <a:lnTo>
                  <a:pt x="1242998" y="0"/>
                </a:lnTo>
                <a:lnTo>
                  <a:pt x="303177" y="0"/>
                </a:lnTo>
                <a:lnTo>
                  <a:pt x="235415" y="0"/>
                </a:lnTo>
                <a:lnTo>
                  <a:pt x="0" y="0"/>
                </a:lnTo>
                <a:lnTo>
                  <a:pt x="0" y="6858000"/>
                </a:lnTo>
                <a:lnTo>
                  <a:pt x="235415" y="6858000"/>
                </a:lnTo>
                <a:lnTo>
                  <a:pt x="303177" y="6858000"/>
                </a:lnTo>
                <a:lnTo>
                  <a:pt x="1242998" y="6858000"/>
                </a:lnTo>
                <a:lnTo>
                  <a:pt x="1291795" y="6858000"/>
                </a:lnTo>
                <a:lnTo>
                  <a:pt x="1514461" y="6858000"/>
                </a:lnTo>
                <a:lnTo>
                  <a:pt x="1541448" y="6770688"/>
                </a:lnTo>
                <a:lnTo>
                  <a:pt x="1566848" y="6683375"/>
                </a:lnTo>
                <a:lnTo>
                  <a:pt x="1592248" y="6594475"/>
                </a:lnTo>
                <a:lnTo>
                  <a:pt x="1614473" y="6503988"/>
                </a:lnTo>
                <a:lnTo>
                  <a:pt x="1641461" y="6416675"/>
                </a:lnTo>
                <a:lnTo>
                  <a:pt x="1670036" y="6332538"/>
                </a:lnTo>
                <a:lnTo>
                  <a:pt x="1706548" y="6253163"/>
                </a:lnTo>
                <a:lnTo>
                  <a:pt x="1749411" y="6180138"/>
                </a:lnTo>
                <a:lnTo>
                  <a:pt x="1797036" y="6118225"/>
                </a:lnTo>
                <a:lnTo>
                  <a:pt x="1849423" y="6059488"/>
                </a:lnTo>
                <a:lnTo>
                  <a:pt x="1909748" y="6005513"/>
                </a:lnTo>
                <a:lnTo>
                  <a:pt x="1973248" y="5951538"/>
                </a:lnTo>
                <a:lnTo>
                  <a:pt x="2039923" y="5900738"/>
                </a:lnTo>
                <a:lnTo>
                  <a:pt x="2106598" y="5849938"/>
                </a:lnTo>
                <a:lnTo>
                  <a:pt x="2174861" y="5797550"/>
                </a:lnTo>
                <a:lnTo>
                  <a:pt x="2239948" y="5746750"/>
                </a:lnTo>
                <a:lnTo>
                  <a:pt x="2301861" y="5692775"/>
                </a:lnTo>
                <a:lnTo>
                  <a:pt x="2359011" y="5634038"/>
                </a:lnTo>
                <a:lnTo>
                  <a:pt x="2411398" y="5575300"/>
                </a:lnTo>
                <a:lnTo>
                  <a:pt x="2454261" y="5511800"/>
                </a:lnTo>
                <a:lnTo>
                  <a:pt x="2490773" y="5440363"/>
                </a:lnTo>
                <a:lnTo>
                  <a:pt x="2512998" y="5370513"/>
                </a:lnTo>
                <a:lnTo>
                  <a:pt x="2527286" y="5292725"/>
                </a:lnTo>
                <a:lnTo>
                  <a:pt x="2533636" y="5216525"/>
                </a:lnTo>
                <a:lnTo>
                  <a:pt x="2532048" y="5135563"/>
                </a:lnTo>
                <a:lnTo>
                  <a:pt x="2525698" y="5054600"/>
                </a:lnTo>
                <a:lnTo>
                  <a:pt x="2517761" y="4970463"/>
                </a:lnTo>
                <a:lnTo>
                  <a:pt x="2506648" y="4886325"/>
                </a:lnTo>
                <a:lnTo>
                  <a:pt x="2493948" y="4802188"/>
                </a:lnTo>
                <a:lnTo>
                  <a:pt x="2484423" y="4718050"/>
                </a:lnTo>
                <a:lnTo>
                  <a:pt x="2478073" y="4633913"/>
                </a:lnTo>
                <a:lnTo>
                  <a:pt x="2473311" y="4552950"/>
                </a:lnTo>
                <a:lnTo>
                  <a:pt x="2478073" y="4473575"/>
                </a:lnTo>
                <a:lnTo>
                  <a:pt x="2487598" y="4395788"/>
                </a:lnTo>
                <a:lnTo>
                  <a:pt x="2508236" y="4314825"/>
                </a:lnTo>
                <a:lnTo>
                  <a:pt x="2539986" y="4235450"/>
                </a:lnTo>
                <a:lnTo>
                  <a:pt x="2578086" y="4156075"/>
                </a:lnTo>
                <a:lnTo>
                  <a:pt x="2620948" y="4076700"/>
                </a:lnTo>
                <a:lnTo>
                  <a:pt x="2665398" y="3998913"/>
                </a:lnTo>
                <a:lnTo>
                  <a:pt x="2713024" y="3919538"/>
                </a:lnTo>
                <a:lnTo>
                  <a:pt x="2755886" y="3840163"/>
                </a:lnTo>
                <a:lnTo>
                  <a:pt x="2798748" y="3759200"/>
                </a:lnTo>
                <a:lnTo>
                  <a:pt x="2835261" y="3678238"/>
                </a:lnTo>
                <a:lnTo>
                  <a:pt x="2863836" y="3597275"/>
                </a:lnTo>
                <a:lnTo>
                  <a:pt x="2879711" y="3514725"/>
                </a:lnTo>
                <a:lnTo>
                  <a:pt x="2889236" y="3429000"/>
                </a:lnTo>
                <a:lnTo>
                  <a:pt x="2879711" y="3343275"/>
                </a:lnTo>
                <a:lnTo>
                  <a:pt x="2863836" y="3260725"/>
                </a:lnTo>
                <a:lnTo>
                  <a:pt x="2835261" y="3179763"/>
                </a:lnTo>
                <a:lnTo>
                  <a:pt x="2798748" y="3098800"/>
                </a:lnTo>
                <a:lnTo>
                  <a:pt x="2755886" y="3017838"/>
                </a:lnTo>
                <a:lnTo>
                  <a:pt x="2713024" y="2938463"/>
                </a:lnTo>
                <a:lnTo>
                  <a:pt x="2665398" y="2859088"/>
                </a:lnTo>
                <a:lnTo>
                  <a:pt x="2620948" y="2781300"/>
                </a:lnTo>
                <a:lnTo>
                  <a:pt x="2578086" y="2701925"/>
                </a:lnTo>
                <a:lnTo>
                  <a:pt x="2539986" y="2622550"/>
                </a:lnTo>
                <a:lnTo>
                  <a:pt x="2508236" y="2543175"/>
                </a:lnTo>
                <a:lnTo>
                  <a:pt x="2487598" y="2462213"/>
                </a:lnTo>
                <a:lnTo>
                  <a:pt x="2478073" y="2384425"/>
                </a:lnTo>
                <a:lnTo>
                  <a:pt x="2473311" y="2305050"/>
                </a:lnTo>
                <a:lnTo>
                  <a:pt x="2478073" y="2224088"/>
                </a:lnTo>
                <a:lnTo>
                  <a:pt x="2484423" y="2139950"/>
                </a:lnTo>
                <a:lnTo>
                  <a:pt x="2493948" y="2055813"/>
                </a:lnTo>
                <a:lnTo>
                  <a:pt x="2506648" y="1971675"/>
                </a:lnTo>
                <a:lnTo>
                  <a:pt x="2517761" y="1887538"/>
                </a:lnTo>
                <a:lnTo>
                  <a:pt x="2525698" y="1803400"/>
                </a:lnTo>
                <a:lnTo>
                  <a:pt x="2532048" y="1722438"/>
                </a:lnTo>
                <a:lnTo>
                  <a:pt x="2533636" y="1641475"/>
                </a:lnTo>
                <a:lnTo>
                  <a:pt x="2527286" y="1565275"/>
                </a:lnTo>
                <a:lnTo>
                  <a:pt x="2512998" y="1487488"/>
                </a:lnTo>
                <a:lnTo>
                  <a:pt x="2490773" y="1417638"/>
                </a:lnTo>
                <a:lnTo>
                  <a:pt x="2454261" y="1346200"/>
                </a:lnTo>
                <a:lnTo>
                  <a:pt x="2411398" y="1282700"/>
                </a:lnTo>
                <a:lnTo>
                  <a:pt x="2359011" y="1223963"/>
                </a:lnTo>
                <a:lnTo>
                  <a:pt x="2301861" y="1165225"/>
                </a:lnTo>
                <a:lnTo>
                  <a:pt x="2239948" y="1111250"/>
                </a:lnTo>
                <a:lnTo>
                  <a:pt x="2174861" y="1060450"/>
                </a:lnTo>
                <a:lnTo>
                  <a:pt x="2106598" y="1008063"/>
                </a:lnTo>
                <a:lnTo>
                  <a:pt x="2039923" y="957263"/>
                </a:lnTo>
                <a:lnTo>
                  <a:pt x="1973248" y="906463"/>
                </a:lnTo>
                <a:lnTo>
                  <a:pt x="1909748" y="852488"/>
                </a:lnTo>
                <a:lnTo>
                  <a:pt x="1849423" y="798513"/>
                </a:lnTo>
                <a:lnTo>
                  <a:pt x="1797036" y="739775"/>
                </a:lnTo>
                <a:lnTo>
                  <a:pt x="1749411" y="677863"/>
                </a:lnTo>
                <a:lnTo>
                  <a:pt x="1706548" y="604838"/>
                </a:lnTo>
                <a:lnTo>
                  <a:pt x="1670036" y="525463"/>
                </a:lnTo>
                <a:lnTo>
                  <a:pt x="1641461" y="441325"/>
                </a:lnTo>
                <a:lnTo>
                  <a:pt x="1614473" y="354013"/>
                </a:lnTo>
                <a:lnTo>
                  <a:pt x="1592248" y="263525"/>
                </a:lnTo>
                <a:lnTo>
                  <a:pt x="1566848" y="174625"/>
                </a:lnTo>
                <a:lnTo>
                  <a:pt x="1541448" y="87313"/>
                </a:lnTo>
                <a:close/>
              </a:path>
            </a:pathLst>
          </a:custGeom>
          <a:solidFill>
            <a:srgbClr val="171624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795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C012A5-170D-4B0F-A916-A8EE2C6CE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40654-5E8C-468A-9596-50927AF1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59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A2926-EF14-9208-E924-56A162F6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354945"/>
            <a:ext cx="2059048" cy="4148110"/>
          </a:xfrm>
        </p:spPr>
        <p:txBody>
          <a:bodyPr anchor="ctr">
            <a:normAutofit/>
          </a:bodyPr>
          <a:lstStyle/>
          <a:p>
            <a:r>
              <a:rPr lang="ru-RU" sz="2000" b="1">
                <a:solidFill>
                  <a:srgbClr val="2A1A00"/>
                </a:solidFill>
              </a:rPr>
              <a:t> Путь инженера: от М-20 до главного конструктора</a:t>
            </a:r>
            <a:br>
              <a:rPr lang="ru-RU" sz="2000" b="1">
                <a:solidFill>
                  <a:srgbClr val="2A1A00"/>
                </a:solidFill>
              </a:rPr>
            </a:br>
            <a:endParaRPr lang="ru-RU" sz="2000">
              <a:solidFill>
                <a:srgbClr val="2A1A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B1BD4A-8DE6-4266-9C27-59260F938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346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CE98DC-ED36-D7AB-B01D-BB0AA1A6F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580" y="1354945"/>
            <a:ext cx="7601419" cy="4148110"/>
          </a:xfrm>
        </p:spPr>
        <p:txBody>
          <a:bodyPr anchor="ctr">
            <a:normAutofit/>
          </a:bodyPr>
          <a:lstStyle/>
          <a:p>
            <a:r>
              <a:rPr lang="ru-RU" dirty="0"/>
              <a:t>Начало карьеры: </a:t>
            </a:r>
            <a:r>
              <a:rPr lang="ru-RU" b="1" dirty="0"/>
              <a:t>СКБ-245</a:t>
            </a:r>
            <a:endParaRPr lang="ru-RU" dirty="0"/>
          </a:p>
          <a:p>
            <a:r>
              <a:rPr lang="ru-RU" dirty="0"/>
              <a:t>Участие в создании </a:t>
            </a:r>
            <a:r>
              <a:rPr lang="ru-RU" b="1" dirty="0"/>
              <a:t>М-20</a:t>
            </a:r>
            <a:r>
              <a:rPr lang="ru-RU" dirty="0"/>
              <a:t> (зам. главного конструктора С.А. Лебедева)</a:t>
            </a:r>
          </a:p>
          <a:p>
            <a:r>
              <a:rPr lang="ru-RU" dirty="0"/>
              <a:t>Главный конструктор </a:t>
            </a:r>
            <a:r>
              <a:rPr lang="ru-RU" b="1" dirty="0"/>
              <a:t>М-220</a:t>
            </a:r>
            <a:r>
              <a:rPr lang="ru-RU" dirty="0"/>
              <a:t> и </a:t>
            </a:r>
            <a:r>
              <a:rPr lang="ru-RU" b="1" dirty="0"/>
              <a:t>М-222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7073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A8316-FC1C-F825-3B9D-9D765B51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265"/>
            <a:ext cx="10515600" cy="114442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 вершине власти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15" name="Объект 2">
            <a:extLst>
              <a:ext uri="{FF2B5EF4-FFF2-40B4-BE49-F238E27FC236}">
                <a16:creationId xmlns:a16="http://schemas.microsoft.com/office/drawing/2014/main" id="{F3484FBE-8920-F31E-E3E1-B2DA91EB75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137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DBA3C2-C92B-4CEB-868F-52A62295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DB70E-A132-C704-B818-EAB9063A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382385"/>
            <a:ext cx="10668004" cy="1113295"/>
          </a:xfrm>
        </p:spPr>
        <p:txBody>
          <a:bodyPr anchor="b">
            <a:normAutofit/>
          </a:bodyPr>
          <a:lstStyle/>
          <a:p>
            <a:pPr algn="ctr"/>
            <a:r>
              <a:rPr lang="ru-RU" sz="2800" b="1"/>
              <a:t>Историческое достижение: постановление 1967 года</a:t>
            </a:r>
            <a:br>
              <a:rPr lang="ru-RU" sz="2800" b="1"/>
            </a:br>
            <a:endParaRPr lang="ru-RU" sz="28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4EDF3-375F-EF96-72F2-DA828CA94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6" y="1785257"/>
            <a:ext cx="10668004" cy="3440539"/>
          </a:xfrm>
        </p:spPr>
        <p:txBody>
          <a:bodyPr>
            <a:normAutofit/>
          </a:bodyPr>
          <a:lstStyle/>
          <a:p>
            <a:r>
              <a:rPr lang="ru-RU" sz="2400" b="1"/>
              <a:t>1967 год:</a:t>
            </a:r>
            <a:r>
              <a:rPr lang="ru-RU" sz="2400"/>
              <a:t> Постановление ЦК КПСС и Совмина СССР</a:t>
            </a:r>
          </a:p>
          <a:p>
            <a:r>
              <a:rPr lang="ru-RU" sz="2400"/>
              <a:t>Создание линейки совместимых ЭВМ</a:t>
            </a:r>
          </a:p>
          <a:p>
            <a:r>
              <a:rPr lang="ru-RU" sz="2400"/>
              <a:t>Строительство </a:t>
            </a:r>
            <a:r>
              <a:rPr lang="ru-RU" sz="2400" b="1"/>
              <a:t>30+ новых заводов</a:t>
            </a:r>
            <a:endParaRPr lang="ru-RU" sz="2400"/>
          </a:p>
          <a:p>
            <a:r>
              <a:rPr lang="ru-RU" sz="2400"/>
              <a:t>Организация </a:t>
            </a:r>
            <a:r>
              <a:rPr lang="ru-RU" sz="2400" b="1"/>
              <a:t>НИЦЭВТ</a:t>
            </a:r>
            <a:endParaRPr lang="ru-RU" sz="2400"/>
          </a:p>
          <a:p>
            <a:endParaRPr lang="ru-RU" sz="24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5C11C9-65D2-491A-A266-6ADBD2CB4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006736"/>
            <a:ext cx="12191998" cy="851265"/>
          </a:xfrm>
          <a:custGeom>
            <a:avLst/>
            <a:gdLst>
              <a:gd name="connsiteX0" fmla="*/ 619389 w 12191998"/>
              <a:gd name="connsiteY0" fmla="*/ 0 h 851265"/>
              <a:gd name="connsiteX1" fmla="*/ 687652 w 12191998"/>
              <a:gd name="connsiteY1" fmla="*/ 3175 h 851265"/>
              <a:gd name="connsiteX2" fmla="*/ 747977 w 12191998"/>
              <a:gd name="connsiteY2" fmla="*/ 9525 h 851265"/>
              <a:gd name="connsiteX3" fmla="*/ 800364 w 12191998"/>
              <a:gd name="connsiteY3" fmla="*/ 20637 h 851265"/>
              <a:gd name="connsiteX4" fmla="*/ 846402 w 12191998"/>
              <a:gd name="connsiteY4" fmla="*/ 36512 h 851265"/>
              <a:gd name="connsiteX5" fmla="*/ 887677 w 12191998"/>
              <a:gd name="connsiteY5" fmla="*/ 52387 h 851265"/>
              <a:gd name="connsiteX6" fmla="*/ 924189 w 12191998"/>
              <a:gd name="connsiteY6" fmla="*/ 68262 h 851265"/>
              <a:gd name="connsiteX7" fmla="*/ 962289 w 12191998"/>
              <a:gd name="connsiteY7" fmla="*/ 87312 h 851265"/>
              <a:gd name="connsiteX8" fmla="*/ 1000389 w 12191998"/>
              <a:gd name="connsiteY8" fmla="*/ 106362 h 851265"/>
              <a:gd name="connsiteX9" fmla="*/ 1036902 w 12191998"/>
              <a:gd name="connsiteY9" fmla="*/ 125412 h 851265"/>
              <a:gd name="connsiteX10" fmla="*/ 1078177 w 12191998"/>
              <a:gd name="connsiteY10" fmla="*/ 141287 h 851265"/>
              <a:gd name="connsiteX11" fmla="*/ 1124214 w 12191998"/>
              <a:gd name="connsiteY11" fmla="*/ 155575 h 851265"/>
              <a:gd name="connsiteX12" fmla="*/ 1176602 w 12191998"/>
              <a:gd name="connsiteY12" fmla="*/ 166687 h 851265"/>
              <a:gd name="connsiteX13" fmla="*/ 1236927 w 12191998"/>
              <a:gd name="connsiteY13" fmla="*/ 174625 h 851265"/>
              <a:gd name="connsiteX14" fmla="*/ 1305189 w 12191998"/>
              <a:gd name="connsiteY14" fmla="*/ 176212 h 851265"/>
              <a:gd name="connsiteX15" fmla="*/ 1373452 w 12191998"/>
              <a:gd name="connsiteY15" fmla="*/ 174625 h 851265"/>
              <a:gd name="connsiteX16" fmla="*/ 1433777 w 12191998"/>
              <a:gd name="connsiteY16" fmla="*/ 166687 h 851265"/>
              <a:gd name="connsiteX17" fmla="*/ 1486164 w 12191998"/>
              <a:gd name="connsiteY17" fmla="*/ 155575 h 851265"/>
              <a:gd name="connsiteX18" fmla="*/ 1532202 w 12191998"/>
              <a:gd name="connsiteY18" fmla="*/ 141287 h 851265"/>
              <a:gd name="connsiteX19" fmla="*/ 1573477 w 12191998"/>
              <a:gd name="connsiteY19" fmla="*/ 125412 h 851265"/>
              <a:gd name="connsiteX20" fmla="*/ 1609989 w 12191998"/>
              <a:gd name="connsiteY20" fmla="*/ 106362 h 851265"/>
              <a:gd name="connsiteX21" fmla="*/ 1648089 w 12191998"/>
              <a:gd name="connsiteY21" fmla="*/ 87312 h 851265"/>
              <a:gd name="connsiteX22" fmla="*/ 1686189 w 12191998"/>
              <a:gd name="connsiteY22" fmla="*/ 68262 h 851265"/>
              <a:gd name="connsiteX23" fmla="*/ 1722702 w 12191998"/>
              <a:gd name="connsiteY23" fmla="*/ 52387 h 851265"/>
              <a:gd name="connsiteX24" fmla="*/ 1763977 w 12191998"/>
              <a:gd name="connsiteY24" fmla="*/ 36512 h 851265"/>
              <a:gd name="connsiteX25" fmla="*/ 1810014 w 12191998"/>
              <a:gd name="connsiteY25" fmla="*/ 20637 h 851265"/>
              <a:gd name="connsiteX26" fmla="*/ 1862402 w 12191998"/>
              <a:gd name="connsiteY26" fmla="*/ 9525 h 851265"/>
              <a:gd name="connsiteX27" fmla="*/ 1922727 w 12191998"/>
              <a:gd name="connsiteY27" fmla="*/ 3175 h 851265"/>
              <a:gd name="connsiteX28" fmla="*/ 1990989 w 12191998"/>
              <a:gd name="connsiteY28" fmla="*/ 0 h 851265"/>
              <a:gd name="connsiteX29" fmla="*/ 2059252 w 12191998"/>
              <a:gd name="connsiteY29" fmla="*/ 3175 h 851265"/>
              <a:gd name="connsiteX30" fmla="*/ 2119577 w 12191998"/>
              <a:gd name="connsiteY30" fmla="*/ 9525 h 851265"/>
              <a:gd name="connsiteX31" fmla="*/ 2171964 w 12191998"/>
              <a:gd name="connsiteY31" fmla="*/ 20637 h 851265"/>
              <a:gd name="connsiteX32" fmla="*/ 2218002 w 12191998"/>
              <a:gd name="connsiteY32" fmla="*/ 36512 h 851265"/>
              <a:gd name="connsiteX33" fmla="*/ 2259277 w 12191998"/>
              <a:gd name="connsiteY33" fmla="*/ 52387 h 851265"/>
              <a:gd name="connsiteX34" fmla="*/ 2295789 w 12191998"/>
              <a:gd name="connsiteY34" fmla="*/ 68262 h 851265"/>
              <a:gd name="connsiteX35" fmla="*/ 2333889 w 12191998"/>
              <a:gd name="connsiteY35" fmla="*/ 87312 h 851265"/>
              <a:gd name="connsiteX36" fmla="*/ 2371989 w 12191998"/>
              <a:gd name="connsiteY36" fmla="*/ 106362 h 851265"/>
              <a:gd name="connsiteX37" fmla="*/ 2408502 w 12191998"/>
              <a:gd name="connsiteY37" fmla="*/ 125412 h 851265"/>
              <a:gd name="connsiteX38" fmla="*/ 2449777 w 12191998"/>
              <a:gd name="connsiteY38" fmla="*/ 141287 h 851265"/>
              <a:gd name="connsiteX39" fmla="*/ 2495814 w 12191998"/>
              <a:gd name="connsiteY39" fmla="*/ 155575 h 851265"/>
              <a:gd name="connsiteX40" fmla="*/ 2548202 w 12191998"/>
              <a:gd name="connsiteY40" fmla="*/ 166687 h 851265"/>
              <a:gd name="connsiteX41" fmla="*/ 2608527 w 12191998"/>
              <a:gd name="connsiteY41" fmla="*/ 174625 h 851265"/>
              <a:gd name="connsiteX42" fmla="*/ 2676789 w 12191998"/>
              <a:gd name="connsiteY42" fmla="*/ 176212 h 851265"/>
              <a:gd name="connsiteX43" fmla="*/ 2745052 w 12191998"/>
              <a:gd name="connsiteY43" fmla="*/ 174625 h 851265"/>
              <a:gd name="connsiteX44" fmla="*/ 2805377 w 12191998"/>
              <a:gd name="connsiteY44" fmla="*/ 166687 h 851265"/>
              <a:gd name="connsiteX45" fmla="*/ 2857764 w 12191998"/>
              <a:gd name="connsiteY45" fmla="*/ 155575 h 851265"/>
              <a:gd name="connsiteX46" fmla="*/ 2903802 w 12191998"/>
              <a:gd name="connsiteY46" fmla="*/ 141287 h 851265"/>
              <a:gd name="connsiteX47" fmla="*/ 2945077 w 12191998"/>
              <a:gd name="connsiteY47" fmla="*/ 125412 h 851265"/>
              <a:gd name="connsiteX48" fmla="*/ 2981589 w 12191998"/>
              <a:gd name="connsiteY48" fmla="*/ 106362 h 851265"/>
              <a:gd name="connsiteX49" fmla="*/ 3019689 w 12191998"/>
              <a:gd name="connsiteY49" fmla="*/ 87312 h 851265"/>
              <a:gd name="connsiteX50" fmla="*/ 3057789 w 12191998"/>
              <a:gd name="connsiteY50" fmla="*/ 68262 h 851265"/>
              <a:gd name="connsiteX51" fmla="*/ 3094302 w 12191998"/>
              <a:gd name="connsiteY51" fmla="*/ 52387 h 851265"/>
              <a:gd name="connsiteX52" fmla="*/ 3135577 w 12191998"/>
              <a:gd name="connsiteY52" fmla="*/ 36512 h 851265"/>
              <a:gd name="connsiteX53" fmla="*/ 3181614 w 12191998"/>
              <a:gd name="connsiteY53" fmla="*/ 20637 h 851265"/>
              <a:gd name="connsiteX54" fmla="*/ 3234002 w 12191998"/>
              <a:gd name="connsiteY54" fmla="*/ 9525 h 851265"/>
              <a:gd name="connsiteX55" fmla="*/ 3294327 w 12191998"/>
              <a:gd name="connsiteY55" fmla="*/ 3175 h 851265"/>
              <a:gd name="connsiteX56" fmla="*/ 3361002 w 12191998"/>
              <a:gd name="connsiteY56" fmla="*/ 0 h 851265"/>
              <a:gd name="connsiteX57" fmla="*/ 3430852 w 12191998"/>
              <a:gd name="connsiteY57" fmla="*/ 3175 h 851265"/>
              <a:gd name="connsiteX58" fmla="*/ 3491177 w 12191998"/>
              <a:gd name="connsiteY58" fmla="*/ 9525 h 851265"/>
              <a:gd name="connsiteX59" fmla="*/ 3543564 w 12191998"/>
              <a:gd name="connsiteY59" fmla="*/ 20637 h 851265"/>
              <a:gd name="connsiteX60" fmla="*/ 3589602 w 12191998"/>
              <a:gd name="connsiteY60" fmla="*/ 36512 h 851265"/>
              <a:gd name="connsiteX61" fmla="*/ 3630877 w 12191998"/>
              <a:gd name="connsiteY61" fmla="*/ 52387 h 851265"/>
              <a:gd name="connsiteX62" fmla="*/ 3667389 w 12191998"/>
              <a:gd name="connsiteY62" fmla="*/ 68262 h 851265"/>
              <a:gd name="connsiteX63" fmla="*/ 3705489 w 12191998"/>
              <a:gd name="connsiteY63" fmla="*/ 87312 h 851265"/>
              <a:gd name="connsiteX64" fmla="*/ 3743589 w 12191998"/>
              <a:gd name="connsiteY64" fmla="*/ 106362 h 851265"/>
              <a:gd name="connsiteX65" fmla="*/ 3780102 w 12191998"/>
              <a:gd name="connsiteY65" fmla="*/ 125412 h 851265"/>
              <a:gd name="connsiteX66" fmla="*/ 3821377 w 12191998"/>
              <a:gd name="connsiteY66" fmla="*/ 141287 h 851265"/>
              <a:gd name="connsiteX67" fmla="*/ 3867414 w 12191998"/>
              <a:gd name="connsiteY67" fmla="*/ 155575 h 851265"/>
              <a:gd name="connsiteX68" fmla="*/ 3919802 w 12191998"/>
              <a:gd name="connsiteY68" fmla="*/ 166687 h 851265"/>
              <a:gd name="connsiteX69" fmla="*/ 3980127 w 12191998"/>
              <a:gd name="connsiteY69" fmla="*/ 174625 h 851265"/>
              <a:gd name="connsiteX70" fmla="*/ 4048389 w 12191998"/>
              <a:gd name="connsiteY70" fmla="*/ 176212 h 851265"/>
              <a:gd name="connsiteX71" fmla="*/ 4116652 w 12191998"/>
              <a:gd name="connsiteY71" fmla="*/ 174625 h 851265"/>
              <a:gd name="connsiteX72" fmla="*/ 4176977 w 12191998"/>
              <a:gd name="connsiteY72" fmla="*/ 166687 h 851265"/>
              <a:gd name="connsiteX73" fmla="*/ 4229364 w 12191998"/>
              <a:gd name="connsiteY73" fmla="*/ 155575 h 851265"/>
              <a:gd name="connsiteX74" fmla="*/ 4275402 w 12191998"/>
              <a:gd name="connsiteY74" fmla="*/ 141287 h 851265"/>
              <a:gd name="connsiteX75" fmla="*/ 4316677 w 12191998"/>
              <a:gd name="connsiteY75" fmla="*/ 125412 h 851265"/>
              <a:gd name="connsiteX76" fmla="*/ 4353189 w 12191998"/>
              <a:gd name="connsiteY76" fmla="*/ 106362 h 851265"/>
              <a:gd name="connsiteX77" fmla="*/ 4429389 w 12191998"/>
              <a:gd name="connsiteY77" fmla="*/ 68262 h 851265"/>
              <a:gd name="connsiteX78" fmla="*/ 4465902 w 12191998"/>
              <a:gd name="connsiteY78" fmla="*/ 52387 h 851265"/>
              <a:gd name="connsiteX79" fmla="*/ 4507177 w 12191998"/>
              <a:gd name="connsiteY79" fmla="*/ 36512 h 851265"/>
              <a:gd name="connsiteX80" fmla="*/ 4553216 w 12191998"/>
              <a:gd name="connsiteY80" fmla="*/ 20637 h 851265"/>
              <a:gd name="connsiteX81" fmla="*/ 4605602 w 12191998"/>
              <a:gd name="connsiteY81" fmla="*/ 9525 h 851265"/>
              <a:gd name="connsiteX82" fmla="*/ 4665928 w 12191998"/>
              <a:gd name="connsiteY82" fmla="*/ 3175 h 851265"/>
              <a:gd name="connsiteX83" fmla="*/ 4734189 w 12191998"/>
              <a:gd name="connsiteY83" fmla="*/ 0 h 851265"/>
              <a:gd name="connsiteX84" fmla="*/ 4802453 w 12191998"/>
              <a:gd name="connsiteY84" fmla="*/ 3175 h 851265"/>
              <a:gd name="connsiteX85" fmla="*/ 4862777 w 12191998"/>
              <a:gd name="connsiteY85" fmla="*/ 9525 h 851265"/>
              <a:gd name="connsiteX86" fmla="*/ 4915165 w 12191998"/>
              <a:gd name="connsiteY86" fmla="*/ 20637 h 851265"/>
              <a:gd name="connsiteX87" fmla="*/ 4961202 w 12191998"/>
              <a:gd name="connsiteY87" fmla="*/ 36512 h 851265"/>
              <a:gd name="connsiteX88" fmla="*/ 5002478 w 12191998"/>
              <a:gd name="connsiteY88" fmla="*/ 52387 h 851265"/>
              <a:gd name="connsiteX89" fmla="*/ 5038989 w 12191998"/>
              <a:gd name="connsiteY89" fmla="*/ 68262 h 851265"/>
              <a:gd name="connsiteX90" fmla="*/ 5077091 w 12191998"/>
              <a:gd name="connsiteY90" fmla="*/ 87312 h 851265"/>
              <a:gd name="connsiteX91" fmla="*/ 5115189 w 12191998"/>
              <a:gd name="connsiteY91" fmla="*/ 106362 h 851265"/>
              <a:gd name="connsiteX92" fmla="*/ 5151702 w 12191998"/>
              <a:gd name="connsiteY92" fmla="*/ 125412 h 851265"/>
              <a:gd name="connsiteX93" fmla="*/ 5192978 w 12191998"/>
              <a:gd name="connsiteY93" fmla="*/ 141287 h 851265"/>
              <a:gd name="connsiteX94" fmla="*/ 5239014 w 12191998"/>
              <a:gd name="connsiteY94" fmla="*/ 155575 h 851265"/>
              <a:gd name="connsiteX95" fmla="*/ 5291401 w 12191998"/>
              <a:gd name="connsiteY95" fmla="*/ 166687 h 851265"/>
              <a:gd name="connsiteX96" fmla="*/ 5351727 w 12191998"/>
              <a:gd name="connsiteY96" fmla="*/ 174625 h 851265"/>
              <a:gd name="connsiteX97" fmla="*/ 5410199 w 12191998"/>
              <a:gd name="connsiteY97" fmla="*/ 175985 h 851265"/>
              <a:gd name="connsiteX98" fmla="*/ 5468671 w 12191998"/>
              <a:gd name="connsiteY98" fmla="*/ 174625 h 851265"/>
              <a:gd name="connsiteX99" fmla="*/ 5528996 w 12191998"/>
              <a:gd name="connsiteY99" fmla="*/ 166687 h 851265"/>
              <a:gd name="connsiteX100" fmla="*/ 5581383 w 12191998"/>
              <a:gd name="connsiteY100" fmla="*/ 155575 h 851265"/>
              <a:gd name="connsiteX101" fmla="*/ 5627421 w 12191998"/>
              <a:gd name="connsiteY101" fmla="*/ 141287 h 851265"/>
              <a:gd name="connsiteX102" fmla="*/ 5668696 w 12191998"/>
              <a:gd name="connsiteY102" fmla="*/ 125412 h 851265"/>
              <a:gd name="connsiteX103" fmla="*/ 5705210 w 12191998"/>
              <a:gd name="connsiteY103" fmla="*/ 106362 h 851265"/>
              <a:gd name="connsiteX104" fmla="*/ 5743308 w 12191998"/>
              <a:gd name="connsiteY104" fmla="*/ 87312 h 851265"/>
              <a:gd name="connsiteX105" fmla="*/ 5781408 w 12191998"/>
              <a:gd name="connsiteY105" fmla="*/ 68262 h 851265"/>
              <a:gd name="connsiteX106" fmla="*/ 5817921 w 12191998"/>
              <a:gd name="connsiteY106" fmla="*/ 52387 h 851265"/>
              <a:gd name="connsiteX107" fmla="*/ 5859196 w 12191998"/>
              <a:gd name="connsiteY107" fmla="*/ 36512 h 851265"/>
              <a:gd name="connsiteX108" fmla="*/ 5905234 w 12191998"/>
              <a:gd name="connsiteY108" fmla="*/ 20637 h 851265"/>
              <a:gd name="connsiteX109" fmla="*/ 5957621 w 12191998"/>
              <a:gd name="connsiteY109" fmla="*/ 9525 h 851265"/>
              <a:gd name="connsiteX110" fmla="*/ 6017948 w 12191998"/>
              <a:gd name="connsiteY110" fmla="*/ 3175 h 851265"/>
              <a:gd name="connsiteX111" fmla="*/ 6086210 w 12191998"/>
              <a:gd name="connsiteY111" fmla="*/ 0 h 851265"/>
              <a:gd name="connsiteX112" fmla="*/ 6095999 w 12191998"/>
              <a:gd name="connsiteY112" fmla="*/ 455 h 851265"/>
              <a:gd name="connsiteX113" fmla="*/ 6105789 w 12191998"/>
              <a:gd name="connsiteY113" fmla="*/ 0 h 851265"/>
              <a:gd name="connsiteX114" fmla="*/ 6174052 w 12191998"/>
              <a:gd name="connsiteY114" fmla="*/ 3175 h 851265"/>
              <a:gd name="connsiteX115" fmla="*/ 6234377 w 12191998"/>
              <a:gd name="connsiteY115" fmla="*/ 9525 h 851265"/>
              <a:gd name="connsiteX116" fmla="*/ 6286764 w 12191998"/>
              <a:gd name="connsiteY116" fmla="*/ 20637 h 851265"/>
              <a:gd name="connsiteX117" fmla="*/ 6332802 w 12191998"/>
              <a:gd name="connsiteY117" fmla="*/ 36512 h 851265"/>
              <a:gd name="connsiteX118" fmla="*/ 6374077 w 12191998"/>
              <a:gd name="connsiteY118" fmla="*/ 52387 h 851265"/>
              <a:gd name="connsiteX119" fmla="*/ 6410589 w 12191998"/>
              <a:gd name="connsiteY119" fmla="*/ 68262 h 851265"/>
              <a:gd name="connsiteX120" fmla="*/ 6448689 w 12191998"/>
              <a:gd name="connsiteY120" fmla="*/ 87312 h 851265"/>
              <a:gd name="connsiteX121" fmla="*/ 6486789 w 12191998"/>
              <a:gd name="connsiteY121" fmla="*/ 106362 h 851265"/>
              <a:gd name="connsiteX122" fmla="*/ 6523302 w 12191998"/>
              <a:gd name="connsiteY122" fmla="*/ 125412 h 851265"/>
              <a:gd name="connsiteX123" fmla="*/ 6564577 w 12191998"/>
              <a:gd name="connsiteY123" fmla="*/ 141287 h 851265"/>
              <a:gd name="connsiteX124" fmla="*/ 6610614 w 12191998"/>
              <a:gd name="connsiteY124" fmla="*/ 155575 h 851265"/>
              <a:gd name="connsiteX125" fmla="*/ 6663002 w 12191998"/>
              <a:gd name="connsiteY125" fmla="*/ 166687 h 851265"/>
              <a:gd name="connsiteX126" fmla="*/ 6723327 w 12191998"/>
              <a:gd name="connsiteY126" fmla="*/ 174625 h 851265"/>
              <a:gd name="connsiteX127" fmla="*/ 6781799 w 12191998"/>
              <a:gd name="connsiteY127" fmla="*/ 175985 h 851265"/>
              <a:gd name="connsiteX128" fmla="*/ 6840271 w 12191998"/>
              <a:gd name="connsiteY128" fmla="*/ 174625 h 851265"/>
              <a:gd name="connsiteX129" fmla="*/ 6900596 w 12191998"/>
              <a:gd name="connsiteY129" fmla="*/ 166687 h 851265"/>
              <a:gd name="connsiteX130" fmla="*/ 6952983 w 12191998"/>
              <a:gd name="connsiteY130" fmla="*/ 155575 h 851265"/>
              <a:gd name="connsiteX131" fmla="*/ 6999021 w 12191998"/>
              <a:gd name="connsiteY131" fmla="*/ 141287 h 851265"/>
              <a:gd name="connsiteX132" fmla="*/ 7040296 w 12191998"/>
              <a:gd name="connsiteY132" fmla="*/ 125412 h 851265"/>
              <a:gd name="connsiteX133" fmla="*/ 7076808 w 12191998"/>
              <a:gd name="connsiteY133" fmla="*/ 106362 h 851265"/>
              <a:gd name="connsiteX134" fmla="*/ 7114908 w 12191998"/>
              <a:gd name="connsiteY134" fmla="*/ 87312 h 851265"/>
              <a:gd name="connsiteX135" fmla="*/ 7153008 w 12191998"/>
              <a:gd name="connsiteY135" fmla="*/ 68262 h 851265"/>
              <a:gd name="connsiteX136" fmla="*/ 7189521 w 12191998"/>
              <a:gd name="connsiteY136" fmla="*/ 52387 h 851265"/>
              <a:gd name="connsiteX137" fmla="*/ 7230796 w 12191998"/>
              <a:gd name="connsiteY137" fmla="*/ 36512 h 851265"/>
              <a:gd name="connsiteX138" fmla="*/ 7276833 w 12191998"/>
              <a:gd name="connsiteY138" fmla="*/ 20637 h 851265"/>
              <a:gd name="connsiteX139" fmla="*/ 7329221 w 12191998"/>
              <a:gd name="connsiteY139" fmla="*/ 9525 h 851265"/>
              <a:gd name="connsiteX140" fmla="*/ 7389546 w 12191998"/>
              <a:gd name="connsiteY140" fmla="*/ 3175 h 851265"/>
              <a:gd name="connsiteX141" fmla="*/ 7457808 w 12191998"/>
              <a:gd name="connsiteY141" fmla="*/ 0 h 851265"/>
              <a:gd name="connsiteX142" fmla="*/ 7526071 w 12191998"/>
              <a:gd name="connsiteY142" fmla="*/ 3175 h 851265"/>
              <a:gd name="connsiteX143" fmla="*/ 7586396 w 12191998"/>
              <a:gd name="connsiteY143" fmla="*/ 9525 h 851265"/>
              <a:gd name="connsiteX144" fmla="*/ 7638783 w 12191998"/>
              <a:gd name="connsiteY144" fmla="*/ 20637 h 851265"/>
              <a:gd name="connsiteX145" fmla="*/ 7684821 w 12191998"/>
              <a:gd name="connsiteY145" fmla="*/ 36512 h 851265"/>
              <a:gd name="connsiteX146" fmla="*/ 7726096 w 12191998"/>
              <a:gd name="connsiteY146" fmla="*/ 52387 h 851265"/>
              <a:gd name="connsiteX147" fmla="*/ 7762608 w 12191998"/>
              <a:gd name="connsiteY147" fmla="*/ 68262 h 851265"/>
              <a:gd name="connsiteX148" fmla="*/ 7800708 w 12191998"/>
              <a:gd name="connsiteY148" fmla="*/ 87312 h 851265"/>
              <a:gd name="connsiteX149" fmla="*/ 7838808 w 12191998"/>
              <a:gd name="connsiteY149" fmla="*/ 106362 h 851265"/>
              <a:gd name="connsiteX150" fmla="*/ 7875321 w 12191998"/>
              <a:gd name="connsiteY150" fmla="*/ 125412 h 851265"/>
              <a:gd name="connsiteX151" fmla="*/ 7916596 w 12191998"/>
              <a:gd name="connsiteY151" fmla="*/ 141287 h 851265"/>
              <a:gd name="connsiteX152" fmla="*/ 7962633 w 12191998"/>
              <a:gd name="connsiteY152" fmla="*/ 155575 h 851265"/>
              <a:gd name="connsiteX153" fmla="*/ 8015021 w 12191998"/>
              <a:gd name="connsiteY153" fmla="*/ 166687 h 851265"/>
              <a:gd name="connsiteX154" fmla="*/ 8075346 w 12191998"/>
              <a:gd name="connsiteY154" fmla="*/ 174625 h 851265"/>
              <a:gd name="connsiteX155" fmla="*/ 8143608 w 12191998"/>
              <a:gd name="connsiteY155" fmla="*/ 176212 h 851265"/>
              <a:gd name="connsiteX156" fmla="*/ 8211871 w 12191998"/>
              <a:gd name="connsiteY156" fmla="*/ 174625 h 851265"/>
              <a:gd name="connsiteX157" fmla="*/ 8272196 w 12191998"/>
              <a:gd name="connsiteY157" fmla="*/ 166687 h 851265"/>
              <a:gd name="connsiteX158" fmla="*/ 8324583 w 12191998"/>
              <a:gd name="connsiteY158" fmla="*/ 155575 h 851265"/>
              <a:gd name="connsiteX159" fmla="*/ 8370621 w 12191998"/>
              <a:gd name="connsiteY159" fmla="*/ 141287 h 851265"/>
              <a:gd name="connsiteX160" fmla="*/ 8411896 w 12191998"/>
              <a:gd name="connsiteY160" fmla="*/ 125412 h 851265"/>
              <a:gd name="connsiteX161" fmla="*/ 8448408 w 12191998"/>
              <a:gd name="connsiteY161" fmla="*/ 106362 h 851265"/>
              <a:gd name="connsiteX162" fmla="*/ 8486508 w 12191998"/>
              <a:gd name="connsiteY162" fmla="*/ 87312 h 851265"/>
              <a:gd name="connsiteX163" fmla="*/ 8524608 w 12191998"/>
              <a:gd name="connsiteY163" fmla="*/ 68262 h 851265"/>
              <a:gd name="connsiteX164" fmla="*/ 8561120 w 12191998"/>
              <a:gd name="connsiteY164" fmla="*/ 52387 h 851265"/>
              <a:gd name="connsiteX165" fmla="*/ 8602396 w 12191998"/>
              <a:gd name="connsiteY165" fmla="*/ 36512 h 851265"/>
              <a:gd name="connsiteX166" fmla="*/ 8648432 w 12191998"/>
              <a:gd name="connsiteY166" fmla="*/ 20637 h 851265"/>
              <a:gd name="connsiteX167" fmla="*/ 8700820 w 12191998"/>
              <a:gd name="connsiteY167" fmla="*/ 9525 h 851265"/>
              <a:gd name="connsiteX168" fmla="*/ 8761146 w 12191998"/>
              <a:gd name="connsiteY168" fmla="*/ 3175 h 851265"/>
              <a:gd name="connsiteX169" fmla="*/ 8827820 w 12191998"/>
              <a:gd name="connsiteY169" fmla="*/ 0 h 851265"/>
              <a:gd name="connsiteX170" fmla="*/ 8897670 w 12191998"/>
              <a:gd name="connsiteY170" fmla="*/ 3175 h 851265"/>
              <a:gd name="connsiteX171" fmla="*/ 8957996 w 12191998"/>
              <a:gd name="connsiteY171" fmla="*/ 9525 h 851265"/>
              <a:gd name="connsiteX172" fmla="*/ 9010382 w 12191998"/>
              <a:gd name="connsiteY172" fmla="*/ 20637 h 851265"/>
              <a:gd name="connsiteX173" fmla="*/ 9056420 w 12191998"/>
              <a:gd name="connsiteY173" fmla="*/ 36512 h 851265"/>
              <a:gd name="connsiteX174" fmla="*/ 9097696 w 12191998"/>
              <a:gd name="connsiteY174" fmla="*/ 52387 h 851265"/>
              <a:gd name="connsiteX175" fmla="*/ 9134208 w 12191998"/>
              <a:gd name="connsiteY175" fmla="*/ 68262 h 851265"/>
              <a:gd name="connsiteX176" fmla="*/ 9172308 w 12191998"/>
              <a:gd name="connsiteY176" fmla="*/ 87312 h 851265"/>
              <a:gd name="connsiteX177" fmla="*/ 9210408 w 12191998"/>
              <a:gd name="connsiteY177" fmla="*/ 106362 h 851265"/>
              <a:gd name="connsiteX178" fmla="*/ 9246920 w 12191998"/>
              <a:gd name="connsiteY178" fmla="*/ 125412 h 851265"/>
              <a:gd name="connsiteX179" fmla="*/ 9288196 w 12191998"/>
              <a:gd name="connsiteY179" fmla="*/ 141287 h 851265"/>
              <a:gd name="connsiteX180" fmla="*/ 9334232 w 12191998"/>
              <a:gd name="connsiteY180" fmla="*/ 155575 h 851265"/>
              <a:gd name="connsiteX181" fmla="*/ 9386620 w 12191998"/>
              <a:gd name="connsiteY181" fmla="*/ 166687 h 851265"/>
              <a:gd name="connsiteX182" fmla="*/ 9446946 w 12191998"/>
              <a:gd name="connsiteY182" fmla="*/ 174625 h 851265"/>
              <a:gd name="connsiteX183" fmla="*/ 9515208 w 12191998"/>
              <a:gd name="connsiteY183" fmla="*/ 176212 h 851265"/>
              <a:gd name="connsiteX184" fmla="*/ 9583470 w 12191998"/>
              <a:gd name="connsiteY184" fmla="*/ 174625 h 851265"/>
              <a:gd name="connsiteX185" fmla="*/ 9643796 w 12191998"/>
              <a:gd name="connsiteY185" fmla="*/ 166687 h 851265"/>
              <a:gd name="connsiteX186" fmla="*/ 9696182 w 12191998"/>
              <a:gd name="connsiteY186" fmla="*/ 155575 h 851265"/>
              <a:gd name="connsiteX187" fmla="*/ 9742220 w 12191998"/>
              <a:gd name="connsiteY187" fmla="*/ 141287 h 851265"/>
              <a:gd name="connsiteX188" fmla="*/ 9783496 w 12191998"/>
              <a:gd name="connsiteY188" fmla="*/ 125412 h 851265"/>
              <a:gd name="connsiteX189" fmla="*/ 9820008 w 12191998"/>
              <a:gd name="connsiteY189" fmla="*/ 106362 h 851265"/>
              <a:gd name="connsiteX190" fmla="*/ 9896208 w 12191998"/>
              <a:gd name="connsiteY190" fmla="*/ 68262 h 851265"/>
              <a:gd name="connsiteX191" fmla="*/ 9932720 w 12191998"/>
              <a:gd name="connsiteY191" fmla="*/ 52387 h 851265"/>
              <a:gd name="connsiteX192" fmla="*/ 9973996 w 12191998"/>
              <a:gd name="connsiteY192" fmla="*/ 36512 h 851265"/>
              <a:gd name="connsiteX193" fmla="*/ 10020032 w 12191998"/>
              <a:gd name="connsiteY193" fmla="*/ 20637 h 851265"/>
              <a:gd name="connsiteX194" fmla="*/ 10072420 w 12191998"/>
              <a:gd name="connsiteY194" fmla="*/ 9525 h 851265"/>
              <a:gd name="connsiteX195" fmla="*/ 10132746 w 12191998"/>
              <a:gd name="connsiteY195" fmla="*/ 3175 h 851265"/>
              <a:gd name="connsiteX196" fmla="*/ 10201008 w 12191998"/>
              <a:gd name="connsiteY196" fmla="*/ 0 h 851265"/>
              <a:gd name="connsiteX197" fmla="*/ 10269270 w 12191998"/>
              <a:gd name="connsiteY197" fmla="*/ 3175 h 851265"/>
              <a:gd name="connsiteX198" fmla="*/ 10329596 w 12191998"/>
              <a:gd name="connsiteY198" fmla="*/ 9525 h 851265"/>
              <a:gd name="connsiteX199" fmla="*/ 10381982 w 12191998"/>
              <a:gd name="connsiteY199" fmla="*/ 20637 h 851265"/>
              <a:gd name="connsiteX200" fmla="*/ 10428020 w 12191998"/>
              <a:gd name="connsiteY200" fmla="*/ 36512 h 851265"/>
              <a:gd name="connsiteX201" fmla="*/ 10469296 w 12191998"/>
              <a:gd name="connsiteY201" fmla="*/ 52387 h 851265"/>
              <a:gd name="connsiteX202" fmla="*/ 10505808 w 12191998"/>
              <a:gd name="connsiteY202" fmla="*/ 68262 h 851265"/>
              <a:gd name="connsiteX203" fmla="*/ 10543908 w 12191998"/>
              <a:gd name="connsiteY203" fmla="*/ 87312 h 851265"/>
              <a:gd name="connsiteX204" fmla="*/ 10582008 w 12191998"/>
              <a:gd name="connsiteY204" fmla="*/ 106362 h 851265"/>
              <a:gd name="connsiteX205" fmla="*/ 10618520 w 12191998"/>
              <a:gd name="connsiteY205" fmla="*/ 125412 h 851265"/>
              <a:gd name="connsiteX206" fmla="*/ 10659796 w 12191998"/>
              <a:gd name="connsiteY206" fmla="*/ 141287 h 851265"/>
              <a:gd name="connsiteX207" fmla="*/ 10705832 w 12191998"/>
              <a:gd name="connsiteY207" fmla="*/ 155575 h 851265"/>
              <a:gd name="connsiteX208" fmla="*/ 10758220 w 12191998"/>
              <a:gd name="connsiteY208" fmla="*/ 166687 h 851265"/>
              <a:gd name="connsiteX209" fmla="*/ 10818546 w 12191998"/>
              <a:gd name="connsiteY209" fmla="*/ 174625 h 851265"/>
              <a:gd name="connsiteX210" fmla="*/ 10886808 w 12191998"/>
              <a:gd name="connsiteY210" fmla="*/ 176212 h 851265"/>
              <a:gd name="connsiteX211" fmla="*/ 10955070 w 12191998"/>
              <a:gd name="connsiteY211" fmla="*/ 174625 h 851265"/>
              <a:gd name="connsiteX212" fmla="*/ 11015396 w 12191998"/>
              <a:gd name="connsiteY212" fmla="*/ 166687 h 851265"/>
              <a:gd name="connsiteX213" fmla="*/ 11067782 w 12191998"/>
              <a:gd name="connsiteY213" fmla="*/ 155575 h 851265"/>
              <a:gd name="connsiteX214" fmla="*/ 11113820 w 12191998"/>
              <a:gd name="connsiteY214" fmla="*/ 141287 h 851265"/>
              <a:gd name="connsiteX215" fmla="*/ 11155096 w 12191998"/>
              <a:gd name="connsiteY215" fmla="*/ 125412 h 851265"/>
              <a:gd name="connsiteX216" fmla="*/ 11191608 w 12191998"/>
              <a:gd name="connsiteY216" fmla="*/ 106362 h 851265"/>
              <a:gd name="connsiteX217" fmla="*/ 11229708 w 12191998"/>
              <a:gd name="connsiteY217" fmla="*/ 87312 h 851265"/>
              <a:gd name="connsiteX218" fmla="*/ 11267808 w 12191998"/>
              <a:gd name="connsiteY218" fmla="*/ 68262 h 851265"/>
              <a:gd name="connsiteX219" fmla="*/ 11304320 w 12191998"/>
              <a:gd name="connsiteY219" fmla="*/ 52387 h 851265"/>
              <a:gd name="connsiteX220" fmla="*/ 11345596 w 12191998"/>
              <a:gd name="connsiteY220" fmla="*/ 36512 h 851265"/>
              <a:gd name="connsiteX221" fmla="*/ 11391632 w 12191998"/>
              <a:gd name="connsiteY221" fmla="*/ 20637 h 851265"/>
              <a:gd name="connsiteX222" fmla="*/ 11444020 w 12191998"/>
              <a:gd name="connsiteY222" fmla="*/ 9525 h 851265"/>
              <a:gd name="connsiteX223" fmla="*/ 11504346 w 12191998"/>
              <a:gd name="connsiteY223" fmla="*/ 3175 h 851265"/>
              <a:gd name="connsiteX224" fmla="*/ 11572608 w 12191998"/>
              <a:gd name="connsiteY224" fmla="*/ 0 h 851265"/>
              <a:gd name="connsiteX225" fmla="*/ 11640870 w 12191998"/>
              <a:gd name="connsiteY225" fmla="*/ 3175 h 851265"/>
              <a:gd name="connsiteX226" fmla="*/ 11701196 w 12191998"/>
              <a:gd name="connsiteY226" fmla="*/ 9525 h 851265"/>
              <a:gd name="connsiteX227" fmla="*/ 11753582 w 12191998"/>
              <a:gd name="connsiteY227" fmla="*/ 20637 h 851265"/>
              <a:gd name="connsiteX228" fmla="*/ 11799620 w 12191998"/>
              <a:gd name="connsiteY228" fmla="*/ 36512 h 851265"/>
              <a:gd name="connsiteX229" fmla="*/ 11840896 w 12191998"/>
              <a:gd name="connsiteY229" fmla="*/ 52387 h 851265"/>
              <a:gd name="connsiteX230" fmla="*/ 11877408 w 12191998"/>
              <a:gd name="connsiteY230" fmla="*/ 68262 h 851265"/>
              <a:gd name="connsiteX231" fmla="*/ 11915508 w 12191998"/>
              <a:gd name="connsiteY231" fmla="*/ 87312 h 851265"/>
              <a:gd name="connsiteX232" fmla="*/ 11953608 w 12191998"/>
              <a:gd name="connsiteY232" fmla="*/ 106362 h 851265"/>
              <a:gd name="connsiteX233" fmla="*/ 11990120 w 12191998"/>
              <a:gd name="connsiteY233" fmla="*/ 125412 h 851265"/>
              <a:gd name="connsiteX234" fmla="*/ 12031396 w 12191998"/>
              <a:gd name="connsiteY234" fmla="*/ 141287 h 851265"/>
              <a:gd name="connsiteX235" fmla="*/ 12077432 w 12191998"/>
              <a:gd name="connsiteY235" fmla="*/ 155575 h 851265"/>
              <a:gd name="connsiteX236" fmla="*/ 12129820 w 12191998"/>
              <a:gd name="connsiteY236" fmla="*/ 166688 h 851265"/>
              <a:gd name="connsiteX237" fmla="*/ 12190146 w 12191998"/>
              <a:gd name="connsiteY237" fmla="*/ 174625 h 851265"/>
              <a:gd name="connsiteX238" fmla="*/ 12191998 w 12191998"/>
              <a:gd name="connsiteY238" fmla="*/ 174668 h 851265"/>
              <a:gd name="connsiteX239" fmla="*/ 12191998 w 12191998"/>
              <a:gd name="connsiteY239" fmla="*/ 851265 h 851265"/>
              <a:gd name="connsiteX240" fmla="*/ 0 w 12191998"/>
              <a:gd name="connsiteY240" fmla="*/ 851265 h 851265"/>
              <a:gd name="connsiteX241" fmla="*/ 0 w 12191998"/>
              <a:gd name="connsiteY241" fmla="*/ 174668 h 851265"/>
              <a:gd name="connsiteX242" fmla="*/ 1852 w 12191998"/>
              <a:gd name="connsiteY242" fmla="*/ 174625 h 851265"/>
              <a:gd name="connsiteX243" fmla="*/ 62177 w 12191998"/>
              <a:gd name="connsiteY243" fmla="*/ 166687 h 851265"/>
              <a:gd name="connsiteX244" fmla="*/ 114564 w 12191998"/>
              <a:gd name="connsiteY244" fmla="*/ 155575 h 851265"/>
              <a:gd name="connsiteX245" fmla="*/ 160602 w 12191998"/>
              <a:gd name="connsiteY245" fmla="*/ 141287 h 851265"/>
              <a:gd name="connsiteX246" fmla="*/ 201877 w 12191998"/>
              <a:gd name="connsiteY246" fmla="*/ 125412 h 851265"/>
              <a:gd name="connsiteX247" fmla="*/ 238389 w 12191998"/>
              <a:gd name="connsiteY247" fmla="*/ 106362 h 851265"/>
              <a:gd name="connsiteX248" fmla="*/ 276489 w 12191998"/>
              <a:gd name="connsiteY248" fmla="*/ 87312 h 851265"/>
              <a:gd name="connsiteX249" fmla="*/ 314589 w 12191998"/>
              <a:gd name="connsiteY249" fmla="*/ 68262 h 851265"/>
              <a:gd name="connsiteX250" fmla="*/ 351102 w 12191998"/>
              <a:gd name="connsiteY250" fmla="*/ 52387 h 851265"/>
              <a:gd name="connsiteX251" fmla="*/ 392377 w 12191998"/>
              <a:gd name="connsiteY251" fmla="*/ 36512 h 851265"/>
              <a:gd name="connsiteX252" fmla="*/ 438414 w 12191998"/>
              <a:gd name="connsiteY252" fmla="*/ 20637 h 851265"/>
              <a:gd name="connsiteX253" fmla="*/ 490802 w 12191998"/>
              <a:gd name="connsiteY253" fmla="*/ 9525 h 851265"/>
              <a:gd name="connsiteX254" fmla="*/ 551127 w 12191998"/>
              <a:gd name="connsiteY254" fmla="*/ 3175 h 85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1998" h="851265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6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2" y="36512"/>
                </a:lnTo>
                <a:lnTo>
                  <a:pt x="5002478" y="52387"/>
                </a:lnTo>
                <a:lnTo>
                  <a:pt x="5038989" y="68262"/>
                </a:lnTo>
                <a:lnTo>
                  <a:pt x="5077091" y="87312"/>
                </a:lnTo>
                <a:lnTo>
                  <a:pt x="5115189" y="106362"/>
                </a:lnTo>
                <a:lnTo>
                  <a:pt x="5151702" y="125412"/>
                </a:lnTo>
                <a:lnTo>
                  <a:pt x="5192978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10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8" y="3175"/>
                </a:lnTo>
                <a:lnTo>
                  <a:pt x="6086210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8" y="174668"/>
                </a:lnTo>
                <a:lnTo>
                  <a:pt x="12191998" y="851265"/>
                </a:lnTo>
                <a:lnTo>
                  <a:pt x="0" y="851265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2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04369-9401-0BCE-AF78-B76B2C79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 Принципиальная позиция</a:t>
            </a:r>
            <a:br>
              <a:rPr lang="ru-RU" b="1"/>
            </a:br>
            <a:endParaRPr lang="ru-RU" dirty="0"/>
          </a:p>
        </p:txBody>
      </p:sp>
      <p:graphicFrame>
        <p:nvGraphicFramePr>
          <p:cNvPr id="7" name="Объект 2">
            <a:extLst>
              <a:ext uri="{FF2B5EF4-FFF2-40B4-BE49-F238E27FC236}">
                <a16:creationId xmlns:a16="http://schemas.microsoft.com/office/drawing/2014/main" id="{10FE7D85-6B11-9775-662C-DC2A05003A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359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8AD482-27A4-454E-8A3A-84F73CBD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2422E2-F15A-43AE-98F1-7210710B0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034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2B582-E0E6-9834-3228-63FE386D0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1078378"/>
            <a:ext cx="2917551" cy="4701244"/>
          </a:xfrm>
        </p:spPr>
        <p:txBody>
          <a:bodyPr anchor="ctr">
            <a:normAutofit/>
          </a:bodyPr>
          <a:lstStyle/>
          <a:p>
            <a:r>
              <a:rPr lang="ru-RU" sz="3600" b="1"/>
              <a:t>Протест и отставка</a:t>
            </a:r>
            <a:br>
              <a:rPr lang="ru-RU" sz="3600" b="1"/>
            </a:br>
            <a:endParaRPr lang="ru-RU" sz="360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BDC8164B-5FC0-4CBD-B7AE-0CB8780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5B053D-BE25-B855-7B8D-7141754FA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062" y="1078378"/>
            <a:ext cx="6262938" cy="470124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/>
              <a:t>Предложение Сулима было отклонено руководством. Он не захотел участвовать в реализации стратегии, которую считал губительной для самостоятельного развития отрасли. В 1971 году, в знак протеста, Сулим оставил пост заместителя министра — это был очень смелый шаг, цена которому — потеря высокого поста</a:t>
            </a:r>
          </a:p>
        </p:txBody>
      </p:sp>
    </p:spTree>
    <p:extLst>
      <p:ext uri="{BB962C8B-B14F-4D97-AF65-F5344CB8AC3E}">
        <p14:creationId xmlns:p14="http://schemas.microsoft.com/office/powerpoint/2010/main" val="167122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B680D4D6-B06E-4316-8BBC-7A65A10AC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F319F-762E-B54E-567C-16277BC9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1153287"/>
            <a:ext cx="3570566" cy="4551426"/>
          </a:xfrm>
        </p:spPr>
        <p:txBody>
          <a:bodyPr anchor="ctr">
            <a:normAutofit/>
          </a:bodyPr>
          <a:lstStyle/>
          <a:p>
            <a:pPr algn="r"/>
            <a:r>
              <a:rPr lang="ru-RU" sz="3200" b="1" dirty="0"/>
              <a:t>Возвращение в науку</a:t>
            </a:r>
            <a:br>
              <a:rPr lang="ru-RU" sz="3200" b="1" dirty="0"/>
            </a:br>
            <a:endParaRPr lang="ru-RU" sz="3200" dirty="0"/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ED72A37F-0C2F-473C-9D71-B80AEE71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3796" y="1962397"/>
            <a:ext cx="0" cy="2933206"/>
          </a:xfrm>
          <a:prstGeom prst="line">
            <a:avLst/>
          </a:prstGeom>
          <a:ln w="2222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73D2B-1290-27BE-EE26-E7A90412A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1153287"/>
            <a:ext cx="6453969" cy="4551426"/>
          </a:xfrm>
        </p:spPr>
        <p:txBody>
          <a:bodyPr anchor="ctr">
            <a:normAutofit/>
          </a:bodyPr>
          <a:lstStyle/>
          <a:p>
            <a:r>
              <a:rPr lang="ru-RU" sz="2400" dirty="0"/>
              <a:t>Директор </a:t>
            </a:r>
            <a:r>
              <a:rPr lang="ru-RU" sz="2400" b="1" dirty="0" err="1"/>
              <a:t>НИИсчетмаш</a:t>
            </a:r>
            <a:endParaRPr lang="ru-RU" sz="2400" dirty="0"/>
          </a:p>
          <a:p>
            <a:r>
              <a:rPr lang="ru-RU" sz="2400" dirty="0"/>
              <a:t>Разработка периферии для ЕС ЭВМ</a:t>
            </a:r>
          </a:p>
          <a:p>
            <a:r>
              <a:rPr lang="ru-RU" sz="2400" dirty="0"/>
              <a:t>Аналоговые вычислительные комплексы</a:t>
            </a:r>
          </a:p>
          <a:p>
            <a:endParaRPr lang="ru-RU" sz="1600" dirty="0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64016ABB-4F5D-4BFA-9406-7CD61399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74263" y="440267"/>
            <a:ext cx="6434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44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C012A5-170D-4B0F-A916-A8EE2C6CE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40654-5E8C-468A-9596-50927AF1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59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B36E7-BF39-039C-D762-5B80BB02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354945"/>
            <a:ext cx="2059048" cy="4148110"/>
          </a:xfrm>
        </p:spPr>
        <p:txBody>
          <a:bodyPr anchor="ctr">
            <a:normAutofit/>
          </a:bodyPr>
          <a:lstStyle/>
          <a:p>
            <a:r>
              <a:rPr lang="ru-RU" sz="2600" b="1">
                <a:solidFill>
                  <a:srgbClr val="2A1A00"/>
                </a:solidFill>
              </a:rPr>
              <a:t>Признание заслуг</a:t>
            </a:r>
            <a:br>
              <a:rPr lang="ru-RU" sz="2600" b="1">
                <a:solidFill>
                  <a:srgbClr val="2A1A00"/>
                </a:solidFill>
              </a:rPr>
            </a:br>
            <a:endParaRPr lang="ru-RU" sz="2600">
              <a:solidFill>
                <a:srgbClr val="2A1A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B1BD4A-8DE6-4266-9C27-59260F938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346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34C840-6E89-3E7A-1B06-EEE70DF71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580" y="1354945"/>
            <a:ext cx="7601419" cy="4148110"/>
          </a:xfrm>
        </p:spPr>
        <p:txBody>
          <a:bodyPr anchor="ctr">
            <a:normAutofit/>
          </a:bodyPr>
          <a:lstStyle/>
          <a:p>
            <a:r>
              <a:rPr lang="ru-RU" b="1" dirty="0"/>
              <a:t>1974 г.</a:t>
            </a:r>
            <a:r>
              <a:rPr lang="ru-RU" dirty="0"/>
              <a:t> — Доктор технических наук</a:t>
            </a:r>
          </a:p>
          <a:p>
            <a:r>
              <a:rPr lang="ru-RU" b="1" dirty="0"/>
              <a:t>1983 г.</a:t>
            </a:r>
            <a:r>
              <a:rPr lang="ru-RU" dirty="0"/>
              <a:t> — </a:t>
            </a:r>
            <a:r>
              <a:rPr lang="ru-RU" b="1" dirty="0"/>
              <a:t>Государственная премия СССР</a:t>
            </a:r>
            <a:endParaRPr lang="ru-RU" dirty="0"/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Научные заслуги Сулима получили высокое признание: в 1974 году он стал доктором технических наук, а в 1983-м был удостоен Государственной премии СССР за свои работы.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4564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D9E6E-5758-2070-BAC4-D22D6A76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Итоги и наследие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1C91DE-E8A2-24AE-3E2E-CBF3C2511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Создатель промышленной базы ЭВМ в СССР</a:t>
            </a:r>
            <a:endParaRPr lang="en-US" sz="3600" dirty="0"/>
          </a:p>
          <a:p>
            <a:endParaRPr lang="ru-RU" sz="3600" dirty="0"/>
          </a:p>
          <a:p>
            <a:r>
              <a:rPr lang="ru-RU" sz="3600" dirty="0"/>
              <a:t>Инженер, сказавший «нет» на самом верху</a:t>
            </a:r>
            <a:endParaRPr lang="en-US" sz="3600" dirty="0"/>
          </a:p>
          <a:p>
            <a:endParaRPr lang="ru-RU" sz="3600" dirty="0"/>
          </a:p>
          <a:p>
            <a:r>
              <a:rPr lang="ru-RU" sz="3600" dirty="0"/>
              <a:t>Символ технологической самостоятельности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1860693180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380</TotalTime>
  <Words>588</Words>
  <Application>Microsoft Office PowerPoint</Application>
  <PresentationFormat>Широкоэкранный</PresentationFormat>
  <Paragraphs>56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Arial</vt:lpstr>
      <vt:lpstr>Corbel</vt:lpstr>
      <vt:lpstr>Gill Sans MT</vt:lpstr>
      <vt:lpstr>Impact</vt:lpstr>
      <vt:lpstr>Эмблема</vt:lpstr>
      <vt:lpstr>Михаил Кириллович Сулим </vt:lpstr>
      <vt:lpstr> Путь инженера: от М-20 до главного конструктора </vt:lpstr>
      <vt:lpstr>На вершине власти </vt:lpstr>
      <vt:lpstr>Историческое достижение: постановление 1967 года </vt:lpstr>
      <vt:lpstr> Принципиальная позиция </vt:lpstr>
      <vt:lpstr>Протест и отставка </vt:lpstr>
      <vt:lpstr>Возвращение в науку </vt:lpstr>
      <vt:lpstr>Признание заслуг </vt:lpstr>
      <vt:lpstr>Итоги и наследие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Surkov</dc:creator>
  <cp:lastModifiedBy>Andrey Surkov</cp:lastModifiedBy>
  <cp:revision>1</cp:revision>
  <dcterms:created xsi:type="dcterms:W3CDTF">2026-04-11T17:52:12Z</dcterms:created>
  <dcterms:modified xsi:type="dcterms:W3CDTF">2026-04-12T00:12:48Z</dcterms:modified>
</cp:coreProperties>
</file>